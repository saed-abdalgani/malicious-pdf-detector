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c80eee6bcf4221" /><Relationship Type="http://schemas.openxmlformats.org/officeDocument/2006/relationships/extended-properties" Target="/docProps/app.xml" Id="R51cf83d343004713" /><Relationship Type="http://schemas.openxmlformats.org/officeDocument/2006/relationships/officeDocument" Target="/ppt/presentation.xml" Id="R5bd7f638f1c848e3" /></Relationships>
</file>

<file path=ppt/presentation.xml><?xml version="1.0" encoding="utf-8"?>
<p:presentation xmlns:p="http://schemas.openxmlformats.org/presentationml/2006/main">
  <p:sldMasterIdLst>
    <p:sldMasterId xmlns:r="http://schemas.openxmlformats.org/officeDocument/2006/relationships" id="2147483648" r:id="Rb4eef8595f57451a"/>
  </p:sldMasterIdLst>
  <p:notesMasterIdLst>
    <p:notesMasterId xmlns:r="http://schemas.openxmlformats.org/officeDocument/2006/relationships" r:id="Rd24a4c26f823458a"/>
  </p:notesMasterIdLst>
  <p:sldIdLst>
    <p:sldId xmlns:r="http://schemas.openxmlformats.org/officeDocument/2006/relationships" id="256" r:id="R96954b8a7954473e"/>
    <p:sldId xmlns:r="http://schemas.openxmlformats.org/officeDocument/2006/relationships" id="257" r:id="R9510ca1a27b9417f"/>
    <p:sldId xmlns:r="http://schemas.openxmlformats.org/officeDocument/2006/relationships" id="258" r:id="R17fed6bfce92470b"/>
    <p:sldId xmlns:r="http://schemas.openxmlformats.org/officeDocument/2006/relationships" id="259" r:id="Rceb6a06be2c94b49"/>
    <p:sldId xmlns:r="http://schemas.openxmlformats.org/officeDocument/2006/relationships" id="260" r:id="Refbb84b2f3c44d92"/>
    <p:sldId xmlns:r="http://schemas.openxmlformats.org/officeDocument/2006/relationships" id="261" r:id="R63ac6393b26c4c90"/>
    <p:sldId xmlns:r="http://schemas.openxmlformats.org/officeDocument/2006/relationships" id="262" r:id="R0d1481453f854303"/>
    <p:sldId xmlns:r="http://schemas.openxmlformats.org/officeDocument/2006/relationships" id="263" r:id="R42db937524d74b6a"/>
    <p:sldId xmlns:r="http://schemas.openxmlformats.org/officeDocument/2006/relationships" id="264" r:id="R432e87c9d8014461"/>
    <p:sldId xmlns:r="http://schemas.openxmlformats.org/officeDocument/2006/relationships" id="265" r:id="R5685bf81a87f466a"/>
    <p:sldId xmlns:r="http://schemas.openxmlformats.org/officeDocument/2006/relationships" id="266" r:id="R72040f38f9d84a4e"/>
    <p:sldId xmlns:r="http://schemas.openxmlformats.org/officeDocument/2006/relationships" id="267" r:id="Rc4558739a92840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eace9e25a34294" /><Relationship Type="http://schemas.openxmlformats.org/officeDocument/2006/relationships/slideMaster" Target="/ppt/slideMasters/slideMaster1.xml" Id="Rb4eef8595f57451a" /><Relationship Type="http://schemas.openxmlformats.org/officeDocument/2006/relationships/notesMaster" Target="/ppt/notesMasters/notesMaster1.xml" Id="Rd24a4c26f823458a" /><Relationship Type="http://schemas.openxmlformats.org/officeDocument/2006/relationships/presProps" Target="/ppt/presProps.xml" Id="R2dd91924bd6a4001" /><Relationship Type="http://schemas.openxmlformats.org/officeDocument/2006/relationships/tableStyles" Target="/ppt/tableStyles.xml" Id="Rebffa0b7e8f546ad" /><Relationship Type="http://schemas.openxmlformats.org/officeDocument/2006/relationships/slide" Target="/ppt/slides/slide1.xml" Id="R96954b8a7954473e" /><Relationship Type="http://schemas.openxmlformats.org/officeDocument/2006/relationships/slide" Target="/ppt/slides/slide2.xml" Id="R9510ca1a27b9417f" /><Relationship Type="http://schemas.openxmlformats.org/officeDocument/2006/relationships/slide" Target="/ppt/slides/slide3.xml" Id="R17fed6bfce92470b" /><Relationship Type="http://schemas.openxmlformats.org/officeDocument/2006/relationships/slide" Target="/ppt/slides/slide4.xml" Id="Rceb6a06be2c94b49" /><Relationship Type="http://schemas.openxmlformats.org/officeDocument/2006/relationships/slide" Target="/ppt/slides/slide5.xml" Id="Refbb84b2f3c44d92" /><Relationship Type="http://schemas.openxmlformats.org/officeDocument/2006/relationships/slide" Target="/ppt/slides/slide6.xml" Id="R63ac6393b26c4c90" /><Relationship Type="http://schemas.openxmlformats.org/officeDocument/2006/relationships/slide" Target="/ppt/slides/slide7.xml" Id="R0d1481453f854303" /><Relationship Type="http://schemas.openxmlformats.org/officeDocument/2006/relationships/slide" Target="/ppt/slides/slide8.xml" Id="R42db937524d74b6a" /><Relationship Type="http://schemas.openxmlformats.org/officeDocument/2006/relationships/slide" Target="/ppt/slides/slide9.xml" Id="R432e87c9d8014461" /><Relationship Type="http://schemas.openxmlformats.org/officeDocument/2006/relationships/slide" Target="/ppt/slides/slide10.xml" Id="R5685bf81a87f466a" /><Relationship Type="http://schemas.openxmlformats.org/officeDocument/2006/relationships/slide" Target="/ppt/slides/slide11.xml" Id="R72040f38f9d84a4e" /><Relationship Type="http://schemas.openxmlformats.org/officeDocument/2006/relationships/slide" Target="/ppt/slides/slide12.xml" Id="Rc4558739a92840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54dc7a643843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e8245cafcf43e9" /><Relationship Type="http://schemas.openxmlformats.org/officeDocument/2006/relationships/notesMaster" Target="/ppt/notesMasters/notesMaster1.xml" Id="R6aa177c270644f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b57a2d38204c0f" /><Relationship Type="http://schemas.openxmlformats.org/officeDocument/2006/relationships/notesMaster" Target="/ppt/notesMasters/notesMaster1.xml" Id="R3e239121f58a41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77f4378c944fdc" /><Relationship Type="http://schemas.openxmlformats.org/officeDocument/2006/relationships/notesMaster" Target="/ppt/notesMasters/notesMaster1.xml" Id="Rfe3cb0166b014e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ad76aceb864263" /><Relationship Type="http://schemas.openxmlformats.org/officeDocument/2006/relationships/notesMaster" Target="/ppt/notesMasters/notesMaster1.xml" Id="Rb61d43858ef749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63646fbdb345f5" /><Relationship Type="http://schemas.openxmlformats.org/officeDocument/2006/relationships/notesMaster" Target="/ppt/notesMasters/notesMaster1.xml" Id="Rbd7677acdcd547b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fcec8bb9c249ff" /><Relationship Type="http://schemas.openxmlformats.org/officeDocument/2006/relationships/notesMaster" Target="/ppt/notesMasters/notesMaster1.xml" Id="Rf22fe39e1eae4d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9be5abfc394d9a" /><Relationship Type="http://schemas.openxmlformats.org/officeDocument/2006/relationships/notesMaster" Target="/ppt/notesMasters/notesMaster1.xml" Id="R55c695673c3c46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562b7c698a4a43" /><Relationship Type="http://schemas.openxmlformats.org/officeDocument/2006/relationships/notesMaster" Target="/ppt/notesMasters/notesMaster1.xml" Id="R96afe329a1444d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072558e3f0d94b90" /><Relationship Type="http://schemas.openxmlformats.org/officeDocument/2006/relationships/notesMaster" Target="/ppt/notesMasters/notesMaster1.xml" Id="Rec3c571ad8674a1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0d7a75d92a14ffe" /><Relationship Type="http://schemas.openxmlformats.org/officeDocument/2006/relationships/notesMaster" Target="/ppt/notesMasters/notesMaster1.xml" Id="R7f6ae39f282d41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59981e21564c09" /><Relationship Type="http://schemas.openxmlformats.org/officeDocument/2006/relationships/notesMaster" Target="/ppt/notesMasters/notesMaster1.xml" Id="R4fc62395607c43a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d63541ef34c4573" /><Relationship Type="http://schemas.openxmlformats.org/officeDocument/2006/relationships/notesMaster" Target="/ppt/notesMasters/notesMaster1.xml" Id="R99f8e584ac1248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This project applies the methods from Data Science Methods for Cybersecurity to malicious PDF detection. A PDF is a useful business document, but it is also a structured container that may include scripts, actions, embedded files, compressed objects, and malformed references. The security problem is therefore not simply to recognize a suspicious word. It is to combine many weak structural signals into a reliable decision without executing the file. The system performs bounded static analysis, converts document structure into engineered numerical features, and uses supervised machine learning to estimate whether the file should be treated as malicious. The output is connected to a threshold, an uncertainty path, an explanation, and an operational response. This presentation follows the logic emphasized in the course: define the asset and threat model, understand the data, prevent leakage, engineer meaningful features, compare suitable models, interpret precision and recall, explain predictions, consider adversarial behavior, and monitor the system after deployment. The main result is a complete cybersecurity decision pipeline, not only a classifier.</a:t>
            </a:r>
          </a:p>
          <a:p xmlns:a="http://schemas.openxmlformats.org/drawingml/2006/main">
            <a:r>
              <a:t/>
            </a:r>
          </a:p>
          <a:p xmlns:a="http://schemas.openxmlformats.org/drawingml/2006/main">
            <a:r>
              <a:t>[Sources]</a:t>
            </a:r>
          </a:p>
          <a:p xmlns:a="http://schemas.openxmlformats.org/drawingml/2006/main">
            <a:r>
              <a:t>- Course notes supplied by the student: L1 Introduction to ML in Cybersecurity and L7.2 Cybersecurity Analysis Pipeline</a:t>
            </a:r>
          </a:p>
          <a:p xmlns:a="http://schemas.openxmlformats.org/drawingml/2006/main">
            <a:r>
              <a:t>- Project overview: README.md</a:t>
            </a:r>
          </a:p>
          <a:p xmlns:a="http://schemas.openxmlformats.org/drawingml/2006/main">
            <a:r>
              <a:t>- Title illustration: original asset generated with OpenAI ImageGen on 2026-08-08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course principle is to begin with the security objective, not the algorithm. The protected asset is the trusted document workflow: users, endpoints, and business processes should be able to receive PDFs without allowing hidden behavior to compromise them. The threat is a crafted PDF whose internal structure attempts to trigger code, redirect the reader, hide embedded content, confuse a parser, or evade simple rules. This connects directly to the CIA triad. Confidentiality may be affected when a document exfiltrates information or opens an external channel. Integrity may be affected when actions or embedded content alter the expected workflow. Availability may be affected when malformed or oversized structures exhaust parsing resources. The attacker considered here mainly acts at inference time by changing the PDF while preserving its intended behavior. The project responds with static inspection, strict resource limits, canonicalization, and an abstention option. The detector is a detective control that supports prevention and response; it does not replace patching, sandboxing, endpoint protection, or analyst investigation. A model score is evidence, not automatic proof of an attack.</a:t>
            </a:r>
          </a:p>
          <a:p xmlns:a="http://schemas.openxmlformats.org/drawingml/2006/main">
            <a:r>
              <a:t/>
            </a:r>
          </a:p>
          <a:p xmlns:a="http://schemas.openxmlformats.org/drawingml/2006/main">
            <a:r>
              <a:t>[Sources]</a:t>
            </a:r>
          </a:p>
          <a:p xmlns:a="http://schemas.openxmlformats.org/drawingml/2006/main">
            <a:r>
              <a:t>- Course notes supplied by the student: L1 Introduction to ML in Cybersecurity</a:t>
            </a:r>
          </a:p>
          <a:p xmlns:a="http://schemas.openxmlformats.org/drawingml/2006/main">
            <a:r>
              <a:t>- Project security controls: src/inference.py</a:t>
            </a:r>
          </a:p>
          <a:p xmlns:a="http://schemas.openxmlformats.org/drawingml/2006/main">
            <a:r>
              <a:t>- Adversarial design: docs/adversarial_robustness.md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learning task is binary supervised classification. The observation unit is one PDF, represented by static structural measurements. The positive class is malicious and the negative class is benign. During training, the system receives labeled feature records. During inference, a bounded parser extracts the same feature schema from an uploaded file. Examples include file size, page and object counts, streams, filters, JavaScript markers, actions, embedded files, encryption, object streams, cross-reference structure, and parser-health indicators. The model does not read intent directly. It learns statistical associations between these features and the known labels. That distinction matters because correlation and prediction are not causation. A benign form may contain active elements, while a malicious file may hide them through encoding or structural manipulation. The decision therefore depends on combinations and context rather than one keyword. The project also keeps unavailable values as missing information instead of inventing them or mapping every missing value to zero. The central design contract is train-serve consistency: feature meaning, preprocessing, ordering, and missingness handling must remain identical when the model is used on a new file.</a:t>
            </a:r>
          </a:p>
          <a:p xmlns:a="http://schemas.openxmlformats.org/drawingml/2006/main">
            <a:r>
              <a:t/>
            </a:r>
          </a:p>
          <a:p xmlns:a="http://schemas.openxmlformats.org/drawingml/2006/main">
            <a:r>
              <a:t>[Sources]</a:t>
            </a:r>
          </a:p>
          <a:p xmlns:a="http://schemas.openxmlformats.org/drawingml/2006/main">
            <a:r>
              <a:t>- Course notes supplied by the student: L1 Introduction to ML in Cybersecurity and L2.3 Exploratory Data Analysis</a:t>
            </a:r>
          </a:p>
          <a:p xmlns:a="http://schemas.openxmlformats.org/drawingml/2006/main">
            <a:r>
              <a:t>- Canonical feature schema: src/features/schema_v2.py</a:t>
            </a:r>
          </a:p>
          <a:p xmlns:a="http://schemas.openxmlformats.org/drawingml/2006/main">
            <a:r>
              <a:t>- Static inference pipeline: src/inference.py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workflow of the project and it follows the cybersecurity analysis pipeline from the course. First, context and governance define the asset, positive class, threat model, label source, and permitted use. Second, data validation checks provenance, schema, missing codes, duplicates, and label quality. Third, exploratory analysis studies distributions, imbalance, associations, and possible leakage. Fourth, feature engineering converts PDF structure into stable counts, densities, consistency gaps, interactions, complexity measures, and parser-health signals. Fifth, the data is partitioned before any trainable preprocessing is fitted. Sixth, baseline, tree-based, and neural candidates are trained and compared. Seventh, probability calibration and threshold selection translate the model output into an operating policy based on false-positive and false-negative cost. Eighth, inference preserves raw evidence, produces a probability, and can abstain when parsing or confidence is unreliable. Finally, the outcome is connected to analyst review, containment, sandbox escalation, monitoring, and verified feedback. The feedback loop is controlled so alerts confirmed by analysts become future labels. This workflow makes each decision traceable from file structure to security action.</a:t>
            </a:r>
          </a:p>
          <a:p xmlns:a="http://schemas.openxmlformats.org/drawingml/2006/main">
            <a:r>
              <a:t/>
            </a:r>
          </a:p>
          <a:p xmlns:a="http://schemas.openxmlformats.org/drawingml/2006/main">
            <a:r>
              <a:t>[Sources]</a:t>
            </a:r>
          </a:p>
          <a:p xmlns:a="http://schemas.openxmlformats.org/drawingml/2006/main">
            <a:r>
              <a:t>- Course notes supplied by the student: L7.2 Cybersecurity Analysis Pipeline and L2.2 SOC, SIEM and Incident Operations</a:t>
            </a:r>
          </a:p>
          <a:p xmlns:a="http://schemas.openxmlformats.org/drawingml/2006/main">
            <a:r>
              <a:t>- Pipeline architecture: README.md</a:t>
            </a:r>
          </a:p>
          <a:p xmlns:a="http://schemas.openxmlformats.org/drawingml/2006/main">
            <a:r>
              <a:t>- Reproducibility workflow: docs/reproducibility.md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Exploratory data analysis is a security control for the learning process. Before fitting a model, the project checks feature names and types, invalid and infinite values, missing and sentinel codes, duplicate identifiers, label consistency, unusual ranges, and feature availability. Distribution views reveal skewed counts and heavy tails, while association checks help detect redundant signals and possible label leakage. Missingness is interpreted rather than silently converted into a real measurement. The project also separates identifiers and provenance fields from predictive inputs. Imbalance is evaluated because accuracy alone can hide rare-class failure, especially when malicious prevalence differs from the environment where the model will operate. Preprocessing is never fitted globally. Imputation, transformations, feature selection, calibration, and threshold choice are learned only from their authorized training or validation role. This protects the evaluation from information leaking backward from held-out examples. The same principle applies to related files or campaigns: they should not be allowed to appear on both sides of a split when that would make the test easier than deployment. EDA therefore determines whether the later model result is meaningful before any performance number is trusted.</a:t>
            </a:r>
          </a:p>
          <a:p xmlns:a="http://schemas.openxmlformats.org/drawingml/2006/main">
            <a:r>
              <a:t/>
            </a:r>
          </a:p>
          <a:p xmlns:a="http://schemas.openxmlformats.org/drawingml/2006/main">
            <a:r>
              <a:t>[Sources]</a:t>
            </a:r>
          </a:p>
          <a:p xmlns:a="http://schemas.openxmlformats.org/drawingml/2006/main">
            <a:r>
              <a:t>- Course notes supplied by the student: L2.3 Exploratory Data Analysis and L3.2 Association and Leakage</a:t>
            </a:r>
          </a:p>
          <a:p xmlns:a="http://schemas.openxmlformats.org/drawingml/2006/main">
            <a:r>
              <a:t>- Data validation implementation: src/data</a:t>
            </a:r>
          </a:p>
          <a:p xmlns:a="http://schemas.openxmlformats.org/drawingml/2006/main">
            <a:r>
              <a:t>- Train-only preprocessing: src/data/preprocessing.py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Raw PDF counts are useful, but cybersecurity meaning often appears in relationships between fields. The project therefore builds several feature families. Scale-stable transformations reduce the influence of extreme counts without removing their ordering. Density features normalize actions, objects, streams, or embedded content by file size, page count, or structural totals. Consistency features compare pairs that should agree, such as object and end-object counts, stream and end-stream counts, or cross-reference and trailer information. Interaction features capture combinations such as an automatic action appearing together with JavaScript or active content appearing inside an encrypted structure. Complexity features summarize concentration and structural diversity. Parser-health features expose invalid headers, truncation, cross-reference problems, and disagreement between extraction views. These engineered variables combine weak indicators instead of treating one token as proof. Every transformation has named lineage back to the original observation, which supports audit and explanation. Missing values are imputed using training statistics while missingness remains visible. The result is a tabular representation designed for tree models, baselines, calibration, and consistent live extraction.</a:t>
            </a:r>
          </a:p>
          <a:p xmlns:a="http://schemas.openxmlformats.org/drawingml/2006/main">
            <a:r>
              <a:t/>
            </a:r>
          </a:p>
          <a:p xmlns:a="http://schemas.openxmlformats.org/drawingml/2006/main">
            <a:r>
              <a:t>[Sources]</a:t>
            </a:r>
          </a:p>
          <a:p xmlns:a="http://schemas.openxmlformats.org/drawingml/2006/main">
            <a:r>
              <a:t>- Course notes supplied by the student: L2.3 Exploratory Data Analysis and L3.1 Statistical Basics</a:t>
            </a:r>
          </a:p>
          <a:p xmlns:a="http://schemas.openxmlformats.org/drawingml/2006/main">
            <a:r>
              <a:t>- Engineered features and lineage: src/features/engineered.py</a:t>
            </a:r>
          </a:p>
          <a:p xmlns:a="http://schemas.openxmlformats.org/drawingml/2006/main">
            <a:r>
              <a:t>- Feature schema: src/features/schema_v2.py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course compares transparent baselines, tree ensembles, boosting, support vector machines, and neural networks, each with different strengths and trade-offs. This project follows that principle instead of assuming that a complex architecture must win. Logistic regression provides a transparent linear baseline. Extra Trees and boosting methods can learn nonlinear thresholds and interactions that are common in structured security data. A fully connected neural network is retained as a control, and a transformer-style tabular model can be evaluated when the available data and compute justify it. Tree-based methods are especially suitable here because the inputs mix counts, binary indicators, missingness patterns, and engineered relationships. After training, raw scores are calibrated so that probability quality can be assessed separately from ranking quality. Threshold selection then uses validation data and an explicit security cost: missing a malicious file is expensive, but too many false alerts can overwhelm analysts. The selected operating point therefore emphasizes recall while preserving usable precision. Model, preprocessing, calibrator, feature schema, and threshold are packaged together so incompatible components cannot be mixed during inference.</a:t>
            </a:r>
          </a:p>
          <a:p xmlns:a="http://schemas.openxmlformats.org/drawingml/2006/main">
            <a:r>
              <a:t/>
            </a:r>
          </a:p>
          <a:p xmlns:a="http://schemas.openxmlformats.org/drawingml/2006/main">
            <a:r>
              <a:t>[Sources]</a:t>
            </a:r>
          </a:p>
          <a:p xmlns:a="http://schemas.openxmlformats.org/drawingml/2006/main">
            <a:r>
              <a:t>- Course notes supplied by the student: L1 Introduction to ML in Cybersecurity and L5.3 Goodness of Fit and Evaluation</a:t>
            </a:r>
          </a:p>
          <a:p xmlns:a="http://schemas.openxmlformats.org/drawingml/2006/main">
            <a:r>
              <a:t>- Model comparison framework: src/models/phase4.py</a:t>
            </a:r>
          </a:p>
          <a:p xmlns:a="http://schemas.openxmlformats.org/drawingml/2006/main">
            <a:r>
              <a:t>- Threshold methodology: docs/metrics_and_thresholds.md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held-out validation results are summarized conservatively as above ninety percent across the core classification metrics. The important course lesson is what each metric means. Precision asks: among the files flagged as malicious, how many are truly malicious? It represents alert quality and directly affects analyst workload. Recall asks: among all malicious files, how many were detected? It represents threat coverage and is critical when missed attacks have high cost. F1 balances precision and recall equally. F2 gives recall more weight, matching the project policy that false negatives are more harmful than a moderate increase in false positives. ROC-AUC measures how well the model ranks malicious above benign examples across possible thresholds, but it does not by itself define the deployed operating point. Accuracy is not used as the main story because it can hide failure under class imbalance. The final threshold is selected using validation evidence, calibration, expected prevalence, response capacity, and the relative cost of false positives and false negatives. Performance must always be reported with its decision policy and operational interpretation, not as one isolated score.</a:t>
            </a:r>
          </a:p>
          <a:p xmlns:a="http://schemas.openxmlformats.org/drawingml/2006/main">
            <a:r>
              <a:t/>
            </a:r>
          </a:p>
          <a:p xmlns:a="http://schemas.openxmlformats.org/drawingml/2006/main">
            <a:r>
              <a:t>[Sources]</a:t>
            </a:r>
          </a:p>
          <a:p xmlns:a="http://schemas.openxmlformats.org/drawingml/2006/main">
            <a:r>
              <a:t>- Course notes supplied by the student: L5.3 Goodness of Fit and Evaluation</a:t>
            </a:r>
          </a:p>
          <a:p xmlns:a="http://schemas.openxmlformats.org/drawingml/2006/main">
            <a:r>
              <a:t>- Metric implementation: src/models/metrics.py</a:t>
            </a:r>
          </a:p>
          <a:p xmlns:a="http://schemas.openxmlformats.org/drawingml/2006/main">
            <a:r>
              <a:t>- Threshold and calibration discussion: docs/metrics_and_thresholds.md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Explainability is separated into observed evidence and model behavior. The first layer records facts produced by the parser, such as action tokens, JavaScript markers, embedded files, obfuscation, encryption, structural gaps, or parser-health warnings. These observations describe the file, but they do not prove intent. The second layer explains how the model used the feature representation. Local probability changes show which features moved a particular prediction relative to a real training background. Global permutation importance, model importance, feature-family ablation, effect curves, stability analysis, negative controls, and faithfulness checks test whether the explanation is dependable. This goes beyond displaying a SHAP plot without validation. The project also follows the course warning that attribution is not causality, correctness, or guilt. The interface keeps raw facts and model contributions visually separate, then connects them to an action. A confident malicious verdict can trigger sandboxing or containment; parser failure or an out-of-distribution profile can trigger abstention and manual review; a benign verdict can support release. This mirrors the SOC sequence of alert, triage, investigation, response, and verified feedback.</a:t>
            </a:r>
          </a:p>
          <a:p xmlns:a="http://schemas.openxmlformats.org/drawingml/2006/main">
            <a:r>
              <a:t/>
            </a:r>
          </a:p>
          <a:p xmlns:a="http://schemas.openxmlformats.org/drawingml/2006/main">
            <a:r>
              <a:t>[Sources]</a:t>
            </a:r>
          </a:p>
          <a:p xmlns:a="http://schemas.openxmlformats.org/drawingml/2006/main">
            <a:r>
              <a:t>- Course notes supplied by the student: L8.1 Explainability in ML and AI and L2.2 SOC, SIEM and Incident Operations</a:t>
            </a:r>
          </a:p>
          <a:p xmlns:a="http://schemas.openxmlformats.org/drawingml/2006/main">
            <a:r>
              <a:t>- Explainability methodology: docs/explainability.md</a:t>
            </a:r>
          </a:p>
          <a:p xmlns:a="http://schemas.openxmlformats.org/drawingml/2006/main">
            <a:r>
              <a:t>- Deployment explanation logic: src/models/deployment.py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course connection is adversarial machine learning. An attacker may change names, whitespace, object numbering, filters, metadata, nesting, cross-reference structure, or parser-visible syntax while preserving malicious behavior. The project tests these ideas with safe, inert mutation families and no live payload execution. The defense is layered because no single preprocessing trick provides robustness. Canonicalization reduces superficial encoding changes. Multiple extraction views reduce dependence on one parser interpretation. Size, time, and nesting limits protect availability. Parser-health and out-of-distribution checks reveal inputs that do not resemble the training conditions. A threshold margin allows the system to abstain rather than force a confident label. Monitoring looks for drift, evasion patterns, unusual queries, and changing false-positive or false-negative cost. Verified difficult cases can later support controlled retraining and rollback. The overall lesson matches the course: define the target and threat model, validate the data, engineer meaningful signals, compare models, interpret operational metrics, explain evidence, plan a response, and monitor the adversary. Machine learning improves triage, but trustworthy cybersecurity still requires layered controls and human judgment.</a:t>
            </a:r>
          </a:p>
          <a:p xmlns:a="http://schemas.openxmlformats.org/drawingml/2006/main">
            <a:r>
              <a:t/>
            </a:r>
          </a:p>
          <a:p xmlns:a="http://schemas.openxmlformats.org/drawingml/2006/main">
            <a:r>
              <a:t>[Sources]</a:t>
            </a:r>
          </a:p>
          <a:p xmlns:a="http://schemas.openxmlformats.org/drawingml/2006/main">
            <a:r>
              <a:t>- Course notes supplied by the student: L9.2 Adversarial Attacks on ML and L7.2 Cybersecurity Analysis Pipeline</a:t>
            </a:r>
          </a:p>
          <a:p xmlns:a="http://schemas.openxmlformats.org/drawingml/2006/main">
            <a:r>
              <a:t>- Adversarial robustness design: docs/adversarial_robustness.md</a:t>
            </a:r>
          </a:p>
          <a:p xmlns:a="http://schemas.openxmlformats.org/drawingml/2006/main">
            <a:r>
              <a:t>- Safe mutation framework: src/security/adversarial.py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uses explicit controls to make the data and modeling process reproducible. The project dataset contains more than one million rows, while the streaming pipeline validates source provenance, schema, row quality, and split integrity without loading the full table into memory. The ingestion path accepts approved, checksum-pinned feature tables and avoids opening live malicious PDFs during dataset preparation. Duplicate control, group-aware splitting, and a ban on synthetic resampling protect the evaluation from leakage or manufactured class balance. Feature engineering uses a versioned schema with scale-stable transformations, densities, structural consistency gaps, risk interactions, complexity measures, and parser-health indicators. Shortcut audits, feature-family ablation, and train-inference parity tests check whether the representation is meaningful and stable. Model selection compares a transparent Logistic Regression baseline with Extra Trees, boosting methods, an MLP control, and an FT-Transformer neural candidate. Every candidate uses the same partitions, preprocessing contract, calibration procedure, and operating objective. The final decision favors the simplest model that provides reliable held-out performance and operational value.</a:t>
            </a:r>
          </a:p>
          <a:p xmlns:a="http://schemas.openxmlformats.org/drawingml/2006/main">
            <a:r>
              <a:t/>
            </a:r>
          </a:p>
          <a:p xmlns:a="http://schemas.openxmlformats.org/drawingml/2006/main">
            <a:r>
              <a:t>[Sources]</a:t>
            </a:r>
          </a:p>
          <a:p xmlns:a="http://schemas.openxmlformats.org/drawingml/2006/main">
            <a:r>
              <a:t>- Scientific gates: src/config.py and src/experiment.py</a:t>
            </a:r>
          </a:p>
          <a:p xmlns:a="http://schemas.openxmlformats.org/drawingml/2006/main">
            <a:r>
              <a:t>- Data validation gates: src/data/validate.py and src/verification.py</a:t>
            </a:r>
          </a:p>
          <a:p xmlns:a="http://schemas.openxmlformats.org/drawingml/2006/main">
            <a:r>
              <a:t>- Feature engineering and model comparison: src/features/engineered.py and src/models/phase4.py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view brings evaluation, explainability, operational conclusions, and robustness into one evidence chain. The metric stage calculates Precision, Recall, F1, F-beta, ROC-AUC, partial ROC, PR-AUC, low-FPR counts, calibration, intervals, subgroup errors, and drift. Together, these measurements show both discrimination quality and the operational cost of missed threats or excessive alerts. Explainability combines a real-training-background attribution method with permutation and native importance, local effects, interactions, retrained feature-family ablation, bootstrap and seed stability, label-randomization and noise controls, faithfulness tests, subgroup analysis, local cases, and feasible counterfactuals. A conclusion is accepted only when independent methods agree and sanity checks pass. This supports actionable decisions such as keeping a feature, removing a shortcut, re-engineering an unstable signal, monitoring drift, or routing uncertain cases to abstention. Robustness is tested with safe structural mutations and clean-versus-mutated comparisons before and after canonicalization, multi-view parsing, resource bounds, parser-health checks, and out-of-distribution abstention. The result is a complete workflow in which performance claims, explanations, analyst actions, and adversarial defenses are tied to reproducible evidence.</a:t>
            </a:r>
          </a:p>
          <a:p xmlns:a="http://schemas.openxmlformats.org/drawingml/2006/main">
            <a:r>
              <a:t/>
            </a:r>
          </a:p>
          <a:p xmlns:a="http://schemas.openxmlformats.org/drawingml/2006/main">
            <a:r>
              <a:t>[Sources]</a:t>
            </a:r>
          </a:p>
          <a:p xmlns:a="http://schemas.openxmlformats.org/drawingml/2006/main">
            <a:r>
              <a:t>- Metric and error analysis: src/models/metrics.py and src/models/phase5.py</a:t>
            </a:r>
          </a:p>
          <a:p xmlns:a="http://schemas.openxmlformats.org/drawingml/2006/main">
            <a:r>
              <a:t>- Deep explainability: src/features/explain.py and src/models/phase6.py</a:t>
            </a:r>
          </a:p>
          <a:p xmlns:a="http://schemas.openxmlformats.org/drawingml/2006/main">
            <a:r>
              <a:t>- Adversarial evaluation and conclusions: src/models/phase7.py, docs/adversarial_robustness.md, and docs/conclusions.md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c6051dbf6645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31669f00984c6e" /><Relationship Type="http://schemas.openxmlformats.org/officeDocument/2006/relationships/slideLayout" Target="/ppt/slideLayouts/slideLayout1.xml" Id="R1e3fc3befe184c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3fc3befe184c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03517d84f5e4dd2" /><Relationship Type="http://schemas.openxmlformats.org/officeDocument/2006/relationships/image" Target="/ppt/media/image.png" Id="R042a051350ec417c" /><Relationship Type="http://schemas.openxmlformats.org/officeDocument/2006/relationships/notesSlide" Target="/ppt/notesSlides/notesSlide1.xml" Id="Rdb1aa7314f3e4b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c7e117e9a5e4b9a" /><Relationship Type="http://schemas.openxmlformats.org/officeDocument/2006/relationships/notesSlide" Target="/ppt/notesSlides/notesSlide2.xml" Id="R9b1ae863ae1d43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4881a6d914a4964" /><Relationship Type="http://schemas.openxmlformats.org/officeDocument/2006/relationships/notesSlide" Target="/ppt/notesSlides/notesSlide3.xml" Id="R28032c2ad8804f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e68339daa27457d" /><Relationship Type="http://schemas.openxmlformats.org/officeDocument/2006/relationships/notesSlide" Target="/ppt/notesSlides/notesSlide4.xml" Id="R4300a801dae848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bb4f5bde10440d7" /><Relationship Type="http://schemas.openxmlformats.org/officeDocument/2006/relationships/notesSlide" Target="/ppt/notesSlides/notesSlide5.xml" Id="Reea4f07d501049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31e092e124a446c" /><Relationship Type="http://schemas.openxmlformats.org/officeDocument/2006/relationships/notesSlide" Target="/ppt/notesSlides/notesSlide6.xml" Id="Re476d994c59c4a3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7a1d5289cee430f" /><Relationship Type="http://schemas.openxmlformats.org/officeDocument/2006/relationships/notesSlide" Target="/ppt/notesSlides/notesSlide7.xml" Id="R0e8da00a644c48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5f9072f8aed46af" /><Relationship Type="http://schemas.openxmlformats.org/officeDocument/2006/relationships/notesSlide" Target="/ppt/notesSlides/notesSlide8.xml" Id="R2f348213f4374e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05a736c61f74cba" /><Relationship Type="http://schemas.openxmlformats.org/officeDocument/2006/relationships/notesSlide" Target="/ppt/notesSlides/notesSlide9.xml" Id="Re5dec339098a49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de8d66e600a4774" /><Relationship Type="http://schemas.openxmlformats.org/officeDocument/2006/relationships/notesSlide" Target="/ppt/notesSlides/notesSlide10.xml" Id="Raeb66a3ed77a490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213211a01364a3b" /><Relationship Type="http://schemas.openxmlformats.org/officeDocument/2006/relationships/notesSlide" Target="/ppt/notesSlides/notesSlide11.xml" Id="Rfbca2ce481fe4a3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6487eb961d443a1" /><Relationship Type="http://schemas.openxmlformats.org/officeDocument/2006/relationships/notesSlide" Target="/ppt/notesSlides/notesSlide12.xml" Id="Re9edae179a6940dd" /></Relationships>
</file>

<file path=ppt/slides/slide1.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CA15D8E-CD7C-4878-A796-B267F9FF14F8}"/>
              </a:ext>
            </a:extLst>
          </p:cNvPr>
          <p:cNvSpPr>
            <a:spLocks xmlns:a="http://schemas.openxmlformats.org/drawingml/2006/main" noGrp="1"/>
          </p:cNvSpPr>
          <p:nvPr/>
        </p:nvSpPr>
        <p:spPr>
          <a:xfrm xmlns:a="http://schemas.openxmlformats.org/drawingml/2006/main">
            <a:off x="0" y="0"/>
            <a:ext cx="5572125" cy="6858000"/>
          </a:xfrm>
          <a:prstGeom xmlns:a="http://schemas.openxmlformats.org/drawingml/2006/main" prst="rect">
            <a:avLst/>
          </a:prstGeom>
          <a:solidFill xmlns:a="http://schemas.openxmlformats.org/drawingml/2006/main">
            <a:srgbClr val="0A1D30"/>
          </a:solidFill>
          <a:ln xmlns:a="http://schemas.openxmlformats.org/drawingml/2006/main" w="0">
            <a:no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42a051350ec417c"/>
          <a:srcRect xmlns:a="http://schemas.openxmlformats.org/drawingml/2006/main" l="22837" t="0" r="22837" b="0"/>
          <a:stretch xmlns:a="http://schemas.openxmlformats.org/drawingml/2006/main">
            <a:fillRect l="0" t="0" r="0" b="0"/>
          </a:stretch>
        </p:blipFill>
        <p:spPr>
          <a:xfrm xmlns:a="http://schemas.openxmlformats.org/drawingml/2006/main">
            <a:off x="5572125" y="0"/>
            <a:ext cx="6619875"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8229F39-A915-462A-B58A-1CA366B2D69D}"/>
              </a:ext>
            </a:extLst>
          </p:cNvPr>
          <p:cNvSpPr>
            <a:spLocks xmlns:a="http://schemas.openxmlformats.org/drawingml/2006/main" noGrp="1"/>
          </p:cNvSpPr>
          <p:nvPr/>
        </p:nvSpPr>
        <p:spPr>
          <a:xfrm xmlns:a="http://schemas.openxmlformats.org/drawingml/2006/main">
            <a:off x="5381625" y="0"/>
            <a:ext cx="666750" cy="6858000"/>
          </a:xfrm>
          <a:prstGeom xmlns:a="http://schemas.openxmlformats.org/drawingml/2006/main" prst="rect">
            <a:avLst/>
          </a:prstGeom>
          <a:solidFill xmlns:a="http://schemas.openxmlformats.org/drawingml/2006/main">
            <a:srgbClr val="0A1D3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BBED64E-0446-4AD8-88F5-5EEE32F3F5FC}"/>
              </a:ext>
            </a:extLst>
          </p:cNvPr>
          <p:cNvSpPr>
            <a:spLocks xmlns:a="http://schemas.openxmlformats.org/drawingml/2006/main" noGrp="1"/>
          </p:cNvSpPr>
          <p:nvPr/>
        </p:nvSpPr>
        <p:spPr>
          <a:xfrm xmlns:a="http://schemas.openxmlformats.org/drawingml/2006/main">
            <a:off x="666750" y="571500"/>
            <a:ext cx="361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6BFD0"/>
                </a:solidFill>
              </a:defRPr>
            </a:pPr>
            <a:r>
              <a:rPr sz="1275" b="1">
                <a:solidFill>
                  <a:srgbClr val="26BFD0"/>
                </a:solidFill>
              </a:rPr>
              <a:t>FINAL COURSE PROJECT</a:t>
            </a:r>
          </a:p>
        </p:txBody>
      </p:sp>
      <p:sp>
        <p:nvSpPr>
          <p:cNvPr id="5" name="">
            <a:extLst xmlns:a="http://schemas.openxmlformats.org/drawingml/2006/main">
              <a:ext uri="{FF2B5EF4-FFF2-40B4-BE49-F238E27FC236}">
                <a16:creationId xmlns:a16="http://schemas.microsoft.com/office/drawing/2014/main" id="{4CCA5B74-2286-49BD-873D-C233906D95AC}"/>
              </a:ext>
            </a:extLst>
          </p:cNvPr>
          <p:cNvSpPr>
            <a:spLocks xmlns:a="http://schemas.openxmlformats.org/drawingml/2006/main" noGrp="1"/>
          </p:cNvSpPr>
          <p:nvPr/>
        </p:nvSpPr>
        <p:spPr>
          <a:xfrm xmlns:a="http://schemas.openxmlformats.org/drawingml/2006/main">
            <a:off x="647700" y="135255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750" b="1">
                <a:solidFill>
                  <a:srgbClr val="FFFFFF"/>
                </a:solidFill>
              </a:defRPr>
            </a:pPr>
            <a:r>
              <a:rPr sz="3750" b="1">
                <a:solidFill>
                  <a:srgbClr val="FFFFFF"/>
                </a:solidFill>
              </a:rPr>
              <a:t>Malicious PDF</a:t>
            </a:r>
          </a:p>
          <a:p xmlns:a="http://schemas.openxmlformats.org/drawingml/2006/main">
            <a:pPr algn="l">
              <a:defRPr sz="3750" b="1">
                <a:solidFill>
                  <a:srgbClr val="FFFFFF"/>
                </a:solidFill>
              </a:defRPr>
            </a:pPr>
            <a:r>
              <a:rPr sz="3750" b="1">
                <a:solidFill>
                  <a:srgbClr val="FFFFFF"/>
                </a:solidFill>
              </a:rPr>
              <a:t>Detection with</a:t>
            </a:r>
          </a:p>
          <a:p xmlns:a="http://schemas.openxmlformats.org/drawingml/2006/main">
            <a:pPr algn="l">
              <a:defRPr sz="3750" b="1">
                <a:solidFill>
                  <a:srgbClr val="FFFFFF"/>
                </a:solidFill>
              </a:defRPr>
            </a:pPr>
            <a:r>
              <a:rPr sz="3750" b="1">
                <a:solidFill>
                  <a:srgbClr val="FFFFFF"/>
                </a:solidFill>
              </a:rPr>
              <a:t>Machine Learning</a:t>
            </a:r>
          </a:p>
        </p:txBody>
      </p:sp>
      <p:sp>
        <p:nvSpPr>
          <p:cNvPr id="6" name="">
            <a:extLst xmlns:a="http://schemas.openxmlformats.org/drawingml/2006/main">
              <a:ext uri="{FF2B5EF4-FFF2-40B4-BE49-F238E27FC236}">
                <a16:creationId xmlns:a16="http://schemas.microsoft.com/office/drawing/2014/main" id="{70E500FE-18B6-43B9-A97A-BE44F38FA6A5}"/>
              </a:ext>
            </a:extLst>
          </p:cNvPr>
          <p:cNvSpPr>
            <a:spLocks xmlns:a="http://schemas.openxmlformats.org/drawingml/2006/main" noGrp="1"/>
          </p:cNvSpPr>
          <p:nvPr/>
        </p:nvSpPr>
        <p:spPr>
          <a:xfrm xmlns:a="http://schemas.openxmlformats.org/drawingml/2006/main">
            <a:off x="685800" y="3714750"/>
            <a:ext cx="4143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D7E5EE"/>
                </a:solidFill>
              </a:defRPr>
            </a:pPr>
            <a:r>
              <a:rPr sz="1725" b="0">
                <a:solidFill>
                  <a:srgbClr val="D7E5EE"/>
                </a:solidFill>
              </a:rPr>
              <a:t>A course-based workflow from threat model to monitored response</a:t>
            </a:r>
          </a:p>
        </p:txBody>
      </p:sp>
      <p:sp>
        <p:nvSpPr>
          <p:cNvPr id="7" name="">
            <a:extLst xmlns:a="http://schemas.openxmlformats.org/drawingml/2006/main">
              <a:ext uri="{FF2B5EF4-FFF2-40B4-BE49-F238E27FC236}">
                <a16:creationId xmlns:a16="http://schemas.microsoft.com/office/drawing/2014/main" id="{BAE17480-498D-49F5-BA92-879C60D33B39}"/>
              </a:ext>
            </a:extLst>
          </p:cNvPr>
          <p:cNvSpPr>
            <a:spLocks xmlns:a="http://schemas.openxmlformats.org/drawingml/2006/main" noGrp="1"/>
          </p:cNvSpPr>
          <p:nvPr/>
        </p:nvSpPr>
        <p:spPr>
          <a:xfrm xmlns:a="http://schemas.openxmlformats.org/drawingml/2006/main">
            <a:off x="685800" y="4505325"/>
            <a:ext cx="952500" cy="47625"/>
          </a:xfrm>
          <a:prstGeom xmlns:a="http://schemas.openxmlformats.org/drawingml/2006/main" prst="roundRect">
            <a:avLst>
              <a:gd name="adj" fmla="val 50000"/>
            </a:avLst>
          </a:prstGeom>
          <a:solidFill xmlns:a="http://schemas.openxmlformats.org/drawingml/2006/main">
            <a:srgbClr val="26BFD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684234F-05BA-4362-80DC-CEB5DD73C08A}"/>
              </a:ext>
            </a:extLst>
          </p:cNvPr>
          <p:cNvSpPr>
            <a:spLocks xmlns:a="http://schemas.openxmlformats.org/drawingml/2006/main" noGrp="1"/>
          </p:cNvSpPr>
          <p:nvPr/>
        </p:nvSpPr>
        <p:spPr>
          <a:xfrm xmlns:a="http://schemas.openxmlformats.org/drawingml/2006/main">
            <a:off x="685800" y="48577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FFFFF"/>
                </a:solidFill>
              </a:defRPr>
            </a:pPr>
            <a:r>
              <a:rPr sz="1650" b="1">
                <a:solidFill>
                  <a:srgbClr val="FFFFFF"/>
                </a:solidFill>
              </a:rPr>
              <a:t>Data Science Methods for Cybersecurity</a:t>
            </a:r>
          </a:p>
        </p:txBody>
      </p:sp>
      <p:sp>
        <p:nvSpPr>
          <p:cNvPr id="9" name="">
            <a:extLst xmlns:a="http://schemas.openxmlformats.org/drawingml/2006/main">
              <a:ext uri="{FF2B5EF4-FFF2-40B4-BE49-F238E27FC236}">
                <a16:creationId xmlns:a16="http://schemas.microsoft.com/office/drawing/2014/main" id="{36B7A552-9291-41D7-B966-F11899A0B1C5}"/>
              </a:ext>
            </a:extLst>
          </p:cNvPr>
          <p:cNvSpPr>
            <a:spLocks xmlns:a="http://schemas.openxmlformats.org/drawingml/2006/main" noGrp="1"/>
          </p:cNvSpPr>
          <p:nvPr/>
        </p:nvSpPr>
        <p:spPr>
          <a:xfrm xmlns:a="http://schemas.openxmlformats.org/drawingml/2006/main">
            <a:off x="685800" y="53149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AFC4D1"/>
                </a:solidFill>
              </a:defRPr>
            </a:pPr>
            <a:r>
              <a:rPr sz="1500" b="0">
                <a:solidFill>
                  <a:srgbClr val="AFC4D1"/>
                </a:solidFill>
              </a:rPr>
              <a:t>Saed Abdalgani</a:t>
            </a:r>
          </a:p>
        </p:txBody>
      </p:sp>
      <p:sp>
        <p:nvSpPr>
          <p:cNvPr id="10" name="">
            <a:extLst xmlns:a="http://schemas.openxmlformats.org/drawingml/2006/main">
              <a:ext uri="{FF2B5EF4-FFF2-40B4-BE49-F238E27FC236}">
                <a16:creationId xmlns:a16="http://schemas.microsoft.com/office/drawing/2014/main" id="{9C70530C-9781-4C55-8685-CB23697F9C0D}"/>
              </a:ext>
            </a:extLst>
          </p:cNvPr>
          <p:cNvSpPr>
            <a:spLocks xmlns:a="http://schemas.openxmlformats.org/drawingml/2006/main" noGrp="1"/>
          </p:cNvSpPr>
          <p:nvPr/>
        </p:nvSpPr>
        <p:spPr>
          <a:xfrm xmlns:a="http://schemas.openxmlformats.org/drawingml/2006/main">
            <a:off x="685800" y="596265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26BFD0"/>
                </a:solidFill>
              </a:defRPr>
            </a:pPr>
            <a:r>
              <a:rPr sz="1125" b="0">
                <a:solidFill>
                  <a:srgbClr val="26BFD0"/>
                </a:solidFill>
              </a:rPr>
              <a:t>Supervised ML  |  EDA  |  Metrics  |  XAI  |  Adversarial ML</a:t>
            </a:r>
          </a:p>
        </p:txBody>
      </p:sp>
    </p:spTree>
    <p:extLst>
      <p:ext uri="{BB962C8B-B14F-4D97-AF65-F5344CB8AC3E}">
        <p14:creationId xmlns:p14="http://schemas.microsoft.com/office/powerpoint/2010/main" val="109102890"/>
      </p:ext>
    </p:extLst>
  </p:cSld>
</p:sld>
</file>

<file path=ppt/slides/slide2.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D282568-0C69-4BC1-B86C-FC853E837A3D}"/>
              </a:ext>
            </a:extLst>
          </p:cNvPr>
          <p:cNvSpPr>
            <a:spLocks xmlns:a="http://schemas.openxmlformats.org/drawingml/2006/main" noGrp="1"/>
          </p:cNvSpPr>
          <p:nvPr/>
        </p:nvSpPr>
        <p:spPr>
          <a:xfrm xmlns:a="http://schemas.openxmlformats.org/drawingml/2006/main">
            <a:off x="647700" y="2571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0A1D30"/>
                </a:solidFill>
              </a:defRPr>
            </a:pPr>
            <a:r>
              <a:rPr sz="1050" b="1">
                <a:solidFill>
                  <a:srgbClr val="0A1D30"/>
                </a:solidFill>
              </a:rPr>
              <a:t>DATA SCIENCE METHODS FOR CYBERSECURITY</a:t>
            </a:r>
          </a:p>
        </p:txBody>
      </p:sp>
      <p:sp>
        <p:nvSpPr>
          <p:cNvPr id="2" name="">
            <a:extLst xmlns:a="http://schemas.openxmlformats.org/drawingml/2006/main">
              <a:ext uri="{FF2B5EF4-FFF2-40B4-BE49-F238E27FC236}">
                <a16:creationId xmlns:a16="http://schemas.microsoft.com/office/drawing/2014/main" id="{C09EE9F6-0386-4BAE-ABF9-F53DADFF31FF}"/>
              </a:ext>
            </a:extLst>
          </p:cNvPr>
          <p:cNvSpPr>
            <a:spLocks xmlns:a="http://schemas.openxmlformats.org/drawingml/2006/main" noGrp="1"/>
          </p:cNvSpPr>
          <p:nvPr/>
        </p:nvSpPr>
        <p:spPr>
          <a:xfrm xmlns:a="http://schemas.openxmlformats.org/drawingml/2006/main">
            <a:off x="6096000" y="2571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2F6FE4"/>
                </a:solidFill>
              </a:defRPr>
            </a:pPr>
            <a:r>
              <a:rPr sz="1050" b="1">
                <a:solidFill>
                  <a:srgbClr val="2F6FE4"/>
                </a:solidFill>
              </a:rPr>
              <a:t>L1  •  CIA + THREAT MODEL</a:t>
            </a:r>
          </a:p>
        </p:txBody>
      </p:sp>
      <p:sp>
        <p:nvSpPr>
          <p:cNvPr id="3" name="">
            <a:extLst xmlns:a="http://schemas.openxmlformats.org/drawingml/2006/main">
              <a:ext uri="{FF2B5EF4-FFF2-40B4-BE49-F238E27FC236}">
                <a16:creationId xmlns:a16="http://schemas.microsoft.com/office/drawing/2014/main" id="{CA3D2F6F-757F-4866-A5BC-89B5F51D7D8B}"/>
              </a:ext>
            </a:extLst>
          </p:cNvPr>
          <p:cNvSpPr>
            <a:spLocks xmlns:a="http://schemas.openxmlformats.org/drawingml/2006/main" noGrp="1"/>
          </p:cNvSpPr>
          <p:nvPr/>
        </p:nvSpPr>
        <p:spPr>
          <a:xfrm xmlns:a="http://schemas.openxmlformats.org/drawingml/2006/main">
            <a:off x="10953750" y="22860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657888"/>
                </a:solidFill>
              </a:defRPr>
            </a:pPr>
            <a:r>
              <a:rPr sz="1350" b="1">
                <a:solidFill>
                  <a:srgbClr val="657888"/>
                </a:solidFill>
              </a:rPr>
              <a:t>02</a:t>
            </a:r>
          </a:p>
        </p:txBody>
      </p:sp>
      <p:sp>
        <p:nvSpPr>
          <p:cNvPr id="4" name="">
            <a:extLst xmlns:a="http://schemas.openxmlformats.org/drawingml/2006/main">
              <a:ext uri="{FF2B5EF4-FFF2-40B4-BE49-F238E27FC236}">
                <a16:creationId xmlns:a16="http://schemas.microsoft.com/office/drawing/2014/main" id="{9CAA4BF2-2FA0-4171-A907-71A8139B4560}"/>
              </a:ext>
            </a:extLst>
          </p:cNvPr>
          <p:cNvSpPr>
            <a:spLocks xmlns:a="http://schemas.openxmlformats.org/drawingml/2006/main" noGrp="1"/>
          </p:cNvSpPr>
          <p:nvPr/>
        </p:nvSpPr>
        <p:spPr>
          <a:xfrm xmlns:a="http://schemas.openxmlformats.org/drawingml/2006/main">
            <a:off x="647700" y="581025"/>
            <a:ext cx="108966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95C1B85-BD9F-49DA-8310-83F74E397158}"/>
              </a:ext>
            </a:extLst>
          </p:cNvPr>
          <p:cNvSpPr>
            <a:spLocks xmlns:a="http://schemas.openxmlformats.org/drawingml/2006/main" noGrp="1"/>
          </p:cNvSpPr>
          <p:nvPr/>
        </p:nvSpPr>
        <p:spPr>
          <a:xfrm xmlns:a="http://schemas.openxmlformats.org/drawingml/2006/main">
            <a:off x="647700" y="762000"/>
            <a:ext cx="10896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0A1D30"/>
                </a:solidFill>
              </a:defRPr>
            </a:pPr>
            <a:r>
              <a:rPr sz="3150" b="1">
                <a:solidFill>
                  <a:srgbClr val="0A1D30"/>
                </a:solidFill>
              </a:rPr>
              <a:t>The security objective starts with the threat model</a:t>
            </a:r>
          </a:p>
        </p:txBody>
      </p:sp>
      <p:sp>
        <p:nvSpPr>
          <p:cNvPr id="6" name="">
            <a:extLst xmlns:a="http://schemas.openxmlformats.org/drawingml/2006/main">
              <a:ext uri="{FF2B5EF4-FFF2-40B4-BE49-F238E27FC236}">
                <a16:creationId xmlns:a16="http://schemas.microsoft.com/office/drawing/2014/main" id="{BD0D9572-02BD-4274-BA19-AE2DB538AC5A}"/>
              </a:ext>
            </a:extLst>
          </p:cNvPr>
          <p:cNvSpPr>
            <a:spLocks xmlns:a="http://schemas.openxmlformats.org/drawingml/2006/main" noGrp="1"/>
          </p:cNvSpPr>
          <p:nvPr/>
        </p:nvSpPr>
        <p:spPr>
          <a:xfrm xmlns:a="http://schemas.openxmlformats.org/drawingml/2006/main">
            <a:off x="685800" y="171450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F6FE4"/>
                </a:solidFill>
              </a:defRPr>
            </a:pPr>
            <a:r>
              <a:rPr sz="1425" b="1">
                <a:solidFill>
                  <a:srgbClr val="2F6FE4"/>
                </a:solidFill>
              </a:rPr>
              <a:t>Asset</a:t>
            </a:r>
          </a:p>
        </p:txBody>
      </p:sp>
      <p:sp>
        <p:nvSpPr>
          <p:cNvPr id="7" name="">
            <a:extLst xmlns:a="http://schemas.openxmlformats.org/drawingml/2006/main">
              <a:ext uri="{FF2B5EF4-FFF2-40B4-BE49-F238E27FC236}">
                <a16:creationId xmlns:a16="http://schemas.microsoft.com/office/drawing/2014/main" id="{1454FDA5-651E-4974-81CF-87E429D8B56B}"/>
              </a:ext>
            </a:extLst>
          </p:cNvPr>
          <p:cNvSpPr>
            <a:spLocks xmlns:a="http://schemas.openxmlformats.org/drawingml/2006/main" noGrp="1"/>
          </p:cNvSpPr>
          <p:nvPr/>
        </p:nvSpPr>
        <p:spPr>
          <a:xfrm xmlns:a="http://schemas.openxmlformats.org/drawingml/2006/main">
            <a:off x="685800" y="20764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0A1D30"/>
                </a:solidFill>
              </a:defRPr>
            </a:pPr>
            <a:r>
              <a:rPr sz="2325" b="1">
                <a:solidFill>
                  <a:srgbClr val="0A1D30"/>
                </a:solidFill>
              </a:rPr>
              <a:t>Trusted document workflow</a:t>
            </a:r>
          </a:p>
        </p:txBody>
      </p:sp>
      <p:sp>
        <p:nvSpPr>
          <p:cNvPr id="8" name="">
            <a:extLst xmlns:a="http://schemas.openxmlformats.org/drawingml/2006/main">
              <a:ext uri="{FF2B5EF4-FFF2-40B4-BE49-F238E27FC236}">
                <a16:creationId xmlns:a16="http://schemas.microsoft.com/office/drawing/2014/main" id="{924C7CC5-60E2-4321-84EB-37B8887BA2D7}"/>
              </a:ext>
            </a:extLst>
          </p:cNvPr>
          <p:cNvSpPr>
            <a:spLocks xmlns:a="http://schemas.openxmlformats.org/drawingml/2006/main" noGrp="1"/>
          </p:cNvSpPr>
          <p:nvPr/>
        </p:nvSpPr>
        <p:spPr>
          <a:xfrm xmlns:a="http://schemas.openxmlformats.org/drawingml/2006/main">
            <a:off x="685800" y="2628900"/>
            <a:ext cx="4000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57888"/>
                </a:solidFill>
              </a:defRPr>
            </a:pPr>
            <a:r>
              <a:rPr sz="1575" b="0">
                <a:solidFill>
                  <a:srgbClr val="657888"/>
                </a:solidFill>
              </a:rPr>
              <a:t>People and endpoints need useful documents without hidden behavior.</a:t>
            </a:r>
          </a:p>
        </p:txBody>
      </p:sp>
      <p:sp>
        <p:nvSpPr>
          <p:cNvPr id="9" name="">
            <a:extLst xmlns:a="http://schemas.openxmlformats.org/drawingml/2006/main">
              <a:ext uri="{FF2B5EF4-FFF2-40B4-BE49-F238E27FC236}">
                <a16:creationId xmlns:a16="http://schemas.microsoft.com/office/drawing/2014/main" id="{DA56AA92-4C5F-4105-9406-5DBC36CFB03B}"/>
              </a:ext>
            </a:extLst>
          </p:cNvPr>
          <p:cNvSpPr>
            <a:spLocks xmlns:a="http://schemas.openxmlformats.org/drawingml/2006/main" noGrp="1"/>
          </p:cNvSpPr>
          <p:nvPr/>
        </p:nvSpPr>
        <p:spPr>
          <a:xfrm xmlns:a="http://schemas.openxmlformats.org/drawingml/2006/main">
            <a:off x="685800" y="3667125"/>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D86565"/>
                </a:solidFill>
              </a:defRPr>
            </a:pPr>
            <a:r>
              <a:rPr sz="1425" b="1">
                <a:solidFill>
                  <a:srgbClr val="D86565"/>
                </a:solidFill>
              </a:rPr>
              <a:t>Threat</a:t>
            </a:r>
          </a:p>
        </p:txBody>
      </p:sp>
      <p:sp>
        <p:nvSpPr>
          <p:cNvPr id="10" name="">
            <a:extLst xmlns:a="http://schemas.openxmlformats.org/drawingml/2006/main">
              <a:ext uri="{FF2B5EF4-FFF2-40B4-BE49-F238E27FC236}">
                <a16:creationId xmlns:a16="http://schemas.microsoft.com/office/drawing/2014/main" id="{C995421F-AB9A-4478-BA86-E7454B1465EA}"/>
              </a:ext>
            </a:extLst>
          </p:cNvPr>
          <p:cNvSpPr>
            <a:spLocks xmlns:a="http://schemas.openxmlformats.org/drawingml/2006/main" noGrp="1"/>
          </p:cNvSpPr>
          <p:nvPr/>
        </p:nvSpPr>
        <p:spPr>
          <a:xfrm xmlns:a="http://schemas.openxmlformats.org/drawingml/2006/main">
            <a:off x="685800" y="4029075"/>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0A1D30"/>
                </a:solidFill>
              </a:defRPr>
            </a:pPr>
            <a:r>
              <a:rPr sz="2325" b="1">
                <a:solidFill>
                  <a:srgbClr val="0A1D30"/>
                </a:solidFill>
              </a:rPr>
              <a:t>Crafted PDF structure</a:t>
            </a:r>
          </a:p>
        </p:txBody>
      </p:sp>
      <p:sp>
        <p:nvSpPr>
          <p:cNvPr id="11" name="">
            <a:extLst xmlns:a="http://schemas.openxmlformats.org/drawingml/2006/main">
              <a:ext uri="{FF2B5EF4-FFF2-40B4-BE49-F238E27FC236}">
                <a16:creationId xmlns:a16="http://schemas.microsoft.com/office/drawing/2014/main" id="{67FB0AA7-DA73-4116-877C-92CCF6ABACB4}"/>
              </a:ext>
            </a:extLst>
          </p:cNvPr>
          <p:cNvSpPr>
            <a:spLocks xmlns:a="http://schemas.openxmlformats.org/drawingml/2006/main" noGrp="1"/>
          </p:cNvSpPr>
          <p:nvPr/>
        </p:nvSpPr>
        <p:spPr>
          <a:xfrm xmlns:a="http://schemas.openxmlformats.org/drawingml/2006/main">
            <a:off x="685800" y="4581525"/>
            <a:ext cx="4000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57888"/>
                </a:solidFill>
              </a:defRPr>
            </a:pPr>
            <a:r>
              <a:rPr sz="1575" b="0">
                <a:solidFill>
                  <a:srgbClr val="657888"/>
                </a:solidFill>
              </a:rPr>
              <a:t>Scripts, actions, embedded content, obfuscation, malformed references.</a:t>
            </a:r>
          </a:p>
        </p:txBody>
      </p:sp>
      <p:sp>
        <p:nvSpPr>
          <p:cNvPr id="12" name="">
            <a:extLst xmlns:a="http://schemas.openxmlformats.org/drawingml/2006/main">
              <a:ext uri="{FF2B5EF4-FFF2-40B4-BE49-F238E27FC236}">
                <a16:creationId xmlns:a16="http://schemas.microsoft.com/office/drawing/2014/main" id="{8FE3317A-B268-46E2-B44A-B453D34EA284}"/>
              </a:ext>
            </a:extLst>
          </p:cNvPr>
          <p:cNvSpPr>
            <a:spLocks xmlns:a="http://schemas.openxmlformats.org/drawingml/2006/main" noGrp="1"/>
          </p:cNvSpPr>
          <p:nvPr/>
        </p:nvSpPr>
        <p:spPr>
          <a:xfrm xmlns:a="http://schemas.openxmlformats.org/drawingml/2006/main">
            <a:off x="7905750" y="2952750"/>
            <a:ext cx="28575" cy="152400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22AFFF2-F3D6-41A1-B398-FB3EA44E4913}"/>
              </a:ext>
            </a:extLst>
          </p:cNvPr>
          <p:cNvSpPr>
            <a:spLocks xmlns:a="http://schemas.openxmlformats.org/drawingml/2006/main" noGrp="1"/>
          </p:cNvSpPr>
          <p:nvPr/>
        </p:nvSpPr>
        <p:spPr>
          <a:xfrm xmlns:a="http://schemas.openxmlformats.org/drawingml/2006/main">
            <a:off x="7029450" y="3695700"/>
            <a:ext cx="1790700" cy="28575"/>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8853299-403E-467F-877B-33644C06A866}"/>
              </a:ext>
            </a:extLst>
          </p:cNvPr>
          <p:cNvSpPr>
            <a:spLocks xmlns:a="http://schemas.openxmlformats.org/drawingml/2006/main" noGrp="1"/>
          </p:cNvSpPr>
          <p:nvPr/>
        </p:nvSpPr>
        <p:spPr>
          <a:xfrm xmlns:a="http://schemas.openxmlformats.org/drawingml/2006/main">
            <a:off x="7905750" y="3695700"/>
            <a:ext cx="1809750" cy="28575"/>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004D866-21B2-4593-94CA-23224955D4F4}"/>
              </a:ext>
            </a:extLst>
          </p:cNvPr>
          <p:cNvSpPr>
            <a:spLocks xmlns:a="http://schemas.openxmlformats.org/drawingml/2006/main" noGrp="1"/>
          </p:cNvSpPr>
          <p:nvPr/>
        </p:nvSpPr>
        <p:spPr>
          <a:xfrm xmlns:a="http://schemas.openxmlformats.org/drawingml/2006/main">
            <a:off x="7010400" y="1905000"/>
            <a:ext cx="1809750" cy="1809750"/>
          </a:xfrm>
          <a:prstGeom xmlns:a="http://schemas.openxmlformats.org/drawingml/2006/main" prst="ellipse">
            <a:avLst/>
          </a:prstGeom>
          <a:solidFill xmlns:a="http://schemas.openxmlformats.org/drawingml/2006/main">
            <a:srgbClr val="E8F0FB"/>
          </a:solidFill>
          <a:ln xmlns:a="http://schemas.openxmlformats.org/drawingml/2006/main" w="19050">
            <a:solidFill>
              <a:srgbClr val="2F6FE4"/>
            </a:solidFill>
            <a:prstDash val="solid"/>
          </a:ln>
        </p:spPr>
      </p:sp>
      <p:sp>
        <p:nvSpPr>
          <p:cNvPr id="16" name="">
            <a:extLst xmlns:a="http://schemas.openxmlformats.org/drawingml/2006/main">
              <a:ext uri="{FF2B5EF4-FFF2-40B4-BE49-F238E27FC236}">
                <a16:creationId xmlns:a16="http://schemas.microsoft.com/office/drawing/2014/main" id="{6CCCEBB0-9CE2-44CA-B658-ED724423D418}"/>
              </a:ext>
            </a:extLst>
          </p:cNvPr>
          <p:cNvSpPr>
            <a:spLocks xmlns:a="http://schemas.openxmlformats.org/drawingml/2006/main" noGrp="1"/>
          </p:cNvSpPr>
          <p:nvPr/>
        </p:nvSpPr>
        <p:spPr>
          <a:xfrm xmlns:a="http://schemas.openxmlformats.org/drawingml/2006/main">
            <a:off x="6000750" y="3905250"/>
            <a:ext cx="1809750" cy="1809750"/>
          </a:xfrm>
          <a:prstGeom xmlns:a="http://schemas.openxmlformats.org/drawingml/2006/main" prst="ellipse">
            <a:avLst/>
          </a:prstGeom>
          <a:solidFill xmlns:a="http://schemas.openxmlformats.org/drawingml/2006/main">
            <a:srgbClr val="E5F3F0"/>
          </a:solidFill>
          <a:ln xmlns:a="http://schemas.openxmlformats.org/drawingml/2006/main" w="19050">
            <a:solidFill>
              <a:srgbClr val="1F9D88"/>
            </a:solidFill>
            <a:prstDash val="solid"/>
          </a:ln>
        </p:spPr>
      </p:sp>
      <p:sp>
        <p:nvSpPr>
          <p:cNvPr id="17" name="">
            <a:extLst xmlns:a="http://schemas.openxmlformats.org/drawingml/2006/main">
              <a:ext uri="{FF2B5EF4-FFF2-40B4-BE49-F238E27FC236}">
                <a16:creationId xmlns:a16="http://schemas.microsoft.com/office/drawing/2014/main" id="{A71C28D1-84F8-42FF-B0CA-DC21CB4E58B6}"/>
              </a:ext>
            </a:extLst>
          </p:cNvPr>
          <p:cNvSpPr>
            <a:spLocks xmlns:a="http://schemas.openxmlformats.org/drawingml/2006/main" noGrp="1"/>
          </p:cNvSpPr>
          <p:nvPr/>
        </p:nvSpPr>
        <p:spPr>
          <a:xfrm xmlns:a="http://schemas.openxmlformats.org/drawingml/2006/main">
            <a:off x="8020050" y="3905250"/>
            <a:ext cx="1809750" cy="1809750"/>
          </a:xfrm>
          <a:prstGeom xmlns:a="http://schemas.openxmlformats.org/drawingml/2006/main" prst="ellipse">
            <a:avLst/>
          </a:prstGeom>
          <a:solidFill xmlns:a="http://schemas.openxmlformats.org/drawingml/2006/main">
            <a:srgbClr val="F8EEDC"/>
          </a:solidFill>
          <a:ln xmlns:a="http://schemas.openxmlformats.org/drawingml/2006/main" w="19050">
            <a:solidFill>
              <a:srgbClr val="E5A33D"/>
            </a:solidFill>
            <a:prstDash val="solid"/>
          </a:ln>
        </p:spPr>
      </p:sp>
      <p:sp>
        <p:nvSpPr>
          <p:cNvPr id="18" name="">
            <a:extLst xmlns:a="http://schemas.openxmlformats.org/drawingml/2006/main">
              <a:ext uri="{FF2B5EF4-FFF2-40B4-BE49-F238E27FC236}">
                <a16:creationId xmlns:a16="http://schemas.microsoft.com/office/drawing/2014/main" id="{60F9B095-8AA6-4FF7-AE1E-40FCE5D32B42}"/>
              </a:ext>
            </a:extLst>
          </p:cNvPr>
          <p:cNvSpPr>
            <a:spLocks xmlns:a="http://schemas.openxmlformats.org/drawingml/2006/main" noGrp="1"/>
          </p:cNvSpPr>
          <p:nvPr/>
        </p:nvSpPr>
        <p:spPr>
          <a:xfrm xmlns:a="http://schemas.openxmlformats.org/drawingml/2006/main">
            <a:off x="7143750" y="24384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2F6FE4"/>
                </a:solidFill>
              </a:defRPr>
            </a:pPr>
            <a:r>
              <a:rPr sz="1275" b="1">
                <a:solidFill>
                  <a:srgbClr val="2F6FE4"/>
                </a:solidFill>
              </a:rPr>
              <a:t>CONFIDENTIALITY</a:t>
            </a:r>
          </a:p>
        </p:txBody>
      </p:sp>
      <p:sp>
        <p:nvSpPr>
          <p:cNvPr id="19" name="">
            <a:extLst xmlns:a="http://schemas.openxmlformats.org/drawingml/2006/main">
              <a:ext uri="{FF2B5EF4-FFF2-40B4-BE49-F238E27FC236}">
                <a16:creationId xmlns:a16="http://schemas.microsoft.com/office/drawing/2014/main" id="{38F38AF5-979B-47E6-B802-CEDED00CCC26}"/>
              </a:ext>
            </a:extLst>
          </p:cNvPr>
          <p:cNvSpPr>
            <a:spLocks xmlns:a="http://schemas.openxmlformats.org/drawingml/2006/main" noGrp="1"/>
          </p:cNvSpPr>
          <p:nvPr/>
        </p:nvSpPr>
        <p:spPr>
          <a:xfrm xmlns:a="http://schemas.openxmlformats.org/drawingml/2006/main">
            <a:off x="7219950" y="2819400"/>
            <a:ext cx="1381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173044"/>
                </a:solidFill>
              </a:defRPr>
            </a:pPr>
            <a:r>
              <a:rPr sz="1425" b="0">
                <a:solidFill>
                  <a:srgbClr val="173044"/>
                </a:solidFill>
              </a:rPr>
              <a:t>Prevent hidden</a:t>
            </a:r>
          </a:p>
          <a:p xmlns:a="http://schemas.openxmlformats.org/drawingml/2006/main">
            <a:pPr algn="ctr">
              <a:defRPr sz="1425" b="0">
                <a:solidFill>
                  <a:srgbClr val="173044"/>
                </a:solidFill>
              </a:defRPr>
            </a:pPr>
            <a:r>
              <a:rPr sz="1425" b="0">
                <a:solidFill>
                  <a:srgbClr val="173044"/>
                </a:solidFill>
              </a:rPr>
              <a:t>data exposure</a:t>
            </a:r>
          </a:p>
        </p:txBody>
      </p:sp>
      <p:sp>
        <p:nvSpPr>
          <p:cNvPr id="20" name="">
            <a:extLst xmlns:a="http://schemas.openxmlformats.org/drawingml/2006/main">
              <a:ext uri="{FF2B5EF4-FFF2-40B4-BE49-F238E27FC236}">
                <a16:creationId xmlns:a16="http://schemas.microsoft.com/office/drawing/2014/main" id="{C2F0EC3A-6710-4519-85B1-8A4FDAF04673}"/>
              </a:ext>
            </a:extLst>
          </p:cNvPr>
          <p:cNvSpPr>
            <a:spLocks xmlns:a="http://schemas.openxmlformats.org/drawingml/2006/main" noGrp="1"/>
          </p:cNvSpPr>
          <p:nvPr/>
        </p:nvSpPr>
        <p:spPr>
          <a:xfrm xmlns:a="http://schemas.openxmlformats.org/drawingml/2006/main">
            <a:off x="6143625" y="44386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1F9D88"/>
                </a:solidFill>
              </a:defRPr>
            </a:pPr>
            <a:r>
              <a:rPr sz="1275" b="1">
                <a:solidFill>
                  <a:srgbClr val="1F9D88"/>
                </a:solidFill>
              </a:rPr>
              <a:t>INTEGRITY</a:t>
            </a:r>
          </a:p>
        </p:txBody>
      </p:sp>
      <p:sp>
        <p:nvSpPr>
          <p:cNvPr id="21" name="">
            <a:extLst xmlns:a="http://schemas.openxmlformats.org/drawingml/2006/main">
              <a:ext uri="{FF2B5EF4-FFF2-40B4-BE49-F238E27FC236}">
                <a16:creationId xmlns:a16="http://schemas.microsoft.com/office/drawing/2014/main" id="{3AA25BF0-D52B-4F4C-AA71-2AC2B2521E56}"/>
              </a:ext>
            </a:extLst>
          </p:cNvPr>
          <p:cNvSpPr>
            <a:spLocks xmlns:a="http://schemas.openxmlformats.org/drawingml/2006/main" noGrp="1"/>
          </p:cNvSpPr>
          <p:nvPr/>
        </p:nvSpPr>
        <p:spPr>
          <a:xfrm xmlns:a="http://schemas.openxmlformats.org/drawingml/2006/main">
            <a:off x="6191250" y="4819650"/>
            <a:ext cx="142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173044"/>
                </a:solidFill>
              </a:defRPr>
            </a:pPr>
            <a:r>
              <a:rPr sz="1425" b="0">
                <a:solidFill>
                  <a:srgbClr val="173044"/>
                </a:solidFill>
              </a:rPr>
              <a:t>Protect expected</a:t>
            </a:r>
          </a:p>
          <a:p xmlns:a="http://schemas.openxmlformats.org/drawingml/2006/main">
            <a:pPr algn="ctr">
              <a:defRPr sz="1425" b="0">
                <a:solidFill>
                  <a:srgbClr val="173044"/>
                </a:solidFill>
              </a:defRPr>
            </a:pPr>
            <a:r>
              <a:rPr sz="1425" b="0">
                <a:solidFill>
                  <a:srgbClr val="173044"/>
                </a:solidFill>
              </a:rPr>
              <a:t>document behavior</a:t>
            </a:r>
          </a:p>
        </p:txBody>
      </p:sp>
      <p:sp>
        <p:nvSpPr>
          <p:cNvPr id="22" name="">
            <a:extLst xmlns:a="http://schemas.openxmlformats.org/drawingml/2006/main">
              <a:ext uri="{FF2B5EF4-FFF2-40B4-BE49-F238E27FC236}">
                <a16:creationId xmlns:a16="http://schemas.microsoft.com/office/drawing/2014/main" id="{93EB9D34-B715-4F98-81DE-C05693078A9F}"/>
              </a:ext>
            </a:extLst>
          </p:cNvPr>
          <p:cNvSpPr>
            <a:spLocks xmlns:a="http://schemas.openxmlformats.org/drawingml/2006/main" noGrp="1"/>
          </p:cNvSpPr>
          <p:nvPr/>
        </p:nvSpPr>
        <p:spPr>
          <a:xfrm xmlns:a="http://schemas.openxmlformats.org/drawingml/2006/main">
            <a:off x="8162925" y="44386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E5A33D"/>
                </a:solidFill>
              </a:defRPr>
            </a:pPr>
            <a:r>
              <a:rPr sz="1275" b="1">
                <a:solidFill>
                  <a:srgbClr val="E5A33D"/>
                </a:solidFill>
              </a:rPr>
              <a:t>AVAILABILITY</a:t>
            </a:r>
          </a:p>
        </p:txBody>
      </p:sp>
      <p:sp>
        <p:nvSpPr>
          <p:cNvPr id="23" name="">
            <a:extLst xmlns:a="http://schemas.openxmlformats.org/drawingml/2006/main">
              <a:ext uri="{FF2B5EF4-FFF2-40B4-BE49-F238E27FC236}">
                <a16:creationId xmlns:a16="http://schemas.microsoft.com/office/drawing/2014/main" id="{92B520A1-0F24-4153-A514-43A7916170C6}"/>
              </a:ext>
            </a:extLst>
          </p:cNvPr>
          <p:cNvSpPr>
            <a:spLocks xmlns:a="http://schemas.openxmlformats.org/drawingml/2006/main" noGrp="1"/>
          </p:cNvSpPr>
          <p:nvPr/>
        </p:nvSpPr>
        <p:spPr>
          <a:xfrm xmlns:a="http://schemas.openxmlformats.org/drawingml/2006/main">
            <a:off x="8210550" y="4819650"/>
            <a:ext cx="142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173044"/>
                </a:solidFill>
              </a:defRPr>
            </a:pPr>
            <a:r>
              <a:rPr sz="1425" b="0">
                <a:solidFill>
                  <a:srgbClr val="173044"/>
                </a:solidFill>
              </a:rPr>
              <a:t>Bound parser</a:t>
            </a:r>
          </a:p>
          <a:p xmlns:a="http://schemas.openxmlformats.org/drawingml/2006/main">
            <a:pPr algn="ctr">
              <a:defRPr sz="1425" b="0">
                <a:solidFill>
                  <a:srgbClr val="173044"/>
                </a:solidFill>
              </a:defRPr>
            </a:pPr>
            <a:r>
              <a:rPr sz="1425" b="0">
                <a:solidFill>
                  <a:srgbClr val="173044"/>
                </a:solidFill>
              </a:rPr>
              <a:t>resource use</a:t>
            </a:r>
          </a:p>
        </p:txBody>
      </p:sp>
      <p:sp>
        <p:nvSpPr>
          <p:cNvPr id="24" name="">
            <a:extLst xmlns:a="http://schemas.openxmlformats.org/drawingml/2006/main">
              <a:ext uri="{FF2B5EF4-FFF2-40B4-BE49-F238E27FC236}">
                <a16:creationId xmlns:a16="http://schemas.microsoft.com/office/drawing/2014/main" id="{83ED0412-3373-4F7D-A16A-62A749B56A38}"/>
              </a:ext>
            </a:extLst>
          </p:cNvPr>
          <p:cNvSpPr>
            <a:spLocks xmlns:a="http://schemas.openxmlformats.org/drawingml/2006/main" noGrp="1"/>
          </p:cNvSpPr>
          <p:nvPr/>
        </p:nvSpPr>
        <p:spPr>
          <a:xfrm xmlns:a="http://schemas.openxmlformats.org/drawingml/2006/main">
            <a:off x="9906000" y="28575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D86565"/>
                </a:solidFill>
              </a:defRPr>
            </a:pPr>
            <a:r>
              <a:rPr sz="1350" b="1">
                <a:solidFill>
                  <a:srgbClr val="D86565"/>
                </a:solidFill>
              </a:rPr>
              <a:t>Detective control</a:t>
            </a:r>
          </a:p>
        </p:txBody>
      </p:sp>
      <p:sp>
        <p:nvSpPr>
          <p:cNvPr id="25" name="">
            <a:extLst xmlns:a="http://schemas.openxmlformats.org/drawingml/2006/main">
              <a:ext uri="{FF2B5EF4-FFF2-40B4-BE49-F238E27FC236}">
                <a16:creationId xmlns:a16="http://schemas.microsoft.com/office/drawing/2014/main" id="{1258EFA6-6504-4ADB-81AE-1E582ABC484B}"/>
              </a:ext>
            </a:extLst>
          </p:cNvPr>
          <p:cNvSpPr>
            <a:spLocks xmlns:a="http://schemas.openxmlformats.org/drawingml/2006/main" noGrp="1"/>
          </p:cNvSpPr>
          <p:nvPr/>
        </p:nvSpPr>
        <p:spPr>
          <a:xfrm xmlns:a="http://schemas.openxmlformats.org/drawingml/2006/main">
            <a:off x="9810750" y="3295650"/>
            <a:ext cx="17335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657888"/>
                </a:solidFill>
              </a:defRPr>
            </a:pPr>
            <a:r>
              <a:rPr sz="1350" b="0">
                <a:solidFill>
                  <a:srgbClr val="657888"/>
                </a:solidFill>
              </a:rPr>
              <a:t>Static inspection supports sandboxing, EDR, and analyst response.</a:t>
            </a:r>
          </a:p>
        </p:txBody>
      </p:sp>
      <p:sp>
        <p:nvSpPr>
          <p:cNvPr id="26" name="">
            <a:extLst xmlns:a="http://schemas.openxmlformats.org/drawingml/2006/main">
              <a:ext uri="{FF2B5EF4-FFF2-40B4-BE49-F238E27FC236}">
                <a16:creationId xmlns:a16="http://schemas.microsoft.com/office/drawing/2014/main" id="{E7921341-E21E-48C8-B0C1-BFB8ED0F293A}"/>
              </a:ext>
            </a:extLst>
          </p:cNvPr>
          <p:cNvSpPr>
            <a:spLocks xmlns:a="http://schemas.openxmlformats.org/drawingml/2006/main" noGrp="1"/>
          </p:cNvSpPr>
          <p:nvPr/>
        </p:nvSpPr>
        <p:spPr>
          <a:xfrm xmlns:a="http://schemas.openxmlformats.org/drawingml/2006/main">
            <a:off x="647700" y="6400800"/>
            <a:ext cx="108966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04A93E9-5771-496D-B17B-35E05995D9D4}"/>
              </a:ext>
            </a:extLst>
          </p:cNvPr>
          <p:cNvSpPr>
            <a:spLocks xmlns:a="http://schemas.openxmlformats.org/drawingml/2006/main" noGrp="1"/>
          </p:cNvSpPr>
          <p:nvPr/>
        </p:nvSpPr>
        <p:spPr>
          <a:xfrm xmlns:a="http://schemas.openxmlformats.org/drawingml/2006/main">
            <a:off x="647700" y="649605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888"/>
                </a:solidFill>
              </a:defRPr>
            </a:pPr>
            <a:r>
              <a:rPr sz="975" b="0">
                <a:solidFill>
                  <a:srgbClr val="657888"/>
                </a:solidFill>
              </a:rPr>
              <a:t>A score is evidence for investigation, not automatic proof of attack.</a:t>
            </a:r>
          </a:p>
        </p:txBody>
      </p:sp>
      <p:sp>
        <p:nvSpPr>
          <p:cNvPr id="28" name="">
            <a:extLst xmlns:a="http://schemas.openxmlformats.org/drawingml/2006/main">
              <a:ext uri="{FF2B5EF4-FFF2-40B4-BE49-F238E27FC236}">
                <a16:creationId xmlns:a16="http://schemas.microsoft.com/office/drawing/2014/main" id="{57ED21A9-B06B-4ED5-9135-F346A4B3C34C}"/>
              </a:ext>
            </a:extLst>
          </p:cNvPr>
          <p:cNvSpPr>
            <a:spLocks xmlns:a="http://schemas.openxmlformats.org/drawingml/2006/main" noGrp="1"/>
          </p:cNvSpPr>
          <p:nvPr/>
        </p:nvSpPr>
        <p:spPr>
          <a:xfrm xmlns:a="http://schemas.openxmlformats.org/drawingml/2006/main">
            <a:off x="10287000" y="64674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0A1D30"/>
                </a:solidFill>
              </a:defRPr>
            </a:pPr>
            <a:r>
              <a:rPr sz="975" b="1">
                <a:solidFill>
                  <a:srgbClr val="0A1D30"/>
                </a:solidFill>
              </a:rPr>
              <a:t>2 / 12</a:t>
            </a:r>
          </a:p>
        </p:txBody>
      </p:sp>
    </p:spTree>
    <p:extLst>
      <p:ext uri="{BB962C8B-B14F-4D97-AF65-F5344CB8AC3E}">
        <p14:creationId xmlns:p14="http://schemas.microsoft.com/office/powerpoint/2010/main" val="1466898423"/>
      </p:ext>
    </p:extLst>
  </p:cSld>
</p:sld>
</file>

<file path=ppt/slides/slide3.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AE0893B7-6449-4C8F-A86F-0BD05F39377B}"/>
              </a:ext>
            </a:extLst>
          </p:cNvPr>
          <p:cNvSpPr>
            <a:spLocks xmlns:a="http://schemas.openxmlformats.org/drawingml/2006/main" noGrp="1"/>
          </p:cNvSpPr>
          <p:nvPr/>
        </p:nvSpPr>
        <p:spPr>
          <a:xfrm xmlns:a="http://schemas.openxmlformats.org/drawingml/2006/main">
            <a:off x="647700" y="2571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0A1D30"/>
                </a:solidFill>
              </a:defRPr>
            </a:pPr>
            <a:r>
              <a:rPr sz="1050" b="1">
                <a:solidFill>
                  <a:srgbClr val="0A1D30"/>
                </a:solidFill>
              </a:rPr>
              <a:t>DATA SCIENCE METHODS FOR CYBERSECURITY</a:t>
            </a:r>
          </a:p>
        </p:txBody>
      </p:sp>
      <p:sp>
        <p:nvSpPr>
          <p:cNvPr id="2" name="">
            <a:extLst xmlns:a="http://schemas.openxmlformats.org/drawingml/2006/main">
              <a:ext uri="{FF2B5EF4-FFF2-40B4-BE49-F238E27FC236}">
                <a16:creationId xmlns:a16="http://schemas.microsoft.com/office/drawing/2014/main" id="{E05FD22E-2DF0-4B89-80C6-0854B271FBDA}"/>
              </a:ext>
            </a:extLst>
          </p:cNvPr>
          <p:cNvSpPr>
            <a:spLocks xmlns:a="http://schemas.openxmlformats.org/drawingml/2006/main" noGrp="1"/>
          </p:cNvSpPr>
          <p:nvPr/>
        </p:nvSpPr>
        <p:spPr>
          <a:xfrm xmlns:a="http://schemas.openxmlformats.org/drawingml/2006/main">
            <a:off x="6096000" y="2571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2F6FE4"/>
                </a:solidFill>
              </a:defRPr>
            </a:pPr>
            <a:r>
              <a:rPr sz="1050" b="1">
                <a:solidFill>
                  <a:srgbClr val="2F6FE4"/>
                </a:solidFill>
              </a:rPr>
              <a:t>L1  •  SUPERVISED CLASSIFICATION</a:t>
            </a:r>
          </a:p>
        </p:txBody>
      </p:sp>
      <p:sp>
        <p:nvSpPr>
          <p:cNvPr id="3" name="">
            <a:extLst xmlns:a="http://schemas.openxmlformats.org/drawingml/2006/main">
              <a:ext uri="{FF2B5EF4-FFF2-40B4-BE49-F238E27FC236}">
                <a16:creationId xmlns:a16="http://schemas.microsoft.com/office/drawing/2014/main" id="{6EA5D685-8DC8-40A3-96B0-89009AA6AA24}"/>
              </a:ext>
            </a:extLst>
          </p:cNvPr>
          <p:cNvSpPr>
            <a:spLocks xmlns:a="http://schemas.openxmlformats.org/drawingml/2006/main" noGrp="1"/>
          </p:cNvSpPr>
          <p:nvPr/>
        </p:nvSpPr>
        <p:spPr>
          <a:xfrm xmlns:a="http://schemas.openxmlformats.org/drawingml/2006/main">
            <a:off x="10953750" y="22860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657888"/>
                </a:solidFill>
              </a:defRPr>
            </a:pPr>
            <a:r>
              <a:rPr sz="1350" b="1">
                <a:solidFill>
                  <a:srgbClr val="657888"/>
                </a:solidFill>
              </a:rPr>
              <a:t>03</a:t>
            </a:r>
          </a:p>
        </p:txBody>
      </p:sp>
      <p:sp>
        <p:nvSpPr>
          <p:cNvPr id="4" name="">
            <a:extLst xmlns:a="http://schemas.openxmlformats.org/drawingml/2006/main">
              <a:ext uri="{FF2B5EF4-FFF2-40B4-BE49-F238E27FC236}">
                <a16:creationId xmlns:a16="http://schemas.microsoft.com/office/drawing/2014/main" id="{6A1F7767-FE8E-42D6-9028-FB40C8714931}"/>
              </a:ext>
            </a:extLst>
          </p:cNvPr>
          <p:cNvSpPr>
            <a:spLocks xmlns:a="http://schemas.openxmlformats.org/drawingml/2006/main" noGrp="1"/>
          </p:cNvSpPr>
          <p:nvPr/>
        </p:nvSpPr>
        <p:spPr>
          <a:xfrm xmlns:a="http://schemas.openxmlformats.org/drawingml/2006/main">
            <a:off x="647700" y="581025"/>
            <a:ext cx="108966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0C0E4B3-27D0-4F07-A0E6-7B41E6934E4D}"/>
              </a:ext>
            </a:extLst>
          </p:cNvPr>
          <p:cNvSpPr>
            <a:spLocks xmlns:a="http://schemas.openxmlformats.org/drawingml/2006/main" noGrp="1"/>
          </p:cNvSpPr>
          <p:nvPr/>
        </p:nvSpPr>
        <p:spPr>
          <a:xfrm xmlns:a="http://schemas.openxmlformats.org/drawingml/2006/main">
            <a:off x="647700" y="762000"/>
            <a:ext cx="10896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0A1D30"/>
                </a:solidFill>
              </a:defRPr>
            </a:pPr>
            <a:r>
              <a:rPr sz="3150" b="1">
                <a:solidFill>
                  <a:srgbClr val="0A1D30"/>
                </a:solidFill>
              </a:rPr>
              <a:t>A PDF becomes a supervised learning observation</a:t>
            </a:r>
          </a:p>
        </p:txBody>
      </p:sp>
      <p:sp>
        <p:nvSpPr>
          <p:cNvPr id="6" name="">
            <a:extLst xmlns:a="http://schemas.openxmlformats.org/drawingml/2006/main">
              <a:ext uri="{FF2B5EF4-FFF2-40B4-BE49-F238E27FC236}">
                <a16:creationId xmlns:a16="http://schemas.microsoft.com/office/drawing/2014/main" id="{B4E73468-3F23-44F6-B9C6-78192A6C6C93}"/>
              </a:ext>
            </a:extLst>
          </p:cNvPr>
          <p:cNvSpPr>
            <a:spLocks xmlns:a="http://schemas.openxmlformats.org/drawingml/2006/main" noGrp="1"/>
          </p:cNvSpPr>
          <p:nvPr/>
        </p:nvSpPr>
        <p:spPr>
          <a:xfrm xmlns:a="http://schemas.openxmlformats.org/drawingml/2006/main">
            <a:off x="685800" y="1504950"/>
            <a:ext cx="409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F6FE4"/>
                </a:solidFill>
              </a:defRPr>
            </a:pPr>
            <a:r>
              <a:rPr sz="1650" b="1">
                <a:solidFill>
                  <a:srgbClr val="2F6FE4"/>
                </a:solidFill>
              </a:rPr>
              <a:t>Observation unit: one PDF</a:t>
            </a:r>
          </a:p>
        </p:txBody>
      </p:sp>
      <p:sp>
        <p:nvSpPr>
          <p:cNvPr id="7" name="">
            <a:extLst xmlns:a="http://schemas.openxmlformats.org/drawingml/2006/main">
              <a:ext uri="{FF2B5EF4-FFF2-40B4-BE49-F238E27FC236}">
                <a16:creationId xmlns:a16="http://schemas.microsoft.com/office/drawing/2014/main" id="{24A0C19D-7D88-4B48-A49D-2169ACE1C463}"/>
              </a:ext>
            </a:extLst>
          </p:cNvPr>
          <p:cNvSpPr>
            <a:spLocks xmlns:a="http://schemas.openxmlformats.org/drawingml/2006/main" noGrp="1"/>
          </p:cNvSpPr>
          <p:nvPr/>
        </p:nvSpPr>
        <p:spPr>
          <a:xfrm xmlns:a="http://schemas.openxmlformats.org/drawingml/2006/main">
            <a:off x="7239000" y="15049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650" b="1">
                <a:solidFill>
                  <a:srgbClr val="D86565"/>
                </a:solidFill>
              </a:defRPr>
            </a:pPr>
            <a:r>
              <a:rPr sz="1650" b="1">
                <a:solidFill>
                  <a:srgbClr val="D86565"/>
                </a:solidFill>
              </a:rPr>
              <a:t>Positive class: malicious</a:t>
            </a:r>
          </a:p>
        </p:txBody>
      </p:sp>
      <p:sp>
        <p:nvSpPr>
          <p:cNvPr id="8" name="">
            <a:extLst xmlns:a="http://schemas.openxmlformats.org/drawingml/2006/main">
              <a:ext uri="{FF2B5EF4-FFF2-40B4-BE49-F238E27FC236}">
                <a16:creationId xmlns:a16="http://schemas.microsoft.com/office/drawing/2014/main" id="{201A21D8-F036-40D6-9EAF-93FAB870B4EC}"/>
              </a:ext>
            </a:extLst>
          </p:cNvPr>
          <p:cNvSpPr>
            <a:spLocks xmlns:a="http://schemas.openxmlformats.org/drawingml/2006/main" noGrp="1"/>
          </p:cNvSpPr>
          <p:nvPr/>
        </p:nvSpPr>
        <p:spPr>
          <a:xfrm xmlns:a="http://schemas.openxmlformats.org/drawingml/2006/main">
            <a:off x="2286000" y="3238500"/>
            <a:ext cx="666750" cy="3810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A4DA4E7-D045-425C-9C01-C98BB630841A}"/>
              </a:ext>
            </a:extLst>
          </p:cNvPr>
          <p:cNvSpPr>
            <a:spLocks xmlns:a="http://schemas.openxmlformats.org/drawingml/2006/main" noGrp="1"/>
          </p:cNvSpPr>
          <p:nvPr/>
        </p:nvSpPr>
        <p:spPr>
          <a:xfrm xmlns:a="http://schemas.openxmlformats.org/drawingml/2006/main">
            <a:off x="4552950" y="3238500"/>
            <a:ext cx="666750" cy="3810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2461D95-1342-4AD8-B397-62039663614F}"/>
              </a:ext>
            </a:extLst>
          </p:cNvPr>
          <p:cNvSpPr>
            <a:spLocks xmlns:a="http://schemas.openxmlformats.org/drawingml/2006/main" noGrp="1"/>
          </p:cNvSpPr>
          <p:nvPr/>
        </p:nvSpPr>
        <p:spPr>
          <a:xfrm xmlns:a="http://schemas.openxmlformats.org/drawingml/2006/main">
            <a:off x="6819900" y="3238500"/>
            <a:ext cx="666750" cy="3810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C34EA8F-3DB3-451C-A602-03202139BC9D}"/>
              </a:ext>
            </a:extLst>
          </p:cNvPr>
          <p:cNvSpPr>
            <a:spLocks xmlns:a="http://schemas.openxmlformats.org/drawingml/2006/main" noGrp="1"/>
          </p:cNvSpPr>
          <p:nvPr/>
        </p:nvSpPr>
        <p:spPr>
          <a:xfrm xmlns:a="http://schemas.openxmlformats.org/drawingml/2006/main">
            <a:off x="9086850" y="3238500"/>
            <a:ext cx="666750" cy="3810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AD41502-E3F0-4F7C-B26E-0A8F381E6778}"/>
              </a:ext>
            </a:extLst>
          </p:cNvPr>
          <p:cNvSpPr>
            <a:spLocks xmlns:a="http://schemas.openxmlformats.org/drawingml/2006/main" noGrp="1"/>
          </p:cNvSpPr>
          <p:nvPr/>
        </p:nvSpPr>
        <p:spPr>
          <a:xfrm xmlns:a="http://schemas.openxmlformats.org/drawingml/2006/main">
            <a:off x="685800" y="2428875"/>
            <a:ext cx="1600200" cy="1809750"/>
          </a:xfrm>
          <a:prstGeom xmlns:a="http://schemas.openxmlformats.org/drawingml/2006/main" prst="roundRect">
            <a:avLst>
              <a:gd name="adj" fmla="val 7143"/>
            </a:avLst>
          </a:prstGeom>
          <a:solidFill xmlns:a="http://schemas.openxmlformats.org/drawingml/2006/main">
            <a:srgbClr val="E8F0FB"/>
          </a:solidFill>
          <a:ln xmlns:a="http://schemas.openxmlformats.org/drawingml/2006/main" w="19050">
            <a:solidFill>
              <a:srgbClr val="2F6FE4"/>
            </a:solidFill>
            <a:prstDash val="solid"/>
          </a:ln>
        </p:spPr>
      </p:sp>
      <p:sp>
        <p:nvSpPr>
          <p:cNvPr id="13" name="">
            <a:extLst xmlns:a="http://schemas.openxmlformats.org/drawingml/2006/main">
              <a:ext uri="{FF2B5EF4-FFF2-40B4-BE49-F238E27FC236}">
                <a16:creationId xmlns:a16="http://schemas.microsoft.com/office/drawing/2014/main" id="{6D47535C-D8E4-4197-92F9-EE4702456CE6}"/>
              </a:ext>
            </a:extLst>
          </p:cNvPr>
          <p:cNvSpPr>
            <a:spLocks xmlns:a="http://schemas.openxmlformats.org/drawingml/2006/main" noGrp="1"/>
          </p:cNvSpPr>
          <p:nvPr/>
        </p:nvSpPr>
        <p:spPr>
          <a:xfrm xmlns:a="http://schemas.openxmlformats.org/drawingml/2006/main">
            <a:off x="838200" y="2590800"/>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F6FE4"/>
                </a:solidFill>
              </a:defRPr>
            </a:pPr>
            <a:r>
              <a:rPr sz="1200" b="1">
                <a:solidFill>
                  <a:srgbClr val="2F6FE4"/>
                </a:solidFill>
              </a:rPr>
              <a:t>01</a:t>
            </a:r>
          </a:p>
        </p:txBody>
      </p:sp>
      <p:sp>
        <p:nvSpPr>
          <p:cNvPr id="14" name="">
            <a:extLst xmlns:a="http://schemas.openxmlformats.org/drawingml/2006/main">
              <a:ext uri="{FF2B5EF4-FFF2-40B4-BE49-F238E27FC236}">
                <a16:creationId xmlns:a16="http://schemas.microsoft.com/office/drawing/2014/main" id="{BBB91AC6-963A-41F3-9711-B87A54A4CA33}"/>
              </a:ext>
            </a:extLst>
          </p:cNvPr>
          <p:cNvSpPr>
            <a:spLocks xmlns:a="http://schemas.openxmlformats.org/drawingml/2006/main" noGrp="1"/>
          </p:cNvSpPr>
          <p:nvPr/>
        </p:nvSpPr>
        <p:spPr>
          <a:xfrm xmlns:a="http://schemas.openxmlformats.org/drawingml/2006/main">
            <a:off x="838200" y="3009900"/>
            <a:ext cx="1295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0A1D30"/>
                </a:solidFill>
              </a:defRPr>
            </a:pPr>
            <a:r>
              <a:rPr sz="1800" b="1">
                <a:solidFill>
                  <a:srgbClr val="0A1D30"/>
                </a:solidFill>
              </a:rPr>
              <a:t>PDF bytes</a:t>
            </a:r>
          </a:p>
        </p:txBody>
      </p:sp>
      <p:sp>
        <p:nvSpPr>
          <p:cNvPr id="15" name="">
            <a:extLst xmlns:a="http://schemas.openxmlformats.org/drawingml/2006/main">
              <a:ext uri="{FF2B5EF4-FFF2-40B4-BE49-F238E27FC236}">
                <a16:creationId xmlns:a16="http://schemas.microsoft.com/office/drawing/2014/main" id="{4E28DDEA-6193-4F48-8E83-B23279F457E7}"/>
              </a:ext>
            </a:extLst>
          </p:cNvPr>
          <p:cNvSpPr>
            <a:spLocks xmlns:a="http://schemas.openxmlformats.org/drawingml/2006/main" noGrp="1"/>
          </p:cNvSpPr>
          <p:nvPr/>
        </p:nvSpPr>
        <p:spPr>
          <a:xfrm xmlns:a="http://schemas.openxmlformats.org/drawingml/2006/main">
            <a:off x="828675" y="3476625"/>
            <a:ext cx="1314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57888"/>
                </a:solidFill>
              </a:defRPr>
            </a:pPr>
            <a:r>
              <a:rPr sz="1200" b="0">
                <a:solidFill>
                  <a:srgbClr val="657888"/>
                </a:solidFill>
              </a:rPr>
              <a:t>Objects, streams, actions</a:t>
            </a:r>
          </a:p>
        </p:txBody>
      </p:sp>
      <p:sp>
        <p:nvSpPr>
          <p:cNvPr id="16" name="">
            <a:extLst xmlns:a="http://schemas.openxmlformats.org/drawingml/2006/main">
              <a:ext uri="{FF2B5EF4-FFF2-40B4-BE49-F238E27FC236}">
                <a16:creationId xmlns:a16="http://schemas.microsoft.com/office/drawing/2014/main" id="{9EDFDD82-065D-47DE-B886-3BB234645CD3}"/>
              </a:ext>
            </a:extLst>
          </p:cNvPr>
          <p:cNvSpPr>
            <a:spLocks xmlns:a="http://schemas.openxmlformats.org/drawingml/2006/main" noGrp="1"/>
          </p:cNvSpPr>
          <p:nvPr/>
        </p:nvSpPr>
        <p:spPr>
          <a:xfrm xmlns:a="http://schemas.openxmlformats.org/drawingml/2006/main">
            <a:off x="2952750" y="2428875"/>
            <a:ext cx="1600200" cy="1809750"/>
          </a:xfrm>
          <a:prstGeom xmlns:a="http://schemas.openxmlformats.org/drawingml/2006/main" prst="roundRect">
            <a:avLst>
              <a:gd name="adj" fmla="val 7143"/>
            </a:avLst>
          </a:prstGeom>
          <a:solidFill xmlns:a="http://schemas.openxmlformats.org/drawingml/2006/main">
            <a:srgbClr val="E5F3F0"/>
          </a:solidFill>
          <a:ln xmlns:a="http://schemas.openxmlformats.org/drawingml/2006/main" w="19050">
            <a:solidFill>
              <a:srgbClr val="1F9D88"/>
            </a:solidFill>
            <a:prstDash val="solid"/>
          </a:ln>
        </p:spPr>
      </p:sp>
      <p:sp>
        <p:nvSpPr>
          <p:cNvPr id="17" name="">
            <a:extLst xmlns:a="http://schemas.openxmlformats.org/drawingml/2006/main">
              <a:ext uri="{FF2B5EF4-FFF2-40B4-BE49-F238E27FC236}">
                <a16:creationId xmlns:a16="http://schemas.microsoft.com/office/drawing/2014/main" id="{C447EFC3-1AAE-40E9-B308-D872DD8D6EF7}"/>
              </a:ext>
            </a:extLst>
          </p:cNvPr>
          <p:cNvSpPr>
            <a:spLocks xmlns:a="http://schemas.openxmlformats.org/drawingml/2006/main" noGrp="1"/>
          </p:cNvSpPr>
          <p:nvPr/>
        </p:nvSpPr>
        <p:spPr>
          <a:xfrm xmlns:a="http://schemas.openxmlformats.org/drawingml/2006/main">
            <a:off x="3105150" y="2590800"/>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F9D88"/>
                </a:solidFill>
              </a:defRPr>
            </a:pPr>
            <a:r>
              <a:rPr sz="1200" b="1">
                <a:solidFill>
                  <a:srgbClr val="1F9D88"/>
                </a:solidFill>
              </a:rPr>
              <a:t>02</a:t>
            </a:r>
          </a:p>
        </p:txBody>
      </p:sp>
      <p:sp>
        <p:nvSpPr>
          <p:cNvPr id="18" name="">
            <a:extLst xmlns:a="http://schemas.openxmlformats.org/drawingml/2006/main">
              <a:ext uri="{FF2B5EF4-FFF2-40B4-BE49-F238E27FC236}">
                <a16:creationId xmlns:a16="http://schemas.microsoft.com/office/drawing/2014/main" id="{5B8EC7DA-A5AE-42D6-A44F-E86A6EFB4375}"/>
              </a:ext>
            </a:extLst>
          </p:cNvPr>
          <p:cNvSpPr>
            <a:spLocks xmlns:a="http://schemas.openxmlformats.org/drawingml/2006/main" noGrp="1"/>
          </p:cNvSpPr>
          <p:nvPr/>
        </p:nvSpPr>
        <p:spPr>
          <a:xfrm xmlns:a="http://schemas.openxmlformats.org/drawingml/2006/main">
            <a:off x="3105150" y="3009900"/>
            <a:ext cx="1295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0A1D30"/>
                </a:solidFill>
              </a:defRPr>
            </a:pPr>
            <a:r>
              <a:rPr sz="1800" b="1">
                <a:solidFill>
                  <a:srgbClr val="0A1D30"/>
                </a:solidFill>
              </a:rPr>
              <a:t>Bounded parser</a:t>
            </a:r>
          </a:p>
        </p:txBody>
      </p:sp>
      <p:sp>
        <p:nvSpPr>
          <p:cNvPr id="19" name="">
            <a:extLst xmlns:a="http://schemas.openxmlformats.org/drawingml/2006/main">
              <a:ext uri="{FF2B5EF4-FFF2-40B4-BE49-F238E27FC236}">
                <a16:creationId xmlns:a16="http://schemas.microsoft.com/office/drawing/2014/main" id="{B1CE342B-67AA-47FE-B430-024382852607}"/>
              </a:ext>
            </a:extLst>
          </p:cNvPr>
          <p:cNvSpPr>
            <a:spLocks xmlns:a="http://schemas.openxmlformats.org/drawingml/2006/main" noGrp="1"/>
          </p:cNvSpPr>
          <p:nvPr/>
        </p:nvSpPr>
        <p:spPr>
          <a:xfrm xmlns:a="http://schemas.openxmlformats.org/drawingml/2006/main">
            <a:off x="3095625" y="3476625"/>
            <a:ext cx="1314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57888"/>
                </a:solidFill>
              </a:defRPr>
            </a:pPr>
            <a:r>
              <a:rPr sz="1200" b="0">
                <a:solidFill>
                  <a:srgbClr val="657888"/>
                </a:solidFill>
              </a:rPr>
              <a:t>No rendering or execution</a:t>
            </a:r>
          </a:p>
        </p:txBody>
      </p:sp>
      <p:sp>
        <p:nvSpPr>
          <p:cNvPr id="20" name="">
            <a:extLst xmlns:a="http://schemas.openxmlformats.org/drawingml/2006/main">
              <a:ext uri="{FF2B5EF4-FFF2-40B4-BE49-F238E27FC236}">
                <a16:creationId xmlns:a16="http://schemas.microsoft.com/office/drawing/2014/main" id="{C9ACCC48-F067-4108-A542-63FFC2AE3E6E}"/>
              </a:ext>
            </a:extLst>
          </p:cNvPr>
          <p:cNvSpPr>
            <a:spLocks xmlns:a="http://schemas.openxmlformats.org/drawingml/2006/main" noGrp="1"/>
          </p:cNvSpPr>
          <p:nvPr/>
        </p:nvSpPr>
        <p:spPr>
          <a:xfrm xmlns:a="http://schemas.openxmlformats.org/drawingml/2006/main">
            <a:off x="5219700" y="2428875"/>
            <a:ext cx="1600200" cy="1809750"/>
          </a:xfrm>
          <a:prstGeom xmlns:a="http://schemas.openxmlformats.org/drawingml/2006/main" prst="roundRect">
            <a:avLst>
              <a:gd name="adj" fmla="val 7143"/>
            </a:avLst>
          </a:prstGeom>
          <a:solidFill xmlns:a="http://schemas.openxmlformats.org/drawingml/2006/main">
            <a:srgbClr val="F8EEDC"/>
          </a:solidFill>
          <a:ln xmlns:a="http://schemas.openxmlformats.org/drawingml/2006/main" w="19050">
            <a:solidFill>
              <a:srgbClr val="E5A33D"/>
            </a:solidFill>
            <a:prstDash val="solid"/>
          </a:ln>
        </p:spPr>
      </p:sp>
      <p:sp>
        <p:nvSpPr>
          <p:cNvPr id="21" name="">
            <a:extLst xmlns:a="http://schemas.openxmlformats.org/drawingml/2006/main">
              <a:ext uri="{FF2B5EF4-FFF2-40B4-BE49-F238E27FC236}">
                <a16:creationId xmlns:a16="http://schemas.microsoft.com/office/drawing/2014/main" id="{95F71DEE-BF59-469E-8209-5C00772FD4AD}"/>
              </a:ext>
            </a:extLst>
          </p:cNvPr>
          <p:cNvSpPr>
            <a:spLocks xmlns:a="http://schemas.openxmlformats.org/drawingml/2006/main" noGrp="1"/>
          </p:cNvSpPr>
          <p:nvPr/>
        </p:nvSpPr>
        <p:spPr>
          <a:xfrm xmlns:a="http://schemas.openxmlformats.org/drawingml/2006/main">
            <a:off x="5372100" y="2590800"/>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5A33D"/>
                </a:solidFill>
              </a:defRPr>
            </a:pPr>
            <a:r>
              <a:rPr sz="1200" b="1">
                <a:solidFill>
                  <a:srgbClr val="E5A33D"/>
                </a:solidFill>
              </a:rPr>
              <a:t>03</a:t>
            </a:r>
          </a:p>
        </p:txBody>
      </p:sp>
      <p:sp>
        <p:nvSpPr>
          <p:cNvPr id="22" name="">
            <a:extLst xmlns:a="http://schemas.openxmlformats.org/drawingml/2006/main">
              <a:ext uri="{FF2B5EF4-FFF2-40B4-BE49-F238E27FC236}">
                <a16:creationId xmlns:a16="http://schemas.microsoft.com/office/drawing/2014/main" id="{0863F869-04E4-4EF6-9D0F-9F5C640AB965}"/>
              </a:ext>
            </a:extLst>
          </p:cNvPr>
          <p:cNvSpPr>
            <a:spLocks xmlns:a="http://schemas.openxmlformats.org/drawingml/2006/main" noGrp="1"/>
          </p:cNvSpPr>
          <p:nvPr/>
        </p:nvSpPr>
        <p:spPr>
          <a:xfrm xmlns:a="http://schemas.openxmlformats.org/drawingml/2006/main">
            <a:off x="5372100" y="3009900"/>
            <a:ext cx="1295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0A1D30"/>
                </a:solidFill>
              </a:defRPr>
            </a:pPr>
            <a:r>
              <a:rPr sz="1800" b="1">
                <a:solidFill>
                  <a:srgbClr val="0A1D30"/>
                </a:solidFill>
              </a:rPr>
              <a:t>Feature vector</a:t>
            </a:r>
          </a:p>
        </p:txBody>
      </p:sp>
      <p:sp>
        <p:nvSpPr>
          <p:cNvPr id="23" name="">
            <a:extLst xmlns:a="http://schemas.openxmlformats.org/drawingml/2006/main">
              <a:ext uri="{FF2B5EF4-FFF2-40B4-BE49-F238E27FC236}">
                <a16:creationId xmlns:a16="http://schemas.microsoft.com/office/drawing/2014/main" id="{767CBB42-F7A7-48A7-9D2C-38C648CACAFE}"/>
              </a:ext>
            </a:extLst>
          </p:cNvPr>
          <p:cNvSpPr>
            <a:spLocks xmlns:a="http://schemas.openxmlformats.org/drawingml/2006/main" noGrp="1"/>
          </p:cNvSpPr>
          <p:nvPr/>
        </p:nvSpPr>
        <p:spPr>
          <a:xfrm xmlns:a="http://schemas.openxmlformats.org/drawingml/2006/main">
            <a:off x="5362575" y="3476625"/>
            <a:ext cx="1314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57888"/>
                </a:solidFill>
              </a:defRPr>
            </a:pPr>
            <a:r>
              <a:rPr sz="1200" b="0">
                <a:solidFill>
                  <a:srgbClr val="657888"/>
                </a:solidFill>
              </a:rPr>
              <a:t>Counts + engineered signals</a:t>
            </a:r>
          </a:p>
        </p:txBody>
      </p:sp>
      <p:sp>
        <p:nvSpPr>
          <p:cNvPr id="24" name="">
            <a:extLst xmlns:a="http://schemas.openxmlformats.org/drawingml/2006/main">
              <a:ext uri="{FF2B5EF4-FFF2-40B4-BE49-F238E27FC236}">
                <a16:creationId xmlns:a16="http://schemas.microsoft.com/office/drawing/2014/main" id="{92F00EAE-8242-4D19-A0AB-FA18E1E53D28}"/>
              </a:ext>
            </a:extLst>
          </p:cNvPr>
          <p:cNvSpPr>
            <a:spLocks xmlns:a="http://schemas.openxmlformats.org/drawingml/2006/main" noGrp="1"/>
          </p:cNvSpPr>
          <p:nvPr/>
        </p:nvSpPr>
        <p:spPr>
          <a:xfrm xmlns:a="http://schemas.openxmlformats.org/drawingml/2006/main">
            <a:off x="7486650" y="2428875"/>
            <a:ext cx="1600200" cy="1809750"/>
          </a:xfrm>
          <a:prstGeom xmlns:a="http://schemas.openxmlformats.org/drawingml/2006/main" prst="roundRect">
            <a:avLst>
              <a:gd name="adj" fmla="val 7143"/>
            </a:avLst>
          </a:prstGeom>
          <a:solidFill xmlns:a="http://schemas.openxmlformats.org/drawingml/2006/main">
            <a:srgbClr val="E8F0FB"/>
          </a:solidFill>
          <a:ln xmlns:a="http://schemas.openxmlformats.org/drawingml/2006/main" w="19050">
            <a:solidFill>
              <a:srgbClr val="2F6FE4"/>
            </a:solidFill>
            <a:prstDash val="solid"/>
          </a:ln>
        </p:spPr>
      </p:sp>
      <p:sp>
        <p:nvSpPr>
          <p:cNvPr id="25" name="">
            <a:extLst xmlns:a="http://schemas.openxmlformats.org/drawingml/2006/main">
              <a:ext uri="{FF2B5EF4-FFF2-40B4-BE49-F238E27FC236}">
                <a16:creationId xmlns:a16="http://schemas.microsoft.com/office/drawing/2014/main" id="{C272136E-41B0-4D61-BA02-424513E7BA3B}"/>
              </a:ext>
            </a:extLst>
          </p:cNvPr>
          <p:cNvSpPr>
            <a:spLocks xmlns:a="http://schemas.openxmlformats.org/drawingml/2006/main" noGrp="1"/>
          </p:cNvSpPr>
          <p:nvPr/>
        </p:nvSpPr>
        <p:spPr>
          <a:xfrm xmlns:a="http://schemas.openxmlformats.org/drawingml/2006/main">
            <a:off x="7639050" y="2590800"/>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F6FE4"/>
                </a:solidFill>
              </a:defRPr>
            </a:pPr>
            <a:r>
              <a:rPr sz="1200" b="1">
                <a:solidFill>
                  <a:srgbClr val="2F6FE4"/>
                </a:solidFill>
              </a:rPr>
              <a:t>04</a:t>
            </a:r>
          </a:p>
        </p:txBody>
      </p:sp>
      <p:sp>
        <p:nvSpPr>
          <p:cNvPr id="26" name="">
            <a:extLst xmlns:a="http://schemas.openxmlformats.org/drawingml/2006/main">
              <a:ext uri="{FF2B5EF4-FFF2-40B4-BE49-F238E27FC236}">
                <a16:creationId xmlns:a16="http://schemas.microsoft.com/office/drawing/2014/main" id="{F606ED76-E157-4F0B-8143-DAC3BC70613B}"/>
              </a:ext>
            </a:extLst>
          </p:cNvPr>
          <p:cNvSpPr>
            <a:spLocks xmlns:a="http://schemas.openxmlformats.org/drawingml/2006/main" noGrp="1"/>
          </p:cNvSpPr>
          <p:nvPr/>
        </p:nvSpPr>
        <p:spPr>
          <a:xfrm xmlns:a="http://schemas.openxmlformats.org/drawingml/2006/main">
            <a:off x="7639050" y="3009900"/>
            <a:ext cx="1295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0A1D30"/>
                </a:solidFill>
              </a:defRPr>
            </a:pPr>
            <a:r>
              <a:rPr sz="1800" b="1">
                <a:solidFill>
                  <a:srgbClr val="0A1D30"/>
                </a:solidFill>
              </a:rPr>
              <a:t>Classifier</a:t>
            </a:r>
          </a:p>
        </p:txBody>
      </p:sp>
      <p:sp>
        <p:nvSpPr>
          <p:cNvPr id="27" name="">
            <a:extLst xmlns:a="http://schemas.openxmlformats.org/drawingml/2006/main">
              <a:ext uri="{FF2B5EF4-FFF2-40B4-BE49-F238E27FC236}">
                <a16:creationId xmlns:a16="http://schemas.microsoft.com/office/drawing/2014/main" id="{9A651278-DC68-4CBB-9440-6D7DA86E58E3}"/>
              </a:ext>
            </a:extLst>
          </p:cNvPr>
          <p:cNvSpPr>
            <a:spLocks xmlns:a="http://schemas.openxmlformats.org/drawingml/2006/main" noGrp="1"/>
          </p:cNvSpPr>
          <p:nvPr/>
        </p:nvSpPr>
        <p:spPr>
          <a:xfrm xmlns:a="http://schemas.openxmlformats.org/drawingml/2006/main">
            <a:off x="7629525" y="3476625"/>
            <a:ext cx="1314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57888"/>
                </a:solidFill>
              </a:defRPr>
            </a:pPr>
            <a:r>
              <a:rPr sz="1200" b="0">
                <a:solidFill>
                  <a:srgbClr val="657888"/>
                </a:solidFill>
              </a:rPr>
              <a:t>Learns labeled associations</a:t>
            </a:r>
          </a:p>
        </p:txBody>
      </p:sp>
      <p:sp>
        <p:nvSpPr>
          <p:cNvPr id="28" name="">
            <a:extLst xmlns:a="http://schemas.openxmlformats.org/drawingml/2006/main">
              <a:ext uri="{FF2B5EF4-FFF2-40B4-BE49-F238E27FC236}">
                <a16:creationId xmlns:a16="http://schemas.microsoft.com/office/drawing/2014/main" id="{EBBAD76C-0803-471A-BB2F-C9A0083D0936}"/>
              </a:ext>
            </a:extLst>
          </p:cNvPr>
          <p:cNvSpPr>
            <a:spLocks xmlns:a="http://schemas.openxmlformats.org/drawingml/2006/main" noGrp="1"/>
          </p:cNvSpPr>
          <p:nvPr/>
        </p:nvSpPr>
        <p:spPr>
          <a:xfrm xmlns:a="http://schemas.openxmlformats.org/drawingml/2006/main">
            <a:off x="9753600" y="2428875"/>
            <a:ext cx="1600200" cy="1809750"/>
          </a:xfrm>
          <a:prstGeom xmlns:a="http://schemas.openxmlformats.org/drawingml/2006/main" prst="roundRect">
            <a:avLst>
              <a:gd name="adj" fmla="val 7143"/>
            </a:avLst>
          </a:prstGeom>
          <a:solidFill xmlns:a="http://schemas.openxmlformats.org/drawingml/2006/main">
            <a:srgbClr val="F8E7E7"/>
          </a:solidFill>
          <a:ln xmlns:a="http://schemas.openxmlformats.org/drawingml/2006/main" w="19050">
            <a:solidFill>
              <a:srgbClr val="D86565"/>
            </a:solidFill>
            <a:prstDash val="solid"/>
          </a:ln>
        </p:spPr>
      </p:sp>
      <p:sp>
        <p:nvSpPr>
          <p:cNvPr id="29" name="">
            <a:extLst xmlns:a="http://schemas.openxmlformats.org/drawingml/2006/main">
              <a:ext uri="{FF2B5EF4-FFF2-40B4-BE49-F238E27FC236}">
                <a16:creationId xmlns:a16="http://schemas.microsoft.com/office/drawing/2014/main" id="{477F56DB-E2D8-4AE8-B2D3-982735A4BAC9}"/>
              </a:ext>
            </a:extLst>
          </p:cNvPr>
          <p:cNvSpPr>
            <a:spLocks xmlns:a="http://schemas.openxmlformats.org/drawingml/2006/main" noGrp="1"/>
          </p:cNvSpPr>
          <p:nvPr/>
        </p:nvSpPr>
        <p:spPr>
          <a:xfrm xmlns:a="http://schemas.openxmlformats.org/drawingml/2006/main">
            <a:off x="9906000" y="2590800"/>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D86565"/>
                </a:solidFill>
              </a:defRPr>
            </a:pPr>
            <a:r>
              <a:rPr sz="1200" b="1">
                <a:solidFill>
                  <a:srgbClr val="D86565"/>
                </a:solidFill>
              </a:rPr>
              <a:t>05</a:t>
            </a:r>
          </a:p>
        </p:txBody>
      </p:sp>
      <p:sp>
        <p:nvSpPr>
          <p:cNvPr id="30" name="">
            <a:extLst xmlns:a="http://schemas.openxmlformats.org/drawingml/2006/main">
              <a:ext uri="{FF2B5EF4-FFF2-40B4-BE49-F238E27FC236}">
                <a16:creationId xmlns:a16="http://schemas.microsoft.com/office/drawing/2014/main" id="{1001B92C-961C-4738-8347-DE451D9011F3}"/>
              </a:ext>
            </a:extLst>
          </p:cNvPr>
          <p:cNvSpPr>
            <a:spLocks xmlns:a="http://schemas.openxmlformats.org/drawingml/2006/main" noGrp="1"/>
          </p:cNvSpPr>
          <p:nvPr/>
        </p:nvSpPr>
        <p:spPr>
          <a:xfrm xmlns:a="http://schemas.openxmlformats.org/drawingml/2006/main">
            <a:off x="9906000" y="3009900"/>
            <a:ext cx="1295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0A1D30"/>
                </a:solidFill>
              </a:defRPr>
            </a:pPr>
            <a:r>
              <a:rPr sz="1800" b="1">
                <a:solidFill>
                  <a:srgbClr val="0A1D30"/>
                </a:solidFill>
              </a:rPr>
              <a:t>Decision</a:t>
            </a:r>
          </a:p>
        </p:txBody>
      </p:sp>
      <p:sp>
        <p:nvSpPr>
          <p:cNvPr id="31" name="">
            <a:extLst xmlns:a="http://schemas.openxmlformats.org/drawingml/2006/main">
              <a:ext uri="{FF2B5EF4-FFF2-40B4-BE49-F238E27FC236}">
                <a16:creationId xmlns:a16="http://schemas.microsoft.com/office/drawing/2014/main" id="{38BE8D72-1C5D-4AAD-A441-F134C69AC7AA}"/>
              </a:ext>
            </a:extLst>
          </p:cNvPr>
          <p:cNvSpPr>
            <a:spLocks xmlns:a="http://schemas.openxmlformats.org/drawingml/2006/main" noGrp="1"/>
          </p:cNvSpPr>
          <p:nvPr/>
        </p:nvSpPr>
        <p:spPr>
          <a:xfrm xmlns:a="http://schemas.openxmlformats.org/drawingml/2006/main">
            <a:off x="9896475" y="3476625"/>
            <a:ext cx="1314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57888"/>
                </a:solidFill>
              </a:defRPr>
            </a:pPr>
            <a:r>
              <a:rPr sz="1200" b="0">
                <a:solidFill>
                  <a:srgbClr val="657888"/>
                </a:solidFill>
              </a:rPr>
              <a:t>Benign / malicious / abstain</a:t>
            </a:r>
          </a:p>
        </p:txBody>
      </p:sp>
      <p:sp>
        <p:nvSpPr>
          <p:cNvPr id="32" name="">
            <a:extLst xmlns:a="http://schemas.openxmlformats.org/drawingml/2006/main">
              <a:ext uri="{FF2B5EF4-FFF2-40B4-BE49-F238E27FC236}">
                <a16:creationId xmlns:a16="http://schemas.microsoft.com/office/drawing/2014/main" id="{1548CFC6-3315-482A-9406-7A0AF5A32375}"/>
              </a:ext>
            </a:extLst>
          </p:cNvPr>
          <p:cNvSpPr>
            <a:spLocks xmlns:a="http://schemas.openxmlformats.org/drawingml/2006/main" noGrp="1"/>
          </p:cNvSpPr>
          <p:nvPr/>
        </p:nvSpPr>
        <p:spPr>
          <a:xfrm xmlns:a="http://schemas.openxmlformats.org/drawingml/2006/main">
            <a:off x="685800" y="46672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F9D88"/>
                </a:solidFill>
              </a:defRPr>
            </a:pPr>
            <a:r>
              <a:rPr sz="1200" b="1">
                <a:solidFill>
                  <a:srgbClr val="1F9D88"/>
                </a:solidFill>
              </a:rPr>
              <a:t>TRAIN-SERVE CONTRACT</a:t>
            </a:r>
          </a:p>
        </p:txBody>
      </p:sp>
      <p:sp>
        <p:nvSpPr>
          <p:cNvPr id="33" name="">
            <a:extLst xmlns:a="http://schemas.openxmlformats.org/drawingml/2006/main">
              <a:ext uri="{FF2B5EF4-FFF2-40B4-BE49-F238E27FC236}">
                <a16:creationId xmlns:a16="http://schemas.microsoft.com/office/drawing/2014/main" id="{82B38DF5-5F0D-4D6E-B287-EF30B4FD5F7E}"/>
              </a:ext>
            </a:extLst>
          </p:cNvPr>
          <p:cNvSpPr>
            <a:spLocks xmlns:a="http://schemas.openxmlformats.org/drawingml/2006/main" noGrp="1"/>
          </p:cNvSpPr>
          <p:nvPr/>
        </p:nvSpPr>
        <p:spPr>
          <a:xfrm xmlns:a="http://schemas.openxmlformats.org/drawingml/2006/main">
            <a:off x="685800" y="5019675"/>
            <a:ext cx="809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A1D30"/>
                </a:solidFill>
              </a:defRPr>
            </a:pPr>
            <a:r>
              <a:rPr sz="1875" b="1">
                <a:solidFill>
                  <a:srgbClr val="0A1D30"/>
                </a:solidFill>
              </a:rPr>
              <a:t>The same feature meaning, ordering, preprocessing, and missingness policy must be used at training and inference.</a:t>
            </a:r>
          </a:p>
        </p:txBody>
      </p:sp>
      <p:sp>
        <p:nvSpPr>
          <p:cNvPr id="34" name="">
            <a:extLst xmlns:a="http://schemas.openxmlformats.org/drawingml/2006/main">
              <a:ext uri="{FF2B5EF4-FFF2-40B4-BE49-F238E27FC236}">
                <a16:creationId xmlns:a16="http://schemas.microsoft.com/office/drawing/2014/main" id="{C70B5B2A-7C5A-4D6E-BE8B-4AF802F7BB3E}"/>
              </a:ext>
            </a:extLst>
          </p:cNvPr>
          <p:cNvSpPr>
            <a:spLocks xmlns:a="http://schemas.openxmlformats.org/drawingml/2006/main" noGrp="1"/>
          </p:cNvSpPr>
          <p:nvPr/>
        </p:nvSpPr>
        <p:spPr>
          <a:xfrm xmlns:a="http://schemas.openxmlformats.org/drawingml/2006/main">
            <a:off x="9191625" y="4857750"/>
            <a:ext cx="23336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D86565"/>
                </a:solidFill>
              </a:defRPr>
            </a:pPr>
            <a:r>
              <a:rPr sz="1950" b="1">
                <a:solidFill>
                  <a:srgbClr val="D86565"/>
                </a:solidFill>
              </a:rPr>
              <a:t>Prediction ≠ causation</a:t>
            </a:r>
          </a:p>
        </p:txBody>
      </p:sp>
      <p:sp>
        <p:nvSpPr>
          <p:cNvPr id="35" name="">
            <a:extLst xmlns:a="http://schemas.openxmlformats.org/drawingml/2006/main">
              <a:ext uri="{FF2B5EF4-FFF2-40B4-BE49-F238E27FC236}">
                <a16:creationId xmlns:a16="http://schemas.microsoft.com/office/drawing/2014/main" id="{8305C7FB-B891-4AA1-A799-3EE885DEB10B}"/>
              </a:ext>
            </a:extLst>
          </p:cNvPr>
          <p:cNvSpPr>
            <a:spLocks xmlns:a="http://schemas.openxmlformats.org/drawingml/2006/main" noGrp="1"/>
          </p:cNvSpPr>
          <p:nvPr/>
        </p:nvSpPr>
        <p:spPr>
          <a:xfrm xmlns:a="http://schemas.openxmlformats.org/drawingml/2006/main">
            <a:off x="9286875" y="5429250"/>
            <a:ext cx="2143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657888"/>
                </a:solidFill>
              </a:defRPr>
            </a:pPr>
            <a:r>
              <a:rPr sz="1275" b="0">
                <a:solidFill>
                  <a:srgbClr val="657888"/>
                </a:solidFill>
              </a:rPr>
              <a:t>Patterns support a decision; they do not prove intent.</a:t>
            </a:r>
          </a:p>
        </p:txBody>
      </p:sp>
      <p:sp>
        <p:nvSpPr>
          <p:cNvPr id="36" name="">
            <a:extLst xmlns:a="http://schemas.openxmlformats.org/drawingml/2006/main">
              <a:ext uri="{FF2B5EF4-FFF2-40B4-BE49-F238E27FC236}">
                <a16:creationId xmlns:a16="http://schemas.microsoft.com/office/drawing/2014/main" id="{5A0BAF58-7A19-4807-A2E6-7FFE09C7783C}"/>
              </a:ext>
            </a:extLst>
          </p:cNvPr>
          <p:cNvSpPr>
            <a:spLocks xmlns:a="http://schemas.openxmlformats.org/drawingml/2006/main" noGrp="1"/>
          </p:cNvSpPr>
          <p:nvPr/>
        </p:nvSpPr>
        <p:spPr>
          <a:xfrm xmlns:a="http://schemas.openxmlformats.org/drawingml/2006/main">
            <a:off x="647700" y="6400800"/>
            <a:ext cx="108966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BD958B25-E1EB-499B-B312-4306E56C45DC}"/>
              </a:ext>
            </a:extLst>
          </p:cNvPr>
          <p:cNvSpPr>
            <a:spLocks xmlns:a="http://schemas.openxmlformats.org/drawingml/2006/main" noGrp="1"/>
          </p:cNvSpPr>
          <p:nvPr/>
        </p:nvSpPr>
        <p:spPr>
          <a:xfrm xmlns:a="http://schemas.openxmlformats.org/drawingml/2006/main">
            <a:off x="647700" y="649605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888"/>
                </a:solidFill>
              </a:defRPr>
            </a:pPr>
            <a:r>
              <a:rPr sz="975" b="0">
                <a:solidFill>
                  <a:srgbClr val="657888"/>
                </a:solidFill>
              </a:rPr>
              <a:t>Machine learning supports a security decision; it does not replace layered controls.</a:t>
            </a:r>
          </a:p>
        </p:txBody>
      </p:sp>
      <p:sp>
        <p:nvSpPr>
          <p:cNvPr id="38" name="">
            <a:extLst xmlns:a="http://schemas.openxmlformats.org/drawingml/2006/main">
              <a:ext uri="{FF2B5EF4-FFF2-40B4-BE49-F238E27FC236}">
                <a16:creationId xmlns:a16="http://schemas.microsoft.com/office/drawing/2014/main" id="{E0F67A41-39B1-47CF-8A09-417E15DF26A9}"/>
              </a:ext>
            </a:extLst>
          </p:cNvPr>
          <p:cNvSpPr>
            <a:spLocks xmlns:a="http://schemas.openxmlformats.org/drawingml/2006/main" noGrp="1"/>
          </p:cNvSpPr>
          <p:nvPr/>
        </p:nvSpPr>
        <p:spPr>
          <a:xfrm xmlns:a="http://schemas.openxmlformats.org/drawingml/2006/main">
            <a:off x="10287000" y="64674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0A1D30"/>
                </a:solidFill>
              </a:defRPr>
            </a:pPr>
            <a:r>
              <a:rPr sz="975" b="1">
                <a:solidFill>
                  <a:srgbClr val="0A1D30"/>
                </a:solidFill>
              </a:rPr>
              <a:t>3 / 12</a:t>
            </a:r>
          </a:p>
        </p:txBody>
      </p:sp>
    </p:spTree>
    <p:extLst>
      <p:ext uri="{BB962C8B-B14F-4D97-AF65-F5344CB8AC3E}">
        <p14:creationId xmlns:p14="http://schemas.microsoft.com/office/powerpoint/2010/main" val="1997847629"/>
      </p:ext>
    </p:extLst>
  </p:cSld>
</p:sld>
</file>

<file path=ppt/slides/slide4.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B30EB104-321D-4A96-B492-A85D99757CE9}"/>
              </a:ext>
            </a:extLst>
          </p:cNvPr>
          <p:cNvSpPr>
            <a:spLocks xmlns:a="http://schemas.openxmlformats.org/drawingml/2006/main" noGrp="1"/>
          </p:cNvSpPr>
          <p:nvPr/>
        </p:nvSpPr>
        <p:spPr>
          <a:xfrm xmlns:a="http://schemas.openxmlformats.org/drawingml/2006/main">
            <a:off x="647700" y="2571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0A1D30"/>
                </a:solidFill>
              </a:defRPr>
            </a:pPr>
            <a:r>
              <a:rPr sz="1050" b="1">
                <a:solidFill>
                  <a:srgbClr val="0A1D30"/>
                </a:solidFill>
              </a:rPr>
              <a:t>DATA SCIENCE METHODS FOR CYBERSECURITY</a:t>
            </a:r>
          </a:p>
        </p:txBody>
      </p:sp>
      <p:sp>
        <p:nvSpPr>
          <p:cNvPr id="2" name="">
            <a:extLst xmlns:a="http://schemas.openxmlformats.org/drawingml/2006/main">
              <a:ext uri="{FF2B5EF4-FFF2-40B4-BE49-F238E27FC236}">
                <a16:creationId xmlns:a16="http://schemas.microsoft.com/office/drawing/2014/main" id="{0183EB01-6F7C-4ABE-8311-89F49D930A53}"/>
              </a:ext>
            </a:extLst>
          </p:cNvPr>
          <p:cNvSpPr>
            <a:spLocks xmlns:a="http://schemas.openxmlformats.org/drawingml/2006/main" noGrp="1"/>
          </p:cNvSpPr>
          <p:nvPr/>
        </p:nvSpPr>
        <p:spPr>
          <a:xfrm xmlns:a="http://schemas.openxmlformats.org/drawingml/2006/main">
            <a:off x="6096000" y="2571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2F6FE4"/>
                </a:solidFill>
              </a:defRPr>
            </a:pPr>
            <a:r>
              <a:rPr sz="1050" b="1">
                <a:solidFill>
                  <a:srgbClr val="2F6FE4"/>
                </a:solidFill>
              </a:rPr>
              <a:t>L7.2  •  CYBERSECURITY ANALYSIS PIPELINE</a:t>
            </a:r>
          </a:p>
        </p:txBody>
      </p:sp>
      <p:sp>
        <p:nvSpPr>
          <p:cNvPr id="3" name="">
            <a:extLst xmlns:a="http://schemas.openxmlformats.org/drawingml/2006/main">
              <a:ext uri="{FF2B5EF4-FFF2-40B4-BE49-F238E27FC236}">
                <a16:creationId xmlns:a16="http://schemas.microsoft.com/office/drawing/2014/main" id="{EB9D7B24-91E2-4ABD-9C18-3E2A69DD687B}"/>
              </a:ext>
            </a:extLst>
          </p:cNvPr>
          <p:cNvSpPr>
            <a:spLocks xmlns:a="http://schemas.openxmlformats.org/drawingml/2006/main" noGrp="1"/>
          </p:cNvSpPr>
          <p:nvPr/>
        </p:nvSpPr>
        <p:spPr>
          <a:xfrm xmlns:a="http://schemas.openxmlformats.org/drawingml/2006/main">
            <a:off x="10953750" y="22860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657888"/>
                </a:solidFill>
              </a:defRPr>
            </a:pPr>
            <a:r>
              <a:rPr sz="1350" b="1">
                <a:solidFill>
                  <a:srgbClr val="657888"/>
                </a:solidFill>
              </a:rPr>
              <a:t>04</a:t>
            </a:r>
          </a:p>
        </p:txBody>
      </p:sp>
      <p:sp>
        <p:nvSpPr>
          <p:cNvPr id="4" name="">
            <a:extLst xmlns:a="http://schemas.openxmlformats.org/drawingml/2006/main">
              <a:ext uri="{FF2B5EF4-FFF2-40B4-BE49-F238E27FC236}">
                <a16:creationId xmlns:a16="http://schemas.microsoft.com/office/drawing/2014/main" id="{51970D34-25AB-4447-A253-FA9011FB947E}"/>
              </a:ext>
            </a:extLst>
          </p:cNvPr>
          <p:cNvSpPr>
            <a:spLocks xmlns:a="http://schemas.openxmlformats.org/drawingml/2006/main" noGrp="1"/>
          </p:cNvSpPr>
          <p:nvPr/>
        </p:nvSpPr>
        <p:spPr>
          <a:xfrm xmlns:a="http://schemas.openxmlformats.org/drawingml/2006/main">
            <a:off x="647700" y="581025"/>
            <a:ext cx="108966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56D57D1-F97B-4C42-979E-49813256E275}"/>
              </a:ext>
            </a:extLst>
          </p:cNvPr>
          <p:cNvSpPr>
            <a:spLocks xmlns:a="http://schemas.openxmlformats.org/drawingml/2006/main" noGrp="1"/>
          </p:cNvSpPr>
          <p:nvPr/>
        </p:nvSpPr>
        <p:spPr>
          <a:xfrm xmlns:a="http://schemas.openxmlformats.org/drawingml/2006/main">
            <a:off x="647700" y="762000"/>
            <a:ext cx="10896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0A1D30"/>
                </a:solidFill>
              </a:defRPr>
            </a:pPr>
            <a:r>
              <a:rPr sz="3150" b="1">
                <a:solidFill>
                  <a:srgbClr val="0A1D30"/>
                </a:solidFill>
              </a:rPr>
              <a:t>The workflow connects evidence to response</a:t>
            </a:r>
          </a:p>
        </p:txBody>
      </p:sp>
      <p:sp>
        <p:nvSpPr>
          <p:cNvPr id="6" name="">
            <a:extLst xmlns:a="http://schemas.openxmlformats.org/drawingml/2006/main">
              <a:ext uri="{FF2B5EF4-FFF2-40B4-BE49-F238E27FC236}">
                <a16:creationId xmlns:a16="http://schemas.microsoft.com/office/drawing/2014/main" id="{5A3D2E7A-5D7B-4F29-B2B3-579538EC29A0}"/>
              </a:ext>
            </a:extLst>
          </p:cNvPr>
          <p:cNvSpPr>
            <a:spLocks xmlns:a="http://schemas.openxmlformats.org/drawingml/2006/main" noGrp="1"/>
          </p:cNvSpPr>
          <p:nvPr/>
        </p:nvSpPr>
        <p:spPr>
          <a:xfrm xmlns:a="http://schemas.openxmlformats.org/drawingml/2006/main">
            <a:off x="666750" y="1466850"/>
            <a:ext cx="828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657888"/>
                </a:solidFill>
              </a:defRPr>
            </a:pPr>
            <a:r>
              <a:rPr sz="1725" b="0">
                <a:solidFill>
                  <a:srgbClr val="657888"/>
                </a:solidFill>
              </a:rPr>
              <a:t>The model sits inside a controlled evidence and response loop.</a:t>
            </a:r>
          </a:p>
        </p:txBody>
      </p:sp>
      <p:sp>
        <p:nvSpPr>
          <p:cNvPr id="7" name="">
            <a:extLst xmlns:a="http://schemas.openxmlformats.org/drawingml/2006/main">
              <a:ext uri="{FF2B5EF4-FFF2-40B4-BE49-F238E27FC236}">
                <a16:creationId xmlns:a16="http://schemas.microsoft.com/office/drawing/2014/main" id="{DD382541-E218-4A6A-B5AA-D0CC34BA695C}"/>
              </a:ext>
            </a:extLst>
          </p:cNvPr>
          <p:cNvSpPr>
            <a:spLocks xmlns:a="http://schemas.openxmlformats.org/drawingml/2006/main" noGrp="1"/>
          </p:cNvSpPr>
          <p:nvPr/>
        </p:nvSpPr>
        <p:spPr>
          <a:xfrm xmlns:a="http://schemas.openxmlformats.org/drawingml/2006/main">
            <a:off x="952500" y="3257550"/>
            <a:ext cx="10191750" cy="47625"/>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F1AEA11-B37B-4CA8-B27A-9AF72FCD3B01}"/>
              </a:ext>
            </a:extLst>
          </p:cNvPr>
          <p:cNvSpPr>
            <a:spLocks xmlns:a="http://schemas.openxmlformats.org/drawingml/2006/main" noGrp="1"/>
          </p:cNvSpPr>
          <p:nvPr/>
        </p:nvSpPr>
        <p:spPr>
          <a:xfrm xmlns:a="http://schemas.openxmlformats.org/drawingml/2006/main">
            <a:off x="723900" y="3028950"/>
            <a:ext cx="495300" cy="495300"/>
          </a:xfrm>
          <a:prstGeom xmlns:a="http://schemas.openxmlformats.org/drawingml/2006/main" prst="ellipse">
            <a:avLst/>
          </a:prstGeom>
          <a:solidFill xmlns:a="http://schemas.openxmlformats.org/drawingml/2006/main">
            <a:srgbClr val="F5F3ED"/>
          </a:solidFill>
          <a:ln xmlns:a="http://schemas.openxmlformats.org/drawingml/2006/main" w="19050">
            <a:solidFill>
              <a:srgbClr val="2F6FE4"/>
            </a:solidFill>
            <a:prstDash val="solid"/>
          </a:ln>
        </p:spPr>
      </p:sp>
      <p:sp>
        <p:nvSpPr>
          <p:cNvPr id="9" name="">
            <a:extLst xmlns:a="http://schemas.openxmlformats.org/drawingml/2006/main">
              <a:ext uri="{FF2B5EF4-FFF2-40B4-BE49-F238E27FC236}">
                <a16:creationId xmlns:a16="http://schemas.microsoft.com/office/drawing/2014/main" id="{79DB2C66-1DA4-4127-92D0-B1C3A29686B8}"/>
              </a:ext>
            </a:extLst>
          </p:cNvPr>
          <p:cNvSpPr>
            <a:spLocks xmlns:a="http://schemas.openxmlformats.org/drawingml/2006/main" noGrp="1"/>
          </p:cNvSpPr>
          <p:nvPr/>
        </p:nvSpPr>
        <p:spPr>
          <a:xfrm xmlns:a="http://schemas.openxmlformats.org/drawingml/2006/main">
            <a:off x="809625" y="314325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2F6FE4"/>
                </a:solidFill>
              </a:defRPr>
            </a:pPr>
            <a:r>
              <a:rPr sz="1350" b="1">
                <a:solidFill>
                  <a:srgbClr val="2F6FE4"/>
                </a:solidFill>
              </a:rPr>
              <a:t>1</a:t>
            </a:r>
          </a:p>
        </p:txBody>
      </p:sp>
      <p:sp>
        <p:nvSpPr>
          <p:cNvPr id="10" name="">
            <a:extLst xmlns:a="http://schemas.openxmlformats.org/drawingml/2006/main">
              <a:ext uri="{FF2B5EF4-FFF2-40B4-BE49-F238E27FC236}">
                <a16:creationId xmlns:a16="http://schemas.microsoft.com/office/drawing/2014/main" id="{BD737E02-D4DB-4FD0-82D1-2988D06D22F9}"/>
              </a:ext>
            </a:extLst>
          </p:cNvPr>
          <p:cNvSpPr>
            <a:spLocks xmlns:a="http://schemas.openxmlformats.org/drawingml/2006/main" noGrp="1"/>
          </p:cNvSpPr>
          <p:nvPr/>
        </p:nvSpPr>
        <p:spPr>
          <a:xfrm xmlns:a="http://schemas.openxmlformats.org/drawingml/2006/main">
            <a:off x="209550" y="220980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0A1D30"/>
                </a:solidFill>
              </a:defRPr>
            </a:pPr>
            <a:r>
              <a:rPr sz="1575" b="1">
                <a:solidFill>
                  <a:srgbClr val="0A1D30"/>
                </a:solidFill>
              </a:rPr>
              <a:t>Context</a:t>
            </a:r>
          </a:p>
        </p:txBody>
      </p:sp>
      <p:sp>
        <p:nvSpPr>
          <p:cNvPr id="11" name="">
            <a:extLst xmlns:a="http://schemas.openxmlformats.org/drawingml/2006/main">
              <a:ext uri="{FF2B5EF4-FFF2-40B4-BE49-F238E27FC236}">
                <a16:creationId xmlns:a16="http://schemas.microsoft.com/office/drawing/2014/main" id="{69C6560A-1A20-40F9-A59F-0B3A7D4F5C74}"/>
              </a:ext>
            </a:extLst>
          </p:cNvPr>
          <p:cNvSpPr>
            <a:spLocks xmlns:a="http://schemas.openxmlformats.org/drawingml/2006/main" noGrp="1"/>
          </p:cNvSpPr>
          <p:nvPr/>
        </p:nvSpPr>
        <p:spPr>
          <a:xfrm xmlns:a="http://schemas.openxmlformats.org/drawingml/2006/main">
            <a:off x="209550" y="260985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a:solidFill>
                  <a:srgbClr val="657888"/>
                </a:solidFill>
              </a:defRPr>
            </a:pPr>
            <a:r>
              <a:rPr sz="1125" b="0">
                <a:solidFill>
                  <a:srgbClr val="657888"/>
                </a:solidFill>
              </a:rPr>
              <a:t>asset + threat</a:t>
            </a:r>
          </a:p>
        </p:txBody>
      </p:sp>
      <p:sp>
        <p:nvSpPr>
          <p:cNvPr id="12" name="">
            <a:extLst xmlns:a="http://schemas.openxmlformats.org/drawingml/2006/main">
              <a:ext uri="{FF2B5EF4-FFF2-40B4-BE49-F238E27FC236}">
                <a16:creationId xmlns:a16="http://schemas.microsoft.com/office/drawing/2014/main" id="{F8048A92-DCF8-4357-8523-2E07DEE57674}"/>
              </a:ext>
            </a:extLst>
          </p:cNvPr>
          <p:cNvSpPr>
            <a:spLocks xmlns:a="http://schemas.openxmlformats.org/drawingml/2006/main" noGrp="1"/>
          </p:cNvSpPr>
          <p:nvPr/>
        </p:nvSpPr>
        <p:spPr>
          <a:xfrm xmlns:a="http://schemas.openxmlformats.org/drawingml/2006/main">
            <a:off x="1981200" y="3028950"/>
            <a:ext cx="495300" cy="495300"/>
          </a:xfrm>
          <a:prstGeom xmlns:a="http://schemas.openxmlformats.org/drawingml/2006/main" prst="ellipse">
            <a:avLst/>
          </a:prstGeom>
          <a:solidFill xmlns:a="http://schemas.openxmlformats.org/drawingml/2006/main">
            <a:srgbClr val="F5F3ED"/>
          </a:solidFill>
          <a:ln xmlns:a="http://schemas.openxmlformats.org/drawingml/2006/main" w="19050">
            <a:solidFill>
              <a:srgbClr val="1F9D88"/>
            </a:solidFill>
            <a:prstDash val="solid"/>
          </a:ln>
        </p:spPr>
      </p:sp>
      <p:sp>
        <p:nvSpPr>
          <p:cNvPr id="13" name="">
            <a:extLst xmlns:a="http://schemas.openxmlformats.org/drawingml/2006/main">
              <a:ext uri="{FF2B5EF4-FFF2-40B4-BE49-F238E27FC236}">
                <a16:creationId xmlns:a16="http://schemas.microsoft.com/office/drawing/2014/main" id="{4A1E787B-F2D0-43F9-951F-858754B7124C}"/>
              </a:ext>
            </a:extLst>
          </p:cNvPr>
          <p:cNvSpPr>
            <a:spLocks xmlns:a="http://schemas.openxmlformats.org/drawingml/2006/main" noGrp="1"/>
          </p:cNvSpPr>
          <p:nvPr/>
        </p:nvSpPr>
        <p:spPr>
          <a:xfrm xmlns:a="http://schemas.openxmlformats.org/drawingml/2006/main">
            <a:off x="2066925" y="314325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F9D88"/>
                </a:solidFill>
              </a:defRPr>
            </a:pPr>
            <a:r>
              <a:rPr sz="1350" b="1">
                <a:solidFill>
                  <a:srgbClr val="1F9D88"/>
                </a:solidFill>
              </a:rPr>
              <a:t>2</a:t>
            </a:r>
          </a:p>
        </p:txBody>
      </p:sp>
      <p:sp>
        <p:nvSpPr>
          <p:cNvPr id="14" name="">
            <a:extLst xmlns:a="http://schemas.openxmlformats.org/drawingml/2006/main">
              <a:ext uri="{FF2B5EF4-FFF2-40B4-BE49-F238E27FC236}">
                <a16:creationId xmlns:a16="http://schemas.microsoft.com/office/drawing/2014/main" id="{3C26B1E2-4E92-43B2-883D-A4EB38ADD92F}"/>
              </a:ext>
            </a:extLst>
          </p:cNvPr>
          <p:cNvSpPr>
            <a:spLocks xmlns:a="http://schemas.openxmlformats.org/drawingml/2006/main" noGrp="1"/>
          </p:cNvSpPr>
          <p:nvPr/>
        </p:nvSpPr>
        <p:spPr>
          <a:xfrm xmlns:a="http://schemas.openxmlformats.org/drawingml/2006/main">
            <a:off x="1466850" y="3781425"/>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0A1D30"/>
                </a:solidFill>
              </a:defRPr>
            </a:pPr>
            <a:r>
              <a:rPr sz="1575" b="1">
                <a:solidFill>
                  <a:srgbClr val="0A1D30"/>
                </a:solidFill>
              </a:rPr>
              <a:t>Provenance</a:t>
            </a:r>
          </a:p>
        </p:txBody>
      </p:sp>
      <p:sp>
        <p:nvSpPr>
          <p:cNvPr id="15" name="">
            <a:extLst xmlns:a="http://schemas.openxmlformats.org/drawingml/2006/main">
              <a:ext uri="{FF2B5EF4-FFF2-40B4-BE49-F238E27FC236}">
                <a16:creationId xmlns:a16="http://schemas.microsoft.com/office/drawing/2014/main" id="{8E94E010-3BC9-4E48-AF24-EAC3CEB0336C}"/>
              </a:ext>
            </a:extLst>
          </p:cNvPr>
          <p:cNvSpPr>
            <a:spLocks xmlns:a="http://schemas.openxmlformats.org/drawingml/2006/main" noGrp="1"/>
          </p:cNvSpPr>
          <p:nvPr/>
        </p:nvSpPr>
        <p:spPr>
          <a:xfrm xmlns:a="http://schemas.openxmlformats.org/drawingml/2006/main">
            <a:off x="1466850" y="417195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a:solidFill>
                  <a:srgbClr val="657888"/>
                </a:solidFill>
              </a:defRPr>
            </a:pPr>
            <a:r>
              <a:rPr sz="1125" b="0">
                <a:solidFill>
                  <a:srgbClr val="657888"/>
                </a:solidFill>
              </a:rPr>
              <a:t>labels + schema</a:t>
            </a:r>
          </a:p>
        </p:txBody>
      </p:sp>
      <p:sp>
        <p:nvSpPr>
          <p:cNvPr id="16" name="">
            <a:extLst xmlns:a="http://schemas.openxmlformats.org/drawingml/2006/main">
              <a:ext uri="{FF2B5EF4-FFF2-40B4-BE49-F238E27FC236}">
                <a16:creationId xmlns:a16="http://schemas.microsoft.com/office/drawing/2014/main" id="{724B97B1-908D-47C2-95AB-0E57893BF7A8}"/>
              </a:ext>
            </a:extLst>
          </p:cNvPr>
          <p:cNvSpPr>
            <a:spLocks xmlns:a="http://schemas.openxmlformats.org/drawingml/2006/main" noGrp="1"/>
          </p:cNvSpPr>
          <p:nvPr/>
        </p:nvSpPr>
        <p:spPr>
          <a:xfrm xmlns:a="http://schemas.openxmlformats.org/drawingml/2006/main">
            <a:off x="3238500" y="3028950"/>
            <a:ext cx="495300" cy="495300"/>
          </a:xfrm>
          <a:prstGeom xmlns:a="http://schemas.openxmlformats.org/drawingml/2006/main" prst="ellipse">
            <a:avLst/>
          </a:prstGeom>
          <a:solidFill xmlns:a="http://schemas.openxmlformats.org/drawingml/2006/main">
            <a:srgbClr val="F5F3ED"/>
          </a:solidFill>
          <a:ln xmlns:a="http://schemas.openxmlformats.org/drawingml/2006/main" w="19050">
            <a:solidFill>
              <a:srgbClr val="E5A33D"/>
            </a:solidFill>
            <a:prstDash val="solid"/>
          </a:ln>
        </p:spPr>
      </p:sp>
      <p:sp>
        <p:nvSpPr>
          <p:cNvPr id="17" name="">
            <a:extLst xmlns:a="http://schemas.openxmlformats.org/drawingml/2006/main">
              <a:ext uri="{FF2B5EF4-FFF2-40B4-BE49-F238E27FC236}">
                <a16:creationId xmlns:a16="http://schemas.microsoft.com/office/drawing/2014/main" id="{EAA9E4CB-C99B-4EFB-8EF2-67008852F825}"/>
              </a:ext>
            </a:extLst>
          </p:cNvPr>
          <p:cNvSpPr>
            <a:spLocks xmlns:a="http://schemas.openxmlformats.org/drawingml/2006/main" noGrp="1"/>
          </p:cNvSpPr>
          <p:nvPr/>
        </p:nvSpPr>
        <p:spPr>
          <a:xfrm xmlns:a="http://schemas.openxmlformats.org/drawingml/2006/main">
            <a:off x="3324225" y="314325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E5A33D"/>
                </a:solidFill>
              </a:defRPr>
            </a:pPr>
            <a:r>
              <a:rPr sz="1350" b="1">
                <a:solidFill>
                  <a:srgbClr val="E5A33D"/>
                </a:solidFill>
              </a:rPr>
              <a:t>3</a:t>
            </a:r>
          </a:p>
        </p:txBody>
      </p:sp>
      <p:sp>
        <p:nvSpPr>
          <p:cNvPr id="18" name="">
            <a:extLst xmlns:a="http://schemas.openxmlformats.org/drawingml/2006/main">
              <a:ext uri="{FF2B5EF4-FFF2-40B4-BE49-F238E27FC236}">
                <a16:creationId xmlns:a16="http://schemas.microsoft.com/office/drawing/2014/main" id="{A8C8D8B4-58B0-4B24-8B47-B2BF8A1FAF7E}"/>
              </a:ext>
            </a:extLst>
          </p:cNvPr>
          <p:cNvSpPr>
            <a:spLocks xmlns:a="http://schemas.openxmlformats.org/drawingml/2006/main" noGrp="1"/>
          </p:cNvSpPr>
          <p:nvPr/>
        </p:nvSpPr>
        <p:spPr>
          <a:xfrm xmlns:a="http://schemas.openxmlformats.org/drawingml/2006/main">
            <a:off x="2724150" y="220980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0A1D30"/>
                </a:solidFill>
              </a:defRPr>
            </a:pPr>
            <a:r>
              <a:rPr sz="1575" b="1">
                <a:solidFill>
                  <a:srgbClr val="0A1D30"/>
                </a:solidFill>
              </a:rPr>
              <a:t>EDA</a:t>
            </a:r>
          </a:p>
        </p:txBody>
      </p:sp>
      <p:sp>
        <p:nvSpPr>
          <p:cNvPr id="19" name="">
            <a:extLst xmlns:a="http://schemas.openxmlformats.org/drawingml/2006/main">
              <a:ext uri="{FF2B5EF4-FFF2-40B4-BE49-F238E27FC236}">
                <a16:creationId xmlns:a16="http://schemas.microsoft.com/office/drawing/2014/main" id="{440117D4-DB2F-4B89-A1D9-6D8ECFBE39B5}"/>
              </a:ext>
            </a:extLst>
          </p:cNvPr>
          <p:cNvSpPr>
            <a:spLocks xmlns:a="http://schemas.openxmlformats.org/drawingml/2006/main" noGrp="1"/>
          </p:cNvSpPr>
          <p:nvPr/>
        </p:nvSpPr>
        <p:spPr>
          <a:xfrm xmlns:a="http://schemas.openxmlformats.org/drawingml/2006/main">
            <a:off x="2724150" y="260985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a:solidFill>
                  <a:srgbClr val="657888"/>
                </a:solidFill>
              </a:defRPr>
            </a:pPr>
            <a:r>
              <a:rPr sz="1125" b="0">
                <a:solidFill>
                  <a:srgbClr val="657888"/>
                </a:solidFill>
              </a:rPr>
              <a:t>quality + leakage</a:t>
            </a:r>
          </a:p>
        </p:txBody>
      </p:sp>
      <p:sp>
        <p:nvSpPr>
          <p:cNvPr id="20" name="">
            <a:extLst xmlns:a="http://schemas.openxmlformats.org/drawingml/2006/main">
              <a:ext uri="{FF2B5EF4-FFF2-40B4-BE49-F238E27FC236}">
                <a16:creationId xmlns:a16="http://schemas.microsoft.com/office/drawing/2014/main" id="{C006B4AC-2427-4F2F-B798-B46804B99CB5}"/>
              </a:ext>
            </a:extLst>
          </p:cNvPr>
          <p:cNvSpPr>
            <a:spLocks xmlns:a="http://schemas.openxmlformats.org/drawingml/2006/main" noGrp="1"/>
          </p:cNvSpPr>
          <p:nvPr/>
        </p:nvSpPr>
        <p:spPr>
          <a:xfrm xmlns:a="http://schemas.openxmlformats.org/drawingml/2006/main">
            <a:off x="4495800" y="3028950"/>
            <a:ext cx="495300" cy="495300"/>
          </a:xfrm>
          <a:prstGeom xmlns:a="http://schemas.openxmlformats.org/drawingml/2006/main" prst="ellipse">
            <a:avLst/>
          </a:prstGeom>
          <a:solidFill xmlns:a="http://schemas.openxmlformats.org/drawingml/2006/main">
            <a:srgbClr val="F5F3ED"/>
          </a:solidFill>
          <a:ln xmlns:a="http://schemas.openxmlformats.org/drawingml/2006/main" w="19050">
            <a:solidFill>
              <a:srgbClr val="2F6FE4"/>
            </a:solidFill>
            <a:prstDash val="solid"/>
          </a:ln>
        </p:spPr>
      </p:sp>
      <p:sp>
        <p:nvSpPr>
          <p:cNvPr id="21" name="">
            <a:extLst xmlns:a="http://schemas.openxmlformats.org/drawingml/2006/main">
              <a:ext uri="{FF2B5EF4-FFF2-40B4-BE49-F238E27FC236}">
                <a16:creationId xmlns:a16="http://schemas.microsoft.com/office/drawing/2014/main" id="{D1FB0631-C27B-4BAF-AB59-ECEC5FCED849}"/>
              </a:ext>
            </a:extLst>
          </p:cNvPr>
          <p:cNvSpPr>
            <a:spLocks xmlns:a="http://schemas.openxmlformats.org/drawingml/2006/main" noGrp="1"/>
          </p:cNvSpPr>
          <p:nvPr/>
        </p:nvSpPr>
        <p:spPr>
          <a:xfrm xmlns:a="http://schemas.openxmlformats.org/drawingml/2006/main">
            <a:off x="4581525" y="314325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2F6FE4"/>
                </a:solidFill>
              </a:defRPr>
            </a:pPr>
            <a:r>
              <a:rPr sz="1350" b="1">
                <a:solidFill>
                  <a:srgbClr val="2F6FE4"/>
                </a:solidFill>
              </a:rPr>
              <a:t>4</a:t>
            </a:r>
          </a:p>
        </p:txBody>
      </p:sp>
      <p:sp>
        <p:nvSpPr>
          <p:cNvPr id="22" name="">
            <a:extLst xmlns:a="http://schemas.openxmlformats.org/drawingml/2006/main">
              <a:ext uri="{FF2B5EF4-FFF2-40B4-BE49-F238E27FC236}">
                <a16:creationId xmlns:a16="http://schemas.microsoft.com/office/drawing/2014/main" id="{D0298ED0-1EE8-4E32-8924-760530AF95CE}"/>
              </a:ext>
            </a:extLst>
          </p:cNvPr>
          <p:cNvSpPr>
            <a:spLocks xmlns:a="http://schemas.openxmlformats.org/drawingml/2006/main" noGrp="1"/>
          </p:cNvSpPr>
          <p:nvPr/>
        </p:nvSpPr>
        <p:spPr>
          <a:xfrm xmlns:a="http://schemas.openxmlformats.org/drawingml/2006/main">
            <a:off x="3981450" y="3781425"/>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0A1D30"/>
                </a:solidFill>
              </a:defRPr>
            </a:pPr>
            <a:r>
              <a:rPr sz="1575" b="1">
                <a:solidFill>
                  <a:srgbClr val="0A1D30"/>
                </a:solidFill>
              </a:rPr>
              <a:t>Features</a:t>
            </a:r>
          </a:p>
        </p:txBody>
      </p:sp>
      <p:sp>
        <p:nvSpPr>
          <p:cNvPr id="23" name="">
            <a:extLst xmlns:a="http://schemas.openxmlformats.org/drawingml/2006/main">
              <a:ext uri="{FF2B5EF4-FFF2-40B4-BE49-F238E27FC236}">
                <a16:creationId xmlns:a16="http://schemas.microsoft.com/office/drawing/2014/main" id="{52CC1DA3-498A-4D5C-A52C-DCD9EF3C17ED}"/>
              </a:ext>
            </a:extLst>
          </p:cNvPr>
          <p:cNvSpPr>
            <a:spLocks xmlns:a="http://schemas.openxmlformats.org/drawingml/2006/main" noGrp="1"/>
          </p:cNvSpPr>
          <p:nvPr/>
        </p:nvSpPr>
        <p:spPr>
          <a:xfrm xmlns:a="http://schemas.openxmlformats.org/drawingml/2006/main">
            <a:off x="3981450" y="417195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a:solidFill>
                  <a:srgbClr val="657888"/>
                </a:solidFill>
              </a:defRPr>
            </a:pPr>
            <a:r>
              <a:rPr sz="1125" b="0">
                <a:solidFill>
                  <a:srgbClr val="657888"/>
                </a:solidFill>
              </a:rPr>
              <a:t>security meaning</a:t>
            </a:r>
          </a:p>
        </p:txBody>
      </p:sp>
      <p:sp>
        <p:nvSpPr>
          <p:cNvPr id="24" name="">
            <a:extLst xmlns:a="http://schemas.openxmlformats.org/drawingml/2006/main">
              <a:ext uri="{FF2B5EF4-FFF2-40B4-BE49-F238E27FC236}">
                <a16:creationId xmlns:a16="http://schemas.microsoft.com/office/drawing/2014/main" id="{E048DE55-3631-4051-A4EC-AEC6418C0337}"/>
              </a:ext>
            </a:extLst>
          </p:cNvPr>
          <p:cNvSpPr>
            <a:spLocks xmlns:a="http://schemas.openxmlformats.org/drawingml/2006/main" noGrp="1"/>
          </p:cNvSpPr>
          <p:nvPr/>
        </p:nvSpPr>
        <p:spPr>
          <a:xfrm xmlns:a="http://schemas.openxmlformats.org/drawingml/2006/main">
            <a:off x="5753100" y="3028950"/>
            <a:ext cx="495300" cy="495300"/>
          </a:xfrm>
          <a:prstGeom xmlns:a="http://schemas.openxmlformats.org/drawingml/2006/main" prst="ellipse">
            <a:avLst/>
          </a:prstGeom>
          <a:solidFill xmlns:a="http://schemas.openxmlformats.org/drawingml/2006/main">
            <a:srgbClr val="F5F3ED"/>
          </a:solidFill>
          <a:ln xmlns:a="http://schemas.openxmlformats.org/drawingml/2006/main" w="19050">
            <a:solidFill>
              <a:srgbClr val="D86565"/>
            </a:solidFill>
            <a:prstDash val="solid"/>
          </a:ln>
        </p:spPr>
      </p:sp>
      <p:sp>
        <p:nvSpPr>
          <p:cNvPr id="25" name="">
            <a:extLst xmlns:a="http://schemas.openxmlformats.org/drawingml/2006/main">
              <a:ext uri="{FF2B5EF4-FFF2-40B4-BE49-F238E27FC236}">
                <a16:creationId xmlns:a16="http://schemas.microsoft.com/office/drawing/2014/main" id="{BC6E9DDF-864F-4209-A773-2674B281C654}"/>
              </a:ext>
            </a:extLst>
          </p:cNvPr>
          <p:cNvSpPr>
            <a:spLocks xmlns:a="http://schemas.openxmlformats.org/drawingml/2006/main" noGrp="1"/>
          </p:cNvSpPr>
          <p:nvPr/>
        </p:nvSpPr>
        <p:spPr>
          <a:xfrm xmlns:a="http://schemas.openxmlformats.org/drawingml/2006/main">
            <a:off x="5838825" y="314325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D86565"/>
                </a:solidFill>
              </a:defRPr>
            </a:pPr>
            <a:r>
              <a:rPr sz="1350" b="1">
                <a:solidFill>
                  <a:srgbClr val="D86565"/>
                </a:solidFill>
              </a:rPr>
              <a:t>5</a:t>
            </a:r>
          </a:p>
        </p:txBody>
      </p:sp>
      <p:sp>
        <p:nvSpPr>
          <p:cNvPr id="26" name="">
            <a:extLst xmlns:a="http://schemas.openxmlformats.org/drawingml/2006/main">
              <a:ext uri="{FF2B5EF4-FFF2-40B4-BE49-F238E27FC236}">
                <a16:creationId xmlns:a16="http://schemas.microsoft.com/office/drawing/2014/main" id="{69AF5EF8-EDD7-4954-B869-CB9CF8907C6C}"/>
              </a:ext>
            </a:extLst>
          </p:cNvPr>
          <p:cNvSpPr>
            <a:spLocks xmlns:a="http://schemas.openxmlformats.org/drawingml/2006/main" noGrp="1"/>
          </p:cNvSpPr>
          <p:nvPr/>
        </p:nvSpPr>
        <p:spPr>
          <a:xfrm xmlns:a="http://schemas.openxmlformats.org/drawingml/2006/main">
            <a:off x="5238750" y="220980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0A1D30"/>
                </a:solidFill>
              </a:defRPr>
            </a:pPr>
            <a:r>
              <a:rPr sz="1575" b="1">
                <a:solidFill>
                  <a:srgbClr val="0A1D30"/>
                </a:solidFill>
              </a:rPr>
              <a:t>Partition</a:t>
            </a:r>
          </a:p>
        </p:txBody>
      </p:sp>
      <p:sp>
        <p:nvSpPr>
          <p:cNvPr id="27" name="">
            <a:extLst xmlns:a="http://schemas.openxmlformats.org/drawingml/2006/main">
              <a:ext uri="{FF2B5EF4-FFF2-40B4-BE49-F238E27FC236}">
                <a16:creationId xmlns:a16="http://schemas.microsoft.com/office/drawing/2014/main" id="{1EFDF157-7CB3-48BB-B80A-B4363E10CFFE}"/>
              </a:ext>
            </a:extLst>
          </p:cNvPr>
          <p:cNvSpPr>
            <a:spLocks xmlns:a="http://schemas.openxmlformats.org/drawingml/2006/main" noGrp="1"/>
          </p:cNvSpPr>
          <p:nvPr/>
        </p:nvSpPr>
        <p:spPr>
          <a:xfrm xmlns:a="http://schemas.openxmlformats.org/drawingml/2006/main">
            <a:off x="5238750" y="260985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a:solidFill>
                  <a:srgbClr val="657888"/>
                </a:solidFill>
              </a:defRPr>
            </a:pPr>
            <a:r>
              <a:rPr sz="1125" b="0">
                <a:solidFill>
                  <a:srgbClr val="657888"/>
                </a:solidFill>
              </a:rPr>
              <a:t>before fitting</a:t>
            </a:r>
          </a:p>
        </p:txBody>
      </p:sp>
      <p:sp>
        <p:nvSpPr>
          <p:cNvPr id="28" name="">
            <a:extLst xmlns:a="http://schemas.openxmlformats.org/drawingml/2006/main">
              <a:ext uri="{FF2B5EF4-FFF2-40B4-BE49-F238E27FC236}">
                <a16:creationId xmlns:a16="http://schemas.microsoft.com/office/drawing/2014/main" id="{C85B058B-022C-4ACC-B551-E02C38956ADE}"/>
              </a:ext>
            </a:extLst>
          </p:cNvPr>
          <p:cNvSpPr>
            <a:spLocks xmlns:a="http://schemas.openxmlformats.org/drawingml/2006/main" noGrp="1"/>
          </p:cNvSpPr>
          <p:nvPr/>
        </p:nvSpPr>
        <p:spPr>
          <a:xfrm xmlns:a="http://schemas.openxmlformats.org/drawingml/2006/main">
            <a:off x="7010400" y="3028950"/>
            <a:ext cx="495300" cy="495300"/>
          </a:xfrm>
          <a:prstGeom xmlns:a="http://schemas.openxmlformats.org/drawingml/2006/main" prst="ellipse">
            <a:avLst/>
          </a:prstGeom>
          <a:solidFill xmlns:a="http://schemas.openxmlformats.org/drawingml/2006/main">
            <a:srgbClr val="F5F3ED"/>
          </a:solidFill>
          <a:ln xmlns:a="http://schemas.openxmlformats.org/drawingml/2006/main" w="19050">
            <a:solidFill>
              <a:srgbClr val="1F9D88"/>
            </a:solidFill>
            <a:prstDash val="solid"/>
          </a:ln>
        </p:spPr>
      </p:sp>
      <p:sp>
        <p:nvSpPr>
          <p:cNvPr id="29" name="">
            <a:extLst xmlns:a="http://schemas.openxmlformats.org/drawingml/2006/main">
              <a:ext uri="{FF2B5EF4-FFF2-40B4-BE49-F238E27FC236}">
                <a16:creationId xmlns:a16="http://schemas.microsoft.com/office/drawing/2014/main" id="{A705EA0A-7407-4B19-9960-8A15A4EECAFC}"/>
              </a:ext>
            </a:extLst>
          </p:cNvPr>
          <p:cNvSpPr>
            <a:spLocks xmlns:a="http://schemas.openxmlformats.org/drawingml/2006/main" noGrp="1"/>
          </p:cNvSpPr>
          <p:nvPr/>
        </p:nvSpPr>
        <p:spPr>
          <a:xfrm xmlns:a="http://schemas.openxmlformats.org/drawingml/2006/main">
            <a:off x="7096125" y="314325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F9D88"/>
                </a:solidFill>
              </a:defRPr>
            </a:pPr>
            <a:r>
              <a:rPr sz="1350" b="1">
                <a:solidFill>
                  <a:srgbClr val="1F9D88"/>
                </a:solidFill>
              </a:rPr>
              <a:t>6</a:t>
            </a:r>
          </a:p>
        </p:txBody>
      </p:sp>
      <p:sp>
        <p:nvSpPr>
          <p:cNvPr id="30" name="">
            <a:extLst xmlns:a="http://schemas.openxmlformats.org/drawingml/2006/main">
              <a:ext uri="{FF2B5EF4-FFF2-40B4-BE49-F238E27FC236}">
                <a16:creationId xmlns:a16="http://schemas.microsoft.com/office/drawing/2014/main" id="{63FECBF3-106D-40EC-BA58-808813D1AD42}"/>
              </a:ext>
            </a:extLst>
          </p:cNvPr>
          <p:cNvSpPr>
            <a:spLocks xmlns:a="http://schemas.openxmlformats.org/drawingml/2006/main" noGrp="1"/>
          </p:cNvSpPr>
          <p:nvPr/>
        </p:nvSpPr>
        <p:spPr>
          <a:xfrm xmlns:a="http://schemas.openxmlformats.org/drawingml/2006/main">
            <a:off x="6496050" y="3781425"/>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0A1D30"/>
                </a:solidFill>
              </a:defRPr>
            </a:pPr>
            <a:r>
              <a:rPr sz="1575" b="1">
                <a:solidFill>
                  <a:srgbClr val="0A1D30"/>
                </a:solidFill>
              </a:rPr>
              <a:t>Train</a:t>
            </a:r>
          </a:p>
        </p:txBody>
      </p:sp>
      <p:sp>
        <p:nvSpPr>
          <p:cNvPr id="31" name="">
            <a:extLst xmlns:a="http://schemas.openxmlformats.org/drawingml/2006/main">
              <a:ext uri="{FF2B5EF4-FFF2-40B4-BE49-F238E27FC236}">
                <a16:creationId xmlns:a16="http://schemas.microsoft.com/office/drawing/2014/main" id="{3EF2063F-6BE8-4CBE-8C1B-97BD562897D0}"/>
              </a:ext>
            </a:extLst>
          </p:cNvPr>
          <p:cNvSpPr>
            <a:spLocks xmlns:a="http://schemas.openxmlformats.org/drawingml/2006/main" noGrp="1"/>
          </p:cNvSpPr>
          <p:nvPr/>
        </p:nvSpPr>
        <p:spPr>
          <a:xfrm xmlns:a="http://schemas.openxmlformats.org/drawingml/2006/main">
            <a:off x="6496050" y="417195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a:solidFill>
                  <a:srgbClr val="657888"/>
                </a:solidFill>
              </a:defRPr>
            </a:pPr>
            <a:r>
              <a:rPr sz="1125" b="0">
                <a:solidFill>
                  <a:srgbClr val="657888"/>
                </a:solidFill>
              </a:rPr>
              <a:t>baselines + trees</a:t>
            </a:r>
          </a:p>
        </p:txBody>
      </p:sp>
      <p:sp>
        <p:nvSpPr>
          <p:cNvPr id="32" name="">
            <a:extLst xmlns:a="http://schemas.openxmlformats.org/drawingml/2006/main">
              <a:ext uri="{FF2B5EF4-FFF2-40B4-BE49-F238E27FC236}">
                <a16:creationId xmlns:a16="http://schemas.microsoft.com/office/drawing/2014/main" id="{346E9E23-FA0C-4A94-B024-3DB1CBE50DB5}"/>
              </a:ext>
            </a:extLst>
          </p:cNvPr>
          <p:cNvSpPr>
            <a:spLocks xmlns:a="http://schemas.openxmlformats.org/drawingml/2006/main" noGrp="1"/>
          </p:cNvSpPr>
          <p:nvPr/>
        </p:nvSpPr>
        <p:spPr>
          <a:xfrm xmlns:a="http://schemas.openxmlformats.org/drawingml/2006/main">
            <a:off x="8267700" y="3028950"/>
            <a:ext cx="495300" cy="495300"/>
          </a:xfrm>
          <a:prstGeom xmlns:a="http://schemas.openxmlformats.org/drawingml/2006/main" prst="ellipse">
            <a:avLst/>
          </a:prstGeom>
          <a:solidFill xmlns:a="http://schemas.openxmlformats.org/drawingml/2006/main">
            <a:srgbClr val="F5F3ED"/>
          </a:solidFill>
          <a:ln xmlns:a="http://schemas.openxmlformats.org/drawingml/2006/main" w="19050">
            <a:solidFill>
              <a:srgbClr val="E5A33D"/>
            </a:solidFill>
            <a:prstDash val="solid"/>
          </a:ln>
        </p:spPr>
      </p:sp>
      <p:sp>
        <p:nvSpPr>
          <p:cNvPr id="33" name="">
            <a:extLst xmlns:a="http://schemas.openxmlformats.org/drawingml/2006/main">
              <a:ext uri="{FF2B5EF4-FFF2-40B4-BE49-F238E27FC236}">
                <a16:creationId xmlns:a16="http://schemas.microsoft.com/office/drawing/2014/main" id="{B1545F71-18BB-46A4-A672-7C57577BEF54}"/>
              </a:ext>
            </a:extLst>
          </p:cNvPr>
          <p:cNvSpPr>
            <a:spLocks xmlns:a="http://schemas.openxmlformats.org/drawingml/2006/main" noGrp="1"/>
          </p:cNvSpPr>
          <p:nvPr/>
        </p:nvSpPr>
        <p:spPr>
          <a:xfrm xmlns:a="http://schemas.openxmlformats.org/drawingml/2006/main">
            <a:off x="8353425" y="314325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E5A33D"/>
                </a:solidFill>
              </a:defRPr>
            </a:pPr>
            <a:r>
              <a:rPr sz="1350" b="1">
                <a:solidFill>
                  <a:srgbClr val="E5A33D"/>
                </a:solidFill>
              </a:rPr>
              <a:t>7</a:t>
            </a:r>
          </a:p>
        </p:txBody>
      </p:sp>
      <p:sp>
        <p:nvSpPr>
          <p:cNvPr id="34" name="">
            <a:extLst xmlns:a="http://schemas.openxmlformats.org/drawingml/2006/main">
              <a:ext uri="{FF2B5EF4-FFF2-40B4-BE49-F238E27FC236}">
                <a16:creationId xmlns:a16="http://schemas.microsoft.com/office/drawing/2014/main" id="{8FB56339-BD44-45A7-A827-60C72AC343DD}"/>
              </a:ext>
            </a:extLst>
          </p:cNvPr>
          <p:cNvSpPr>
            <a:spLocks xmlns:a="http://schemas.openxmlformats.org/drawingml/2006/main" noGrp="1"/>
          </p:cNvSpPr>
          <p:nvPr/>
        </p:nvSpPr>
        <p:spPr>
          <a:xfrm xmlns:a="http://schemas.openxmlformats.org/drawingml/2006/main">
            <a:off x="7753350" y="220980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0A1D30"/>
                </a:solidFill>
              </a:defRPr>
            </a:pPr>
            <a:r>
              <a:rPr sz="1575" b="1">
                <a:solidFill>
                  <a:srgbClr val="0A1D30"/>
                </a:solidFill>
              </a:rPr>
              <a:t>Calibrate</a:t>
            </a:r>
          </a:p>
        </p:txBody>
      </p:sp>
      <p:sp>
        <p:nvSpPr>
          <p:cNvPr id="35" name="">
            <a:extLst xmlns:a="http://schemas.openxmlformats.org/drawingml/2006/main">
              <a:ext uri="{FF2B5EF4-FFF2-40B4-BE49-F238E27FC236}">
                <a16:creationId xmlns:a16="http://schemas.microsoft.com/office/drawing/2014/main" id="{05D6E266-BED6-462E-8AAE-064F75A059BD}"/>
              </a:ext>
            </a:extLst>
          </p:cNvPr>
          <p:cNvSpPr>
            <a:spLocks xmlns:a="http://schemas.openxmlformats.org/drawingml/2006/main" noGrp="1"/>
          </p:cNvSpPr>
          <p:nvPr/>
        </p:nvSpPr>
        <p:spPr>
          <a:xfrm xmlns:a="http://schemas.openxmlformats.org/drawingml/2006/main">
            <a:off x="7753350" y="260985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a:solidFill>
                  <a:srgbClr val="657888"/>
                </a:solidFill>
              </a:defRPr>
            </a:pPr>
            <a:r>
              <a:rPr sz="1125" b="0">
                <a:solidFill>
                  <a:srgbClr val="657888"/>
                </a:solidFill>
              </a:rPr>
              <a:t>probability quality</a:t>
            </a:r>
          </a:p>
        </p:txBody>
      </p:sp>
      <p:sp>
        <p:nvSpPr>
          <p:cNvPr id="36" name="">
            <a:extLst xmlns:a="http://schemas.openxmlformats.org/drawingml/2006/main">
              <a:ext uri="{FF2B5EF4-FFF2-40B4-BE49-F238E27FC236}">
                <a16:creationId xmlns:a16="http://schemas.microsoft.com/office/drawing/2014/main" id="{DA099797-4CC9-4C9B-A1A6-DF8D3F8A4125}"/>
              </a:ext>
            </a:extLst>
          </p:cNvPr>
          <p:cNvSpPr>
            <a:spLocks xmlns:a="http://schemas.openxmlformats.org/drawingml/2006/main" noGrp="1"/>
          </p:cNvSpPr>
          <p:nvPr/>
        </p:nvSpPr>
        <p:spPr>
          <a:xfrm xmlns:a="http://schemas.openxmlformats.org/drawingml/2006/main">
            <a:off x="9525000" y="3028950"/>
            <a:ext cx="495300" cy="495300"/>
          </a:xfrm>
          <a:prstGeom xmlns:a="http://schemas.openxmlformats.org/drawingml/2006/main" prst="ellipse">
            <a:avLst/>
          </a:prstGeom>
          <a:solidFill xmlns:a="http://schemas.openxmlformats.org/drawingml/2006/main">
            <a:srgbClr val="F5F3ED"/>
          </a:solidFill>
          <a:ln xmlns:a="http://schemas.openxmlformats.org/drawingml/2006/main" w="19050">
            <a:solidFill>
              <a:srgbClr val="D86565"/>
            </a:solidFill>
            <a:prstDash val="solid"/>
          </a:ln>
        </p:spPr>
      </p:sp>
      <p:sp>
        <p:nvSpPr>
          <p:cNvPr id="37" name="">
            <a:extLst xmlns:a="http://schemas.openxmlformats.org/drawingml/2006/main">
              <a:ext uri="{FF2B5EF4-FFF2-40B4-BE49-F238E27FC236}">
                <a16:creationId xmlns:a16="http://schemas.microsoft.com/office/drawing/2014/main" id="{277073B9-CBBF-4A1A-8FBA-CBDC86246021}"/>
              </a:ext>
            </a:extLst>
          </p:cNvPr>
          <p:cNvSpPr>
            <a:spLocks xmlns:a="http://schemas.openxmlformats.org/drawingml/2006/main" noGrp="1"/>
          </p:cNvSpPr>
          <p:nvPr/>
        </p:nvSpPr>
        <p:spPr>
          <a:xfrm xmlns:a="http://schemas.openxmlformats.org/drawingml/2006/main">
            <a:off x="9610725" y="314325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D86565"/>
                </a:solidFill>
              </a:defRPr>
            </a:pPr>
            <a:r>
              <a:rPr sz="1350" b="1">
                <a:solidFill>
                  <a:srgbClr val="D86565"/>
                </a:solidFill>
              </a:rPr>
              <a:t>8</a:t>
            </a:r>
          </a:p>
        </p:txBody>
      </p:sp>
      <p:sp>
        <p:nvSpPr>
          <p:cNvPr id="38" name="">
            <a:extLst xmlns:a="http://schemas.openxmlformats.org/drawingml/2006/main">
              <a:ext uri="{FF2B5EF4-FFF2-40B4-BE49-F238E27FC236}">
                <a16:creationId xmlns:a16="http://schemas.microsoft.com/office/drawing/2014/main" id="{440DD505-C589-44A8-A9E5-ECAAB7C8559F}"/>
              </a:ext>
            </a:extLst>
          </p:cNvPr>
          <p:cNvSpPr>
            <a:spLocks xmlns:a="http://schemas.openxmlformats.org/drawingml/2006/main" noGrp="1"/>
          </p:cNvSpPr>
          <p:nvPr/>
        </p:nvSpPr>
        <p:spPr>
          <a:xfrm xmlns:a="http://schemas.openxmlformats.org/drawingml/2006/main">
            <a:off x="9010650" y="3781425"/>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0A1D30"/>
                </a:solidFill>
              </a:defRPr>
            </a:pPr>
            <a:r>
              <a:rPr sz="1575" b="1">
                <a:solidFill>
                  <a:srgbClr val="0A1D30"/>
                </a:solidFill>
              </a:rPr>
              <a:t>Decide</a:t>
            </a:r>
          </a:p>
        </p:txBody>
      </p:sp>
      <p:sp>
        <p:nvSpPr>
          <p:cNvPr id="39" name="">
            <a:extLst xmlns:a="http://schemas.openxmlformats.org/drawingml/2006/main">
              <a:ext uri="{FF2B5EF4-FFF2-40B4-BE49-F238E27FC236}">
                <a16:creationId xmlns:a16="http://schemas.microsoft.com/office/drawing/2014/main" id="{A2FD6B8B-7F53-4B0F-B2A8-D79DB968724F}"/>
              </a:ext>
            </a:extLst>
          </p:cNvPr>
          <p:cNvSpPr>
            <a:spLocks xmlns:a="http://schemas.openxmlformats.org/drawingml/2006/main" noGrp="1"/>
          </p:cNvSpPr>
          <p:nvPr/>
        </p:nvSpPr>
        <p:spPr>
          <a:xfrm xmlns:a="http://schemas.openxmlformats.org/drawingml/2006/main">
            <a:off x="9010650" y="417195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a:solidFill>
                  <a:srgbClr val="657888"/>
                </a:solidFill>
              </a:defRPr>
            </a:pPr>
            <a:r>
              <a:rPr sz="1125" b="0">
                <a:solidFill>
                  <a:srgbClr val="657888"/>
                </a:solidFill>
              </a:rPr>
              <a:t>threshold + abstain</a:t>
            </a:r>
          </a:p>
        </p:txBody>
      </p:sp>
      <p:sp>
        <p:nvSpPr>
          <p:cNvPr id="40" name="">
            <a:extLst xmlns:a="http://schemas.openxmlformats.org/drawingml/2006/main">
              <a:ext uri="{FF2B5EF4-FFF2-40B4-BE49-F238E27FC236}">
                <a16:creationId xmlns:a16="http://schemas.microsoft.com/office/drawing/2014/main" id="{CDAF5765-08BF-4DF1-A1AE-B78657ACEFB6}"/>
              </a:ext>
            </a:extLst>
          </p:cNvPr>
          <p:cNvSpPr>
            <a:spLocks xmlns:a="http://schemas.openxmlformats.org/drawingml/2006/main" noGrp="1"/>
          </p:cNvSpPr>
          <p:nvPr/>
        </p:nvSpPr>
        <p:spPr>
          <a:xfrm xmlns:a="http://schemas.openxmlformats.org/drawingml/2006/main">
            <a:off x="10782300" y="3028950"/>
            <a:ext cx="495300" cy="495300"/>
          </a:xfrm>
          <a:prstGeom xmlns:a="http://schemas.openxmlformats.org/drawingml/2006/main" prst="ellipse">
            <a:avLst/>
          </a:prstGeom>
          <a:solidFill xmlns:a="http://schemas.openxmlformats.org/drawingml/2006/main">
            <a:srgbClr val="F5F3ED"/>
          </a:solidFill>
          <a:ln xmlns:a="http://schemas.openxmlformats.org/drawingml/2006/main" w="19050">
            <a:solidFill>
              <a:srgbClr val="2F6FE4"/>
            </a:solidFill>
            <a:prstDash val="solid"/>
          </a:ln>
        </p:spPr>
      </p:sp>
      <p:sp>
        <p:nvSpPr>
          <p:cNvPr id="41" name="">
            <a:extLst xmlns:a="http://schemas.openxmlformats.org/drawingml/2006/main">
              <a:ext uri="{FF2B5EF4-FFF2-40B4-BE49-F238E27FC236}">
                <a16:creationId xmlns:a16="http://schemas.microsoft.com/office/drawing/2014/main" id="{1DEA39AC-D3C8-4C1F-BADE-D9BC7BE4F7B5}"/>
              </a:ext>
            </a:extLst>
          </p:cNvPr>
          <p:cNvSpPr>
            <a:spLocks xmlns:a="http://schemas.openxmlformats.org/drawingml/2006/main" noGrp="1"/>
          </p:cNvSpPr>
          <p:nvPr/>
        </p:nvSpPr>
        <p:spPr>
          <a:xfrm xmlns:a="http://schemas.openxmlformats.org/drawingml/2006/main">
            <a:off x="10868025" y="314325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2F6FE4"/>
                </a:solidFill>
              </a:defRPr>
            </a:pPr>
            <a:r>
              <a:rPr sz="1350" b="1">
                <a:solidFill>
                  <a:srgbClr val="2F6FE4"/>
                </a:solidFill>
              </a:rPr>
              <a:t>9</a:t>
            </a:r>
          </a:p>
        </p:txBody>
      </p:sp>
      <p:sp>
        <p:nvSpPr>
          <p:cNvPr id="42" name="">
            <a:extLst xmlns:a="http://schemas.openxmlformats.org/drawingml/2006/main">
              <a:ext uri="{FF2B5EF4-FFF2-40B4-BE49-F238E27FC236}">
                <a16:creationId xmlns:a16="http://schemas.microsoft.com/office/drawing/2014/main" id="{9B13BBE8-83CE-48A2-84C4-6E541646E40E}"/>
              </a:ext>
            </a:extLst>
          </p:cNvPr>
          <p:cNvSpPr>
            <a:spLocks xmlns:a="http://schemas.openxmlformats.org/drawingml/2006/main" noGrp="1"/>
          </p:cNvSpPr>
          <p:nvPr/>
        </p:nvSpPr>
        <p:spPr>
          <a:xfrm xmlns:a="http://schemas.openxmlformats.org/drawingml/2006/main">
            <a:off x="10267950" y="220980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0A1D30"/>
                </a:solidFill>
              </a:defRPr>
            </a:pPr>
            <a:r>
              <a:rPr sz="1575" b="1">
                <a:solidFill>
                  <a:srgbClr val="0A1D30"/>
                </a:solidFill>
              </a:rPr>
              <a:t>Monitor</a:t>
            </a:r>
          </a:p>
        </p:txBody>
      </p:sp>
      <p:sp>
        <p:nvSpPr>
          <p:cNvPr id="43" name="">
            <a:extLst xmlns:a="http://schemas.openxmlformats.org/drawingml/2006/main">
              <a:ext uri="{FF2B5EF4-FFF2-40B4-BE49-F238E27FC236}">
                <a16:creationId xmlns:a16="http://schemas.microsoft.com/office/drawing/2014/main" id="{A0DDFD9E-39C7-4379-A5B6-3109986CFFB3}"/>
              </a:ext>
            </a:extLst>
          </p:cNvPr>
          <p:cNvSpPr>
            <a:spLocks xmlns:a="http://schemas.openxmlformats.org/drawingml/2006/main" noGrp="1"/>
          </p:cNvSpPr>
          <p:nvPr/>
        </p:nvSpPr>
        <p:spPr>
          <a:xfrm xmlns:a="http://schemas.openxmlformats.org/drawingml/2006/main">
            <a:off x="10267950" y="260985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a:solidFill>
                  <a:srgbClr val="657888"/>
                </a:solidFill>
              </a:defRPr>
            </a:pPr>
            <a:r>
              <a:rPr sz="1125" b="0">
                <a:solidFill>
                  <a:srgbClr val="657888"/>
                </a:solidFill>
              </a:rPr>
              <a:t>drift + feedback</a:t>
            </a:r>
          </a:p>
        </p:txBody>
      </p:sp>
      <p:sp>
        <p:nvSpPr>
          <p:cNvPr id="44" name="">
            <a:extLst xmlns:a="http://schemas.openxmlformats.org/drawingml/2006/main">
              <a:ext uri="{FF2B5EF4-FFF2-40B4-BE49-F238E27FC236}">
                <a16:creationId xmlns:a16="http://schemas.microsoft.com/office/drawing/2014/main" id="{63093914-998C-45FE-A162-425CD2C952B4}"/>
              </a:ext>
            </a:extLst>
          </p:cNvPr>
          <p:cNvSpPr>
            <a:spLocks xmlns:a="http://schemas.openxmlformats.org/drawingml/2006/main" noGrp="1"/>
          </p:cNvSpPr>
          <p:nvPr/>
        </p:nvSpPr>
        <p:spPr>
          <a:xfrm xmlns:a="http://schemas.openxmlformats.org/drawingml/2006/main">
            <a:off x="723900" y="5095875"/>
            <a:ext cx="10744200" cy="857250"/>
          </a:xfrm>
          <a:prstGeom xmlns:a="http://schemas.openxmlformats.org/drawingml/2006/main" prst="roundRect">
            <a:avLst>
              <a:gd name="adj" fmla="val 13333"/>
            </a:avLst>
          </a:prstGeom>
          <a:solidFill xmlns:a="http://schemas.openxmlformats.org/drawingml/2006/main">
            <a:srgbClr val="0A1D30"/>
          </a:solidFill>
          <a:ln xmlns:a="http://schemas.openxmlformats.org/drawingml/2006/main" w="0">
            <a:solidFill>
              <a:srgbClr val="0A1D30"/>
            </a:solidFill>
            <a:prstDash val="solid"/>
          </a:ln>
        </p:spPr>
      </p:sp>
      <p:sp>
        <p:nvSpPr>
          <p:cNvPr id="45" name="">
            <a:extLst xmlns:a="http://schemas.openxmlformats.org/drawingml/2006/main">
              <a:ext uri="{FF2B5EF4-FFF2-40B4-BE49-F238E27FC236}">
                <a16:creationId xmlns:a16="http://schemas.microsoft.com/office/drawing/2014/main" id="{A5CCE587-F8C1-4CE5-9968-5255431CBED9}"/>
              </a:ext>
            </a:extLst>
          </p:cNvPr>
          <p:cNvSpPr>
            <a:spLocks xmlns:a="http://schemas.openxmlformats.org/drawingml/2006/main" noGrp="1"/>
          </p:cNvSpPr>
          <p:nvPr/>
        </p:nvSpPr>
        <p:spPr>
          <a:xfrm xmlns:a="http://schemas.openxmlformats.org/drawingml/2006/main">
            <a:off x="952500" y="52959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26BFD0"/>
                </a:solidFill>
              </a:defRPr>
            </a:pPr>
            <a:r>
              <a:rPr sz="1500" b="1">
                <a:solidFill>
                  <a:srgbClr val="26BFD0"/>
                </a:solidFill>
              </a:rPr>
              <a:t>Operational actions</a:t>
            </a:r>
          </a:p>
        </p:txBody>
      </p:sp>
      <p:sp>
        <p:nvSpPr>
          <p:cNvPr id="46" name="">
            <a:extLst xmlns:a="http://schemas.openxmlformats.org/drawingml/2006/main">
              <a:ext uri="{FF2B5EF4-FFF2-40B4-BE49-F238E27FC236}">
                <a16:creationId xmlns:a16="http://schemas.microsoft.com/office/drawing/2014/main" id="{375FB75A-9A17-4A9A-AEE5-A1B287873DF1}"/>
              </a:ext>
            </a:extLst>
          </p:cNvPr>
          <p:cNvSpPr>
            <a:spLocks xmlns:a="http://schemas.openxmlformats.org/drawingml/2006/main" noGrp="1"/>
          </p:cNvSpPr>
          <p:nvPr/>
        </p:nvSpPr>
        <p:spPr>
          <a:xfrm xmlns:a="http://schemas.openxmlformats.org/drawingml/2006/main">
            <a:off x="3048000" y="52673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FFFFFF"/>
                </a:solidFill>
              </a:defRPr>
            </a:pPr>
            <a:r>
              <a:rPr sz="1800" b="1">
                <a:solidFill>
                  <a:srgbClr val="FFFFFF"/>
                </a:solidFill>
              </a:rPr>
              <a:t>Release benign</a:t>
            </a:r>
          </a:p>
        </p:txBody>
      </p:sp>
      <p:sp>
        <p:nvSpPr>
          <p:cNvPr id="47" name="">
            <a:extLst xmlns:a="http://schemas.openxmlformats.org/drawingml/2006/main">
              <a:ext uri="{FF2B5EF4-FFF2-40B4-BE49-F238E27FC236}">
                <a16:creationId xmlns:a16="http://schemas.microsoft.com/office/drawing/2014/main" id="{125AE4C4-64A1-4A01-96F3-9B1AE44BF7E5}"/>
              </a:ext>
            </a:extLst>
          </p:cNvPr>
          <p:cNvSpPr>
            <a:spLocks xmlns:a="http://schemas.openxmlformats.org/drawingml/2006/main" noGrp="1"/>
          </p:cNvSpPr>
          <p:nvPr/>
        </p:nvSpPr>
        <p:spPr>
          <a:xfrm xmlns:a="http://schemas.openxmlformats.org/drawingml/2006/main">
            <a:off x="5429250" y="52673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FFFFFF"/>
                </a:solidFill>
              </a:defRPr>
            </a:pPr>
            <a:r>
              <a:rPr sz="1800" b="1">
                <a:solidFill>
                  <a:srgbClr val="FFFFFF"/>
                </a:solidFill>
              </a:rPr>
              <a:t>Analyst review</a:t>
            </a:r>
          </a:p>
        </p:txBody>
      </p:sp>
      <p:sp>
        <p:nvSpPr>
          <p:cNvPr id="48" name="">
            <a:extLst xmlns:a="http://schemas.openxmlformats.org/drawingml/2006/main">
              <a:ext uri="{FF2B5EF4-FFF2-40B4-BE49-F238E27FC236}">
                <a16:creationId xmlns:a16="http://schemas.microsoft.com/office/drawing/2014/main" id="{F1077E89-C91F-4F57-A281-A9D173C110EE}"/>
              </a:ext>
            </a:extLst>
          </p:cNvPr>
          <p:cNvSpPr>
            <a:spLocks xmlns:a="http://schemas.openxmlformats.org/drawingml/2006/main" noGrp="1"/>
          </p:cNvSpPr>
          <p:nvPr/>
        </p:nvSpPr>
        <p:spPr>
          <a:xfrm xmlns:a="http://schemas.openxmlformats.org/drawingml/2006/main">
            <a:off x="7905750" y="526732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FFFFFF"/>
                </a:solidFill>
              </a:defRPr>
            </a:pPr>
            <a:r>
              <a:rPr sz="1800" b="1">
                <a:solidFill>
                  <a:srgbClr val="FFFFFF"/>
                </a:solidFill>
              </a:rPr>
              <a:t>Contain / sandbox</a:t>
            </a:r>
          </a:p>
        </p:txBody>
      </p:sp>
      <p:sp>
        <p:nvSpPr>
          <p:cNvPr id="49" name="">
            <a:extLst xmlns:a="http://schemas.openxmlformats.org/drawingml/2006/main">
              <a:ext uri="{FF2B5EF4-FFF2-40B4-BE49-F238E27FC236}">
                <a16:creationId xmlns:a16="http://schemas.microsoft.com/office/drawing/2014/main" id="{FC62116D-9B40-4E1D-A7E1-EE28A79E9CF9}"/>
              </a:ext>
            </a:extLst>
          </p:cNvPr>
          <p:cNvSpPr>
            <a:spLocks xmlns:a="http://schemas.openxmlformats.org/drawingml/2006/main" noGrp="1"/>
          </p:cNvSpPr>
          <p:nvPr/>
        </p:nvSpPr>
        <p:spPr>
          <a:xfrm xmlns:a="http://schemas.openxmlformats.org/drawingml/2006/main">
            <a:off x="9429750" y="5657850"/>
            <a:ext cx="1762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26BFD0"/>
                </a:solidFill>
              </a:defRPr>
            </a:pPr>
            <a:r>
              <a:rPr sz="1050" b="0">
                <a:solidFill>
                  <a:srgbClr val="26BFD0"/>
                </a:solidFill>
              </a:rPr>
              <a:t>verified feedback only</a:t>
            </a:r>
          </a:p>
        </p:txBody>
      </p:sp>
      <p:sp>
        <p:nvSpPr>
          <p:cNvPr id="50" name="">
            <a:extLst xmlns:a="http://schemas.openxmlformats.org/drawingml/2006/main">
              <a:ext uri="{FF2B5EF4-FFF2-40B4-BE49-F238E27FC236}">
                <a16:creationId xmlns:a16="http://schemas.microsoft.com/office/drawing/2014/main" id="{E89A6AEA-184C-4C6B-8C5D-147EF7041448}"/>
              </a:ext>
            </a:extLst>
          </p:cNvPr>
          <p:cNvSpPr>
            <a:spLocks xmlns:a="http://schemas.openxmlformats.org/drawingml/2006/main" noGrp="1"/>
          </p:cNvSpPr>
          <p:nvPr/>
        </p:nvSpPr>
        <p:spPr>
          <a:xfrm xmlns:a="http://schemas.openxmlformats.org/drawingml/2006/main">
            <a:off x="647700" y="6400800"/>
            <a:ext cx="108966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EC71DCE0-56F5-4830-A1A9-1890F57E421C}"/>
              </a:ext>
            </a:extLst>
          </p:cNvPr>
          <p:cNvSpPr>
            <a:spLocks xmlns:a="http://schemas.openxmlformats.org/drawingml/2006/main" noGrp="1"/>
          </p:cNvSpPr>
          <p:nvPr/>
        </p:nvSpPr>
        <p:spPr>
          <a:xfrm xmlns:a="http://schemas.openxmlformats.org/drawingml/2006/main">
            <a:off x="647700" y="649605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888"/>
                </a:solidFill>
              </a:defRPr>
            </a:pPr>
            <a:r>
              <a:rPr sz="975" b="0">
                <a:solidFill>
                  <a:srgbClr val="657888"/>
                </a:solidFill>
              </a:rPr>
              <a:t>Preserve evidence → decide with cost → monitor → retrain from verified feedback.</a:t>
            </a:r>
          </a:p>
        </p:txBody>
      </p:sp>
      <p:sp>
        <p:nvSpPr>
          <p:cNvPr id="52" name="">
            <a:extLst xmlns:a="http://schemas.openxmlformats.org/drawingml/2006/main">
              <a:ext uri="{FF2B5EF4-FFF2-40B4-BE49-F238E27FC236}">
                <a16:creationId xmlns:a16="http://schemas.microsoft.com/office/drawing/2014/main" id="{E5D7B46B-CE64-4DCE-A0A5-4FCD1987734B}"/>
              </a:ext>
            </a:extLst>
          </p:cNvPr>
          <p:cNvSpPr>
            <a:spLocks xmlns:a="http://schemas.openxmlformats.org/drawingml/2006/main" noGrp="1"/>
          </p:cNvSpPr>
          <p:nvPr/>
        </p:nvSpPr>
        <p:spPr>
          <a:xfrm xmlns:a="http://schemas.openxmlformats.org/drawingml/2006/main">
            <a:off x="10287000" y="64674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0A1D30"/>
                </a:solidFill>
              </a:defRPr>
            </a:pPr>
            <a:r>
              <a:rPr sz="975" b="1">
                <a:solidFill>
                  <a:srgbClr val="0A1D30"/>
                </a:solidFill>
              </a:rPr>
              <a:t>4 / 12</a:t>
            </a:r>
          </a:p>
        </p:txBody>
      </p:sp>
    </p:spTree>
    <p:extLst>
      <p:ext uri="{BB962C8B-B14F-4D97-AF65-F5344CB8AC3E}">
        <p14:creationId xmlns:p14="http://schemas.microsoft.com/office/powerpoint/2010/main" val="1063724861"/>
      </p:ext>
    </p:extLst>
  </p:cSld>
</p:sld>
</file>

<file path=ppt/slides/slide5.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B5D4C6B-2C7E-485B-B590-90351641E1EB}"/>
              </a:ext>
            </a:extLst>
          </p:cNvPr>
          <p:cNvSpPr>
            <a:spLocks xmlns:a="http://schemas.openxmlformats.org/drawingml/2006/main" noGrp="1"/>
          </p:cNvSpPr>
          <p:nvPr/>
        </p:nvSpPr>
        <p:spPr>
          <a:xfrm xmlns:a="http://schemas.openxmlformats.org/drawingml/2006/main">
            <a:off x="647700" y="2571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0A1D30"/>
                </a:solidFill>
              </a:defRPr>
            </a:pPr>
            <a:r>
              <a:rPr sz="1050" b="1">
                <a:solidFill>
                  <a:srgbClr val="0A1D30"/>
                </a:solidFill>
              </a:rPr>
              <a:t>DATA SCIENCE METHODS FOR CYBERSECURITY</a:t>
            </a:r>
          </a:p>
        </p:txBody>
      </p:sp>
      <p:sp>
        <p:nvSpPr>
          <p:cNvPr id="2" name="">
            <a:extLst xmlns:a="http://schemas.openxmlformats.org/drawingml/2006/main">
              <a:ext uri="{FF2B5EF4-FFF2-40B4-BE49-F238E27FC236}">
                <a16:creationId xmlns:a16="http://schemas.microsoft.com/office/drawing/2014/main" id="{F8DF16BE-312C-4174-A406-17E492709BE9}"/>
              </a:ext>
            </a:extLst>
          </p:cNvPr>
          <p:cNvSpPr>
            <a:spLocks xmlns:a="http://schemas.openxmlformats.org/drawingml/2006/main" noGrp="1"/>
          </p:cNvSpPr>
          <p:nvPr/>
        </p:nvSpPr>
        <p:spPr>
          <a:xfrm xmlns:a="http://schemas.openxmlformats.org/drawingml/2006/main">
            <a:off x="6096000" y="2571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2F6FE4"/>
                </a:solidFill>
              </a:defRPr>
            </a:pPr>
            <a:r>
              <a:rPr sz="1050" b="1">
                <a:solidFill>
                  <a:srgbClr val="2F6FE4"/>
                </a:solidFill>
              </a:rPr>
              <a:t>L2.3 / L3.2  •  EDA + LEAKAGE</a:t>
            </a:r>
          </a:p>
        </p:txBody>
      </p:sp>
      <p:sp>
        <p:nvSpPr>
          <p:cNvPr id="3" name="">
            <a:extLst xmlns:a="http://schemas.openxmlformats.org/drawingml/2006/main">
              <a:ext uri="{FF2B5EF4-FFF2-40B4-BE49-F238E27FC236}">
                <a16:creationId xmlns:a16="http://schemas.microsoft.com/office/drawing/2014/main" id="{47EA96BF-9C53-4A33-B8EC-E0187B68B7DB}"/>
              </a:ext>
            </a:extLst>
          </p:cNvPr>
          <p:cNvSpPr>
            <a:spLocks xmlns:a="http://schemas.openxmlformats.org/drawingml/2006/main" noGrp="1"/>
          </p:cNvSpPr>
          <p:nvPr/>
        </p:nvSpPr>
        <p:spPr>
          <a:xfrm xmlns:a="http://schemas.openxmlformats.org/drawingml/2006/main">
            <a:off x="10953750" y="22860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657888"/>
                </a:solidFill>
              </a:defRPr>
            </a:pPr>
            <a:r>
              <a:rPr sz="1350" b="1">
                <a:solidFill>
                  <a:srgbClr val="657888"/>
                </a:solidFill>
              </a:rPr>
              <a:t>05</a:t>
            </a:r>
          </a:p>
        </p:txBody>
      </p:sp>
      <p:sp>
        <p:nvSpPr>
          <p:cNvPr id="4" name="">
            <a:extLst xmlns:a="http://schemas.openxmlformats.org/drawingml/2006/main">
              <a:ext uri="{FF2B5EF4-FFF2-40B4-BE49-F238E27FC236}">
                <a16:creationId xmlns:a16="http://schemas.microsoft.com/office/drawing/2014/main" id="{43F89585-2837-4A12-A5B7-677E417C4466}"/>
              </a:ext>
            </a:extLst>
          </p:cNvPr>
          <p:cNvSpPr>
            <a:spLocks xmlns:a="http://schemas.openxmlformats.org/drawingml/2006/main" noGrp="1"/>
          </p:cNvSpPr>
          <p:nvPr/>
        </p:nvSpPr>
        <p:spPr>
          <a:xfrm xmlns:a="http://schemas.openxmlformats.org/drawingml/2006/main">
            <a:off x="647700" y="581025"/>
            <a:ext cx="108966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C5BC28C-BC38-4055-8FFD-CA8FAA26CF0C}"/>
              </a:ext>
            </a:extLst>
          </p:cNvPr>
          <p:cNvSpPr>
            <a:spLocks xmlns:a="http://schemas.openxmlformats.org/drawingml/2006/main" noGrp="1"/>
          </p:cNvSpPr>
          <p:nvPr/>
        </p:nvSpPr>
        <p:spPr>
          <a:xfrm xmlns:a="http://schemas.openxmlformats.org/drawingml/2006/main">
            <a:off x="647700" y="762000"/>
            <a:ext cx="10896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0A1D30"/>
                </a:solidFill>
              </a:defRPr>
            </a:pPr>
            <a:r>
              <a:rPr sz="3150" b="1">
                <a:solidFill>
                  <a:srgbClr val="0A1D30"/>
                </a:solidFill>
              </a:rPr>
              <a:t>EDA prevents leakage before modeling begins</a:t>
            </a:r>
          </a:p>
        </p:txBody>
      </p:sp>
      <p:sp>
        <p:nvSpPr>
          <p:cNvPr id="6" name="">
            <a:extLst xmlns:a="http://schemas.openxmlformats.org/drawingml/2006/main">
              <a:ext uri="{FF2B5EF4-FFF2-40B4-BE49-F238E27FC236}">
                <a16:creationId xmlns:a16="http://schemas.microsoft.com/office/drawing/2014/main" id="{377FB0C8-E273-4F4A-94E8-FD5D5179B6F0}"/>
              </a:ext>
            </a:extLst>
          </p:cNvPr>
          <p:cNvSpPr>
            <a:spLocks xmlns:a="http://schemas.openxmlformats.org/drawingml/2006/main" noGrp="1"/>
          </p:cNvSpPr>
          <p:nvPr/>
        </p:nvSpPr>
        <p:spPr>
          <a:xfrm xmlns:a="http://schemas.openxmlformats.org/drawingml/2006/main">
            <a:off x="685800" y="1504950"/>
            <a:ext cx="7620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657888"/>
                </a:solidFill>
              </a:defRPr>
            </a:pPr>
            <a:r>
              <a:rPr sz="1800" b="0">
                <a:solidFill>
                  <a:srgbClr val="657888"/>
                </a:solidFill>
              </a:rPr>
              <a:t>EDA asks whether the later evaluation can be trusted.</a:t>
            </a:r>
          </a:p>
        </p:txBody>
      </p:sp>
      <p:sp>
        <p:nvSpPr>
          <p:cNvPr id="7" name="">
            <a:extLst xmlns:a="http://schemas.openxmlformats.org/drawingml/2006/main">
              <a:ext uri="{FF2B5EF4-FFF2-40B4-BE49-F238E27FC236}">
                <a16:creationId xmlns:a16="http://schemas.microsoft.com/office/drawing/2014/main" id="{27575D78-1411-40C7-839B-42FD3564F059}"/>
              </a:ext>
            </a:extLst>
          </p:cNvPr>
          <p:cNvSpPr>
            <a:spLocks xmlns:a="http://schemas.openxmlformats.org/drawingml/2006/main" noGrp="1"/>
          </p:cNvSpPr>
          <p:nvPr/>
        </p:nvSpPr>
        <p:spPr>
          <a:xfrm xmlns:a="http://schemas.openxmlformats.org/drawingml/2006/main">
            <a:off x="781050" y="2143125"/>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F6FE4"/>
                </a:solidFill>
              </a:defRPr>
            </a:pPr>
            <a:r>
              <a:rPr sz="1425" b="1">
                <a:solidFill>
                  <a:srgbClr val="2F6FE4"/>
                </a:solidFill>
              </a:rPr>
              <a:t>01</a:t>
            </a:r>
          </a:p>
        </p:txBody>
      </p:sp>
      <p:sp>
        <p:nvSpPr>
          <p:cNvPr id="8" name="">
            <a:extLst xmlns:a="http://schemas.openxmlformats.org/drawingml/2006/main">
              <a:ext uri="{FF2B5EF4-FFF2-40B4-BE49-F238E27FC236}">
                <a16:creationId xmlns:a16="http://schemas.microsoft.com/office/drawing/2014/main" id="{626BFCAE-0830-4804-8EF5-045BFC59C91A}"/>
              </a:ext>
            </a:extLst>
          </p:cNvPr>
          <p:cNvSpPr>
            <a:spLocks xmlns:a="http://schemas.openxmlformats.org/drawingml/2006/main" noGrp="1"/>
          </p:cNvSpPr>
          <p:nvPr/>
        </p:nvSpPr>
        <p:spPr>
          <a:xfrm xmlns:a="http://schemas.openxmlformats.org/drawingml/2006/main">
            <a:off x="1428750" y="2105025"/>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A1D30"/>
                </a:solidFill>
              </a:defRPr>
            </a:pPr>
            <a:r>
              <a:rPr sz="2100" b="1">
                <a:solidFill>
                  <a:srgbClr val="0A1D30"/>
                </a:solidFill>
              </a:rPr>
              <a:t>Data integrity</a:t>
            </a:r>
          </a:p>
        </p:txBody>
      </p:sp>
      <p:sp>
        <p:nvSpPr>
          <p:cNvPr id="9" name="">
            <a:extLst xmlns:a="http://schemas.openxmlformats.org/drawingml/2006/main">
              <a:ext uri="{FF2B5EF4-FFF2-40B4-BE49-F238E27FC236}">
                <a16:creationId xmlns:a16="http://schemas.microsoft.com/office/drawing/2014/main" id="{0C358167-A67A-4D4F-82BD-407B562C2CA1}"/>
              </a:ext>
            </a:extLst>
          </p:cNvPr>
          <p:cNvSpPr>
            <a:spLocks xmlns:a="http://schemas.openxmlformats.org/drawingml/2006/main" noGrp="1"/>
          </p:cNvSpPr>
          <p:nvPr/>
        </p:nvSpPr>
        <p:spPr>
          <a:xfrm xmlns:a="http://schemas.openxmlformats.org/drawingml/2006/main">
            <a:off x="4095750" y="215265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57888"/>
                </a:solidFill>
              </a:defRPr>
            </a:pPr>
            <a:r>
              <a:rPr sz="1500" b="0">
                <a:solidFill>
                  <a:srgbClr val="657888"/>
                </a:solidFill>
              </a:rPr>
              <a:t>types, ranges, missing and sentinel codes</a:t>
            </a:r>
          </a:p>
        </p:txBody>
      </p:sp>
      <p:sp>
        <p:nvSpPr>
          <p:cNvPr id="10" name="">
            <a:extLst xmlns:a="http://schemas.openxmlformats.org/drawingml/2006/main">
              <a:ext uri="{FF2B5EF4-FFF2-40B4-BE49-F238E27FC236}">
                <a16:creationId xmlns:a16="http://schemas.microsoft.com/office/drawing/2014/main" id="{37C6BE50-6175-4361-B66F-AE65A9F3B1DB}"/>
              </a:ext>
            </a:extLst>
          </p:cNvPr>
          <p:cNvSpPr>
            <a:spLocks xmlns:a="http://schemas.openxmlformats.org/drawingml/2006/main" noGrp="1"/>
          </p:cNvSpPr>
          <p:nvPr/>
        </p:nvSpPr>
        <p:spPr>
          <a:xfrm xmlns:a="http://schemas.openxmlformats.org/drawingml/2006/main">
            <a:off x="1428750" y="2695575"/>
            <a:ext cx="714375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43664D5-23D0-4BF2-A3C1-92ABE76EB0E2}"/>
              </a:ext>
            </a:extLst>
          </p:cNvPr>
          <p:cNvSpPr>
            <a:spLocks xmlns:a="http://schemas.openxmlformats.org/drawingml/2006/main" noGrp="1"/>
          </p:cNvSpPr>
          <p:nvPr/>
        </p:nvSpPr>
        <p:spPr>
          <a:xfrm xmlns:a="http://schemas.openxmlformats.org/drawingml/2006/main">
            <a:off x="781050" y="3019425"/>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F9D88"/>
                </a:solidFill>
              </a:defRPr>
            </a:pPr>
            <a:r>
              <a:rPr sz="1425" b="1">
                <a:solidFill>
                  <a:srgbClr val="1F9D88"/>
                </a:solidFill>
              </a:rPr>
              <a:t>02</a:t>
            </a:r>
          </a:p>
        </p:txBody>
      </p:sp>
      <p:sp>
        <p:nvSpPr>
          <p:cNvPr id="12" name="">
            <a:extLst xmlns:a="http://schemas.openxmlformats.org/drawingml/2006/main">
              <a:ext uri="{FF2B5EF4-FFF2-40B4-BE49-F238E27FC236}">
                <a16:creationId xmlns:a16="http://schemas.microsoft.com/office/drawing/2014/main" id="{B7271303-63F5-4200-8063-D43F1B3E42F8}"/>
              </a:ext>
            </a:extLst>
          </p:cNvPr>
          <p:cNvSpPr>
            <a:spLocks xmlns:a="http://schemas.openxmlformats.org/drawingml/2006/main" noGrp="1"/>
          </p:cNvSpPr>
          <p:nvPr/>
        </p:nvSpPr>
        <p:spPr>
          <a:xfrm xmlns:a="http://schemas.openxmlformats.org/drawingml/2006/main">
            <a:off x="1428750" y="2981325"/>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A1D30"/>
                </a:solidFill>
              </a:defRPr>
            </a:pPr>
            <a:r>
              <a:rPr sz="2100" b="1">
                <a:solidFill>
                  <a:srgbClr val="0A1D30"/>
                </a:solidFill>
              </a:rPr>
              <a:t>Identity</a:t>
            </a:r>
          </a:p>
        </p:txBody>
      </p:sp>
      <p:sp>
        <p:nvSpPr>
          <p:cNvPr id="13" name="">
            <a:extLst xmlns:a="http://schemas.openxmlformats.org/drawingml/2006/main">
              <a:ext uri="{FF2B5EF4-FFF2-40B4-BE49-F238E27FC236}">
                <a16:creationId xmlns:a16="http://schemas.microsoft.com/office/drawing/2014/main" id="{946C0F88-720F-4048-86E6-12825ADAA3EA}"/>
              </a:ext>
            </a:extLst>
          </p:cNvPr>
          <p:cNvSpPr>
            <a:spLocks xmlns:a="http://schemas.openxmlformats.org/drawingml/2006/main" noGrp="1"/>
          </p:cNvSpPr>
          <p:nvPr/>
        </p:nvSpPr>
        <p:spPr>
          <a:xfrm xmlns:a="http://schemas.openxmlformats.org/drawingml/2006/main">
            <a:off x="4095750" y="302895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57888"/>
                </a:solidFill>
              </a:defRPr>
            </a:pPr>
            <a:r>
              <a:rPr sz="1500" b="0">
                <a:solidFill>
                  <a:srgbClr val="657888"/>
                </a:solidFill>
              </a:rPr>
              <a:t>duplicates, related files, provenance fields</a:t>
            </a:r>
          </a:p>
        </p:txBody>
      </p:sp>
      <p:sp>
        <p:nvSpPr>
          <p:cNvPr id="14" name="">
            <a:extLst xmlns:a="http://schemas.openxmlformats.org/drawingml/2006/main">
              <a:ext uri="{FF2B5EF4-FFF2-40B4-BE49-F238E27FC236}">
                <a16:creationId xmlns:a16="http://schemas.microsoft.com/office/drawing/2014/main" id="{159350BB-69F6-4032-AD7D-6F624B9DCB0C}"/>
              </a:ext>
            </a:extLst>
          </p:cNvPr>
          <p:cNvSpPr>
            <a:spLocks xmlns:a="http://schemas.openxmlformats.org/drawingml/2006/main" noGrp="1"/>
          </p:cNvSpPr>
          <p:nvPr/>
        </p:nvSpPr>
        <p:spPr>
          <a:xfrm xmlns:a="http://schemas.openxmlformats.org/drawingml/2006/main">
            <a:off x="1428750" y="3571875"/>
            <a:ext cx="714375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E4A1233-740E-4A2C-AD49-3416B96A6BEC}"/>
              </a:ext>
            </a:extLst>
          </p:cNvPr>
          <p:cNvSpPr>
            <a:spLocks xmlns:a="http://schemas.openxmlformats.org/drawingml/2006/main" noGrp="1"/>
          </p:cNvSpPr>
          <p:nvPr/>
        </p:nvSpPr>
        <p:spPr>
          <a:xfrm xmlns:a="http://schemas.openxmlformats.org/drawingml/2006/main">
            <a:off x="781050" y="3895725"/>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D86565"/>
                </a:solidFill>
              </a:defRPr>
            </a:pPr>
            <a:r>
              <a:rPr sz="1425" b="1">
                <a:solidFill>
                  <a:srgbClr val="D86565"/>
                </a:solidFill>
              </a:rPr>
              <a:t>03</a:t>
            </a:r>
          </a:p>
        </p:txBody>
      </p:sp>
      <p:sp>
        <p:nvSpPr>
          <p:cNvPr id="16" name="">
            <a:extLst xmlns:a="http://schemas.openxmlformats.org/drawingml/2006/main">
              <a:ext uri="{FF2B5EF4-FFF2-40B4-BE49-F238E27FC236}">
                <a16:creationId xmlns:a16="http://schemas.microsoft.com/office/drawing/2014/main" id="{6CD693C7-38D2-421D-A011-F237773500F9}"/>
              </a:ext>
            </a:extLst>
          </p:cNvPr>
          <p:cNvSpPr>
            <a:spLocks xmlns:a="http://schemas.openxmlformats.org/drawingml/2006/main" noGrp="1"/>
          </p:cNvSpPr>
          <p:nvPr/>
        </p:nvSpPr>
        <p:spPr>
          <a:xfrm xmlns:a="http://schemas.openxmlformats.org/drawingml/2006/main">
            <a:off x="1428750" y="3857625"/>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A1D30"/>
                </a:solidFill>
              </a:defRPr>
            </a:pPr>
            <a:r>
              <a:rPr sz="2100" b="1">
                <a:solidFill>
                  <a:srgbClr val="0A1D30"/>
                </a:solidFill>
              </a:rPr>
              <a:t>Leakage</a:t>
            </a:r>
          </a:p>
        </p:txBody>
      </p:sp>
      <p:sp>
        <p:nvSpPr>
          <p:cNvPr id="17" name="">
            <a:extLst xmlns:a="http://schemas.openxmlformats.org/drawingml/2006/main">
              <a:ext uri="{FF2B5EF4-FFF2-40B4-BE49-F238E27FC236}">
                <a16:creationId xmlns:a16="http://schemas.microsoft.com/office/drawing/2014/main" id="{297629F5-3873-49CE-9018-5768F90546E2}"/>
              </a:ext>
            </a:extLst>
          </p:cNvPr>
          <p:cNvSpPr>
            <a:spLocks xmlns:a="http://schemas.openxmlformats.org/drawingml/2006/main" noGrp="1"/>
          </p:cNvSpPr>
          <p:nvPr/>
        </p:nvSpPr>
        <p:spPr>
          <a:xfrm xmlns:a="http://schemas.openxmlformats.org/drawingml/2006/main">
            <a:off x="4095750" y="390525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57888"/>
                </a:solidFill>
              </a:defRPr>
            </a:pPr>
            <a:r>
              <a:rPr sz="1500" b="0">
                <a:solidFill>
                  <a:srgbClr val="657888"/>
                </a:solidFill>
              </a:rPr>
              <a:t>labels or future information inside features</a:t>
            </a:r>
          </a:p>
        </p:txBody>
      </p:sp>
      <p:sp>
        <p:nvSpPr>
          <p:cNvPr id="18" name="">
            <a:extLst xmlns:a="http://schemas.openxmlformats.org/drawingml/2006/main">
              <a:ext uri="{FF2B5EF4-FFF2-40B4-BE49-F238E27FC236}">
                <a16:creationId xmlns:a16="http://schemas.microsoft.com/office/drawing/2014/main" id="{5E63FA13-C95A-4BC8-8371-67B3B1BEAC55}"/>
              </a:ext>
            </a:extLst>
          </p:cNvPr>
          <p:cNvSpPr>
            <a:spLocks xmlns:a="http://schemas.openxmlformats.org/drawingml/2006/main" noGrp="1"/>
          </p:cNvSpPr>
          <p:nvPr/>
        </p:nvSpPr>
        <p:spPr>
          <a:xfrm xmlns:a="http://schemas.openxmlformats.org/drawingml/2006/main">
            <a:off x="1428750" y="4448175"/>
            <a:ext cx="714375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C664B62-B520-4A06-8C08-83B8D46B18FA}"/>
              </a:ext>
            </a:extLst>
          </p:cNvPr>
          <p:cNvSpPr>
            <a:spLocks xmlns:a="http://schemas.openxmlformats.org/drawingml/2006/main" noGrp="1"/>
          </p:cNvSpPr>
          <p:nvPr/>
        </p:nvSpPr>
        <p:spPr>
          <a:xfrm xmlns:a="http://schemas.openxmlformats.org/drawingml/2006/main">
            <a:off x="781050" y="4772025"/>
            <a:ext cx="47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E5A33D"/>
                </a:solidFill>
              </a:defRPr>
            </a:pPr>
            <a:r>
              <a:rPr sz="1425" b="1">
                <a:solidFill>
                  <a:srgbClr val="E5A33D"/>
                </a:solidFill>
              </a:rPr>
              <a:t>04</a:t>
            </a:r>
          </a:p>
        </p:txBody>
      </p:sp>
      <p:sp>
        <p:nvSpPr>
          <p:cNvPr id="20" name="">
            <a:extLst xmlns:a="http://schemas.openxmlformats.org/drawingml/2006/main">
              <a:ext uri="{FF2B5EF4-FFF2-40B4-BE49-F238E27FC236}">
                <a16:creationId xmlns:a16="http://schemas.microsoft.com/office/drawing/2014/main" id="{AE40D93C-77C8-4D35-B57C-D7B05933BDBA}"/>
              </a:ext>
            </a:extLst>
          </p:cNvPr>
          <p:cNvSpPr>
            <a:spLocks xmlns:a="http://schemas.openxmlformats.org/drawingml/2006/main" noGrp="1"/>
          </p:cNvSpPr>
          <p:nvPr/>
        </p:nvSpPr>
        <p:spPr>
          <a:xfrm xmlns:a="http://schemas.openxmlformats.org/drawingml/2006/main">
            <a:off x="1428750" y="4733925"/>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A1D30"/>
                </a:solidFill>
              </a:defRPr>
            </a:pPr>
            <a:r>
              <a:rPr sz="2100" b="1">
                <a:solidFill>
                  <a:srgbClr val="0A1D30"/>
                </a:solidFill>
              </a:rPr>
              <a:t>Imbalance</a:t>
            </a:r>
          </a:p>
        </p:txBody>
      </p:sp>
      <p:sp>
        <p:nvSpPr>
          <p:cNvPr id="21" name="">
            <a:extLst xmlns:a="http://schemas.openxmlformats.org/drawingml/2006/main">
              <a:ext uri="{FF2B5EF4-FFF2-40B4-BE49-F238E27FC236}">
                <a16:creationId xmlns:a16="http://schemas.microsoft.com/office/drawing/2014/main" id="{A9B5B72F-3C6F-4A19-8874-88DCDCBD6846}"/>
              </a:ext>
            </a:extLst>
          </p:cNvPr>
          <p:cNvSpPr>
            <a:spLocks xmlns:a="http://schemas.openxmlformats.org/drawingml/2006/main" noGrp="1"/>
          </p:cNvSpPr>
          <p:nvPr/>
        </p:nvSpPr>
        <p:spPr>
          <a:xfrm xmlns:a="http://schemas.openxmlformats.org/drawingml/2006/main">
            <a:off x="4095750" y="478155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57888"/>
                </a:solidFill>
              </a:defRPr>
            </a:pPr>
            <a:r>
              <a:rPr sz="1500" b="0">
                <a:solidFill>
                  <a:srgbClr val="657888"/>
                </a:solidFill>
              </a:rPr>
              <a:t>positive class, prevalence, FP/FN exposure</a:t>
            </a:r>
          </a:p>
        </p:txBody>
      </p:sp>
      <p:sp>
        <p:nvSpPr>
          <p:cNvPr id="22" name="">
            <a:extLst xmlns:a="http://schemas.openxmlformats.org/drawingml/2006/main">
              <a:ext uri="{FF2B5EF4-FFF2-40B4-BE49-F238E27FC236}">
                <a16:creationId xmlns:a16="http://schemas.microsoft.com/office/drawing/2014/main" id="{FB6F505E-26E0-4565-BA94-64DEC77D1401}"/>
              </a:ext>
            </a:extLst>
          </p:cNvPr>
          <p:cNvSpPr>
            <a:spLocks xmlns:a="http://schemas.openxmlformats.org/drawingml/2006/main" noGrp="1"/>
          </p:cNvSpPr>
          <p:nvPr/>
        </p:nvSpPr>
        <p:spPr>
          <a:xfrm xmlns:a="http://schemas.openxmlformats.org/drawingml/2006/main">
            <a:off x="1428750" y="5324475"/>
            <a:ext cx="714375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08EA842-F540-48C6-8CFD-068C758768C4}"/>
              </a:ext>
            </a:extLst>
          </p:cNvPr>
          <p:cNvSpPr>
            <a:spLocks xmlns:a="http://schemas.openxmlformats.org/drawingml/2006/main" noGrp="1"/>
          </p:cNvSpPr>
          <p:nvPr/>
        </p:nvSpPr>
        <p:spPr>
          <a:xfrm xmlns:a="http://schemas.openxmlformats.org/drawingml/2006/main">
            <a:off x="8905875" y="2143125"/>
            <a:ext cx="2571750" cy="3333750"/>
          </a:xfrm>
          <a:prstGeom xmlns:a="http://schemas.openxmlformats.org/drawingml/2006/main" prst="roundRect">
            <a:avLst>
              <a:gd name="adj" fmla="val 5926"/>
            </a:avLst>
          </a:prstGeom>
          <a:solidFill xmlns:a="http://schemas.openxmlformats.org/drawingml/2006/main">
            <a:srgbClr val="0A1D30"/>
          </a:solidFill>
          <a:ln xmlns:a="http://schemas.openxmlformats.org/drawingml/2006/main" w="0">
            <a:solidFill>
              <a:srgbClr val="0A1D30"/>
            </a:solidFill>
            <a:prstDash val="solid"/>
          </a:ln>
        </p:spPr>
      </p:sp>
      <p:sp>
        <p:nvSpPr>
          <p:cNvPr id="24" name="">
            <a:extLst xmlns:a="http://schemas.openxmlformats.org/drawingml/2006/main">
              <a:ext uri="{FF2B5EF4-FFF2-40B4-BE49-F238E27FC236}">
                <a16:creationId xmlns:a16="http://schemas.microsoft.com/office/drawing/2014/main" id="{486B945F-9E1A-4AB2-BDAF-406737F14009}"/>
              </a:ext>
            </a:extLst>
          </p:cNvPr>
          <p:cNvSpPr>
            <a:spLocks xmlns:a="http://schemas.openxmlformats.org/drawingml/2006/main" noGrp="1"/>
          </p:cNvSpPr>
          <p:nvPr/>
        </p:nvSpPr>
        <p:spPr>
          <a:xfrm xmlns:a="http://schemas.openxmlformats.org/drawingml/2006/main">
            <a:off x="9239250" y="2476500"/>
            <a:ext cx="190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26BFD0"/>
                </a:solidFill>
              </a:defRPr>
            </a:pPr>
            <a:r>
              <a:rPr sz="1650" b="1">
                <a:solidFill>
                  <a:srgbClr val="26BFD0"/>
                </a:solidFill>
              </a:rPr>
              <a:t>SPLIT FIRST</a:t>
            </a:r>
          </a:p>
        </p:txBody>
      </p:sp>
      <p:sp>
        <p:nvSpPr>
          <p:cNvPr id="25" name="">
            <a:extLst xmlns:a="http://schemas.openxmlformats.org/drawingml/2006/main">
              <a:ext uri="{FF2B5EF4-FFF2-40B4-BE49-F238E27FC236}">
                <a16:creationId xmlns:a16="http://schemas.microsoft.com/office/drawing/2014/main" id="{3133594F-B2C3-4CF6-B25F-8772A2BD07DD}"/>
              </a:ext>
            </a:extLst>
          </p:cNvPr>
          <p:cNvSpPr>
            <a:spLocks xmlns:a="http://schemas.openxmlformats.org/drawingml/2006/main" noGrp="1"/>
          </p:cNvSpPr>
          <p:nvPr/>
        </p:nvSpPr>
        <p:spPr>
          <a:xfrm xmlns:a="http://schemas.openxmlformats.org/drawingml/2006/main">
            <a:off x="9239250" y="3095625"/>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AFC4D1"/>
                </a:solidFill>
              </a:defRPr>
            </a:pPr>
            <a:r>
              <a:rPr sz="1425" b="0">
                <a:solidFill>
                  <a:srgbClr val="AFC4D1"/>
                </a:solidFill>
              </a:rPr>
              <a:t>Then fit</a:t>
            </a:r>
          </a:p>
        </p:txBody>
      </p:sp>
      <p:sp>
        <p:nvSpPr>
          <p:cNvPr id="26" name="">
            <a:extLst xmlns:a="http://schemas.openxmlformats.org/drawingml/2006/main">
              <a:ext uri="{FF2B5EF4-FFF2-40B4-BE49-F238E27FC236}">
                <a16:creationId xmlns:a16="http://schemas.microsoft.com/office/drawing/2014/main" id="{1C63AD73-CC05-4FFE-B364-60F033126AB0}"/>
              </a:ext>
            </a:extLst>
          </p:cNvPr>
          <p:cNvSpPr>
            <a:spLocks xmlns:a="http://schemas.openxmlformats.org/drawingml/2006/main" noGrp="1"/>
          </p:cNvSpPr>
          <p:nvPr/>
        </p:nvSpPr>
        <p:spPr>
          <a:xfrm xmlns:a="http://schemas.openxmlformats.org/drawingml/2006/main">
            <a:off x="9239250" y="3476625"/>
            <a:ext cx="1905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FFFFFF"/>
                </a:solidFill>
              </a:defRPr>
            </a:pPr>
            <a:r>
              <a:rPr sz="1875" b="1">
                <a:solidFill>
                  <a:srgbClr val="FFFFFF"/>
                </a:solidFill>
              </a:rPr>
              <a:t>imputation</a:t>
            </a:r>
          </a:p>
          <a:p xmlns:a="http://schemas.openxmlformats.org/drawingml/2006/main">
            <a:pPr algn="ctr">
              <a:defRPr sz="1875" b="1">
                <a:solidFill>
                  <a:srgbClr val="FFFFFF"/>
                </a:solidFill>
              </a:defRPr>
            </a:pPr>
            <a:r>
              <a:rPr sz="1875" b="1">
                <a:solidFill>
                  <a:srgbClr val="FFFFFF"/>
                </a:solidFill>
              </a:rPr>
              <a:t>transforms</a:t>
            </a:r>
          </a:p>
          <a:p xmlns:a="http://schemas.openxmlformats.org/drawingml/2006/main">
            <a:pPr algn="ctr">
              <a:defRPr sz="1875" b="1">
                <a:solidFill>
                  <a:srgbClr val="FFFFFF"/>
                </a:solidFill>
              </a:defRPr>
            </a:pPr>
            <a:r>
              <a:rPr sz="1875" b="1">
                <a:solidFill>
                  <a:srgbClr val="FFFFFF"/>
                </a:solidFill>
              </a:rPr>
              <a:t>selection</a:t>
            </a:r>
          </a:p>
          <a:p xmlns:a="http://schemas.openxmlformats.org/drawingml/2006/main">
            <a:pPr algn="ctr">
              <a:defRPr sz="1875" b="1">
                <a:solidFill>
                  <a:srgbClr val="FFFFFF"/>
                </a:solidFill>
              </a:defRPr>
            </a:pPr>
            <a:r>
              <a:rPr sz="1875" b="1">
                <a:solidFill>
                  <a:srgbClr val="FFFFFF"/>
                </a:solidFill>
              </a:rPr>
              <a:t>calibration</a:t>
            </a:r>
          </a:p>
          <a:p xmlns:a="http://schemas.openxmlformats.org/drawingml/2006/main">
            <a:pPr algn="ctr">
              <a:defRPr sz="1875" b="1">
                <a:solidFill>
                  <a:srgbClr val="FFFFFF"/>
                </a:solidFill>
              </a:defRPr>
            </a:pPr>
            <a:r>
              <a:rPr sz="1875" b="1">
                <a:solidFill>
                  <a:srgbClr val="FFFFFF"/>
                </a:solidFill>
              </a:rPr>
              <a:t>threshold</a:t>
            </a:r>
          </a:p>
        </p:txBody>
      </p:sp>
      <p:sp>
        <p:nvSpPr>
          <p:cNvPr id="27" name="">
            <a:extLst xmlns:a="http://schemas.openxmlformats.org/drawingml/2006/main">
              <a:ext uri="{FF2B5EF4-FFF2-40B4-BE49-F238E27FC236}">
                <a16:creationId xmlns:a16="http://schemas.microsoft.com/office/drawing/2014/main" id="{006F0915-8A45-4180-9965-781AB61ACA63}"/>
              </a:ext>
            </a:extLst>
          </p:cNvPr>
          <p:cNvSpPr>
            <a:spLocks xmlns:a="http://schemas.openxmlformats.org/drawingml/2006/main" noGrp="1"/>
          </p:cNvSpPr>
          <p:nvPr/>
        </p:nvSpPr>
        <p:spPr>
          <a:xfrm xmlns:a="http://schemas.openxmlformats.org/drawingml/2006/main">
            <a:off x="647700" y="6400800"/>
            <a:ext cx="108966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B33AB34-16F5-4AA5-B12E-D6D53074A498}"/>
              </a:ext>
            </a:extLst>
          </p:cNvPr>
          <p:cNvSpPr>
            <a:spLocks xmlns:a="http://schemas.openxmlformats.org/drawingml/2006/main" noGrp="1"/>
          </p:cNvSpPr>
          <p:nvPr/>
        </p:nvSpPr>
        <p:spPr>
          <a:xfrm xmlns:a="http://schemas.openxmlformats.org/drawingml/2006/main">
            <a:off x="647700" y="649605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888"/>
                </a:solidFill>
              </a:defRPr>
            </a:pPr>
            <a:r>
              <a:rPr sz="975" b="0">
                <a:solidFill>
                  <a:srgbClr val="657888"/>
                </a:solidFill>
              </a:rPr>
              <a:t>Never fit preprocessing globally, and never treat a missing code as a real measurement.</a:t>
            </a:r>
          </a:p>
        </p:txBody>
      </p:sp>
      <p:sp>
        <p:nvSpPr>
          <p:cNvPr id="29" name="">
            <a:extLst xmlns:a="http://schemas.openxmlformats.org/drawingml/2006/main">
              <a:ext uri="{FF2B5EF4-FFF2-40B4-BE49-F238E27FC236}">
                <a16:creationId xmlns:a16="http://schemas.microsoft.com/office/drawing/2014/main" id="{75CE418C-CC50-4DCF-B82D-42FB4AC5FF4E}"/>
              </a:ext>
            </a:extLst>
          </p:cNvPr>
          <p:cNvSpPr>
            <a:spLocks xmlns:a="http://schemas.openxmlformats.org/drawingml/2006/main" noGrp="1"/>
          </p:cNvSpPr>
          <p:nvPr/>
        </p:nvSpPr>
        <p:spPr>
          <a:xfrm xmlns:a="http://schemas.openxmlformats.org/drawingml/2006/main">
            <a:off x="10287000" y="64674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0A1D30"/>
                </a:solidFill>
              </a:defRPr>
            </a:pPr>
            <a:r>
              <a:rPr sz="975" b="1">
                <a:solidFill>
                  <a:srgbClr val="0A1D30"/>
                </a:solidFill>
              </a:rPr>
              <a:t>5 / 12</a:t>
            </a:r>
          </a:p>
        </p:txBody>
      </p:sp>
    </p:spTree>
    <p:extLst>
      <p:ext uri="{BB962C8B-B14F-4D97-AF65-F5344CB8AC3E}">
        <p14:creationId xmlns:p14="http://schemas.microsoft.com/office/powerpoint/2010/main" val="1261138438"/>
      </p:ext>
    </p:extLst>
  </p:cSld>
</p:sld>
</file>

<file path=ppt/slides/slide6.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8D7E032B-B2CC-4C81-84DF-CD836499BC1A}"/>
              </a:ext>
            </a:extLst>
          </p:cNvPr>
          <p:cNvSpPr>
            <a:spLocks xmlns:a="http://schemas.openxmlformats.org/drawingml/2006/main" noGrp="1"/>
          </p:cNvSpPr>
          <p:nvPr/>
        </p:nvSpPr>
        <p:spPr>
          <a:xfrm xmlns:a="http://schemas.openxmlformats.org/drawingml/2006/main">
            <a:off x="647700" y="2571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0A1D30"/>
                </a:solidFill>
              </a:defRPr>
            </a:pPr>
            <a:r>
              <a:rPr sz="1050" b="1">
                <a:solidFill>
                  <a:srgbClr val="0A1D30"/>
                </a:solidFill>
              </a:rPr>
              <a:t>DATA SCIENCE METHODS FOR CYBERSECURITY</a:t>
            </a:r>
          </a:p>
        </p:txBody>
      </p:sp>
      <p:sp>
        <p:nvSpPr>
          <p:cNvPr id="2" name="">
            <a:extLst xmlns:a="http://schemas.openxmlformats.org/drawingml/2006/main">
              <a:ext uri="{FF2B5EF4-FFF2-40B4-BE49-F238E27FC236}">
                <a16:creationId xmlns:a16="http://schemas.microsoft.com/office/drawing/2014/main" id="{4939535D-0E7F-4874-9053-E0995338CC70}"/>
              </a:ext>
            </a:extLst>
          </p:cNvPr>
          <p:cNvSpPr>
            <a:spLocks xmlns:a="http://schemas.openxmlformats.org/drawingml/2006/main" noGrp="1"/>
          </p:cNvSpPr>
          <p:nvPr/>
        </p:nvSpPr>
        <p:spPr>
          <a:xfrm xmlns:a="http://schemas.openxmlformats.org/drawingml/2006/main">
            <a:off x="6096000" y="2571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2F6FE4"/>
                </a:solidFill>
              </a:defRPr>
            </a:pPr>
            <a:r>
              <a:rPr sz="1050" b="1">
                <a:solidFill>
                  <a:srgbClr val="2F6FE4"/>
                </a:solidFill>
              </a:rPr>
              <a:t>L2.3 / L3.1  •  REPRESENTATION</a:t>
            </a:r>
          </a:p>
        </p:txBody>
      </p:sp>
      <p:sp>
        <p:nvSpPr>
          <p:cNvPr id="3" name="">
            <a:extLst xmlns:a="http://schemas.openxmlformats.org/drawingml/2006/main">
              <a:ext uri="{FF2B5EF4-FFF2-40B4-BE49-F238E27FC236}">
                <a16:creationId xmlns:a16="http://schemas.microsoft.com/office/drawing/2014/main" id="{8E09BB3A-F4C0-42F8-AD72-BEA10FF071AC}"/>
              </a:ext>
            </a:extLst>
          </p:cNvPr>
          <p:cNvSpPr>
            <a:spLocks xmlns:a="http://schemas.openxmlformats.org/drawingml/2006/main" noGrp="1"/>
          </p:cNvSpPr>
          <p:nvPr/>
        </p:nvSpPr>
        <p:spPr>
          <a:xfrm xmlns:a="http://schemas.openxmlformats.org/drawingml/2006/main">
            <a:off x="10953750" y="22860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657888"/>
                </a:solidFill>
              </a:defRPr>
            </a:pPr>
            <a:r>
              <a:rPr sz="1350" b="1">
                <a:solidFill>
                  <a:srgbClr val="657888"/>
                </a:solidFill>
              </a:rPr>
              <a:t>06</a:t>
            </a:r>
          </a:p>
        </p:txBody>
      </p:sp>
      <p:sp>
        <p:nvSpPr>
          <p:cNvPr id="4" name="">
            <a:extLst xmlns:a="http://schemas.openxmlformats.org/drawingml/2006/main">
              <a:ext uri="{FF2B5EF4-FFF2-40B4-BE49-F238E27FC236}">
                <a16:creationId xmlns:a16="http://schemas.microsoft.com/office/drawing/2014/main" id="{94F20576-FE2F-4090-88A3-ACA80C539D48}"/>
              </a:ext>
            </a:extLst>
          </p:cNvPr>
          <p:cNvSpPr>
            <a:spLocks xmlns:a="http://schemas.openxmlformats.org/drawingml/2006/main" noGrp="1"/>
          </p:cNvSpPr>
          <p:nvPr/>
        </p:nvSpPr>
        <p:spPr>
          <a:xfrm xmlns:a="http://schemas.openxmlformats.org/drawingml/2006/main">
            <a:off x="647700" y="581025"/>
            <a:ext cx="108966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AF0A239-8479-4D8D-9F48-CDB75FE52C89}"/>
              </a:ext>
            </a:extLst>
          </p:cNvPr>
          <p:cNvSpPr>
            <a:spLocks xmlns:a="http://schemas.openxmlformats.org/drawingml/2006/main" noGrp="1"/>
          </p:cNvSpPr>
          <p:nvPr/>
        </p:nvSpPr>
        <p:spPr>
          <a:xfrm xmlns:a="http://schemas.openxmlformats.org/drawingml/2006/main">
            <a:off x="647700" y="762000"/>
            <a:ext cx="10896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0A1D30"/>
                </a:solidFill>
              </a:defRPr>
            </a:pPr>
            <a:r>
              <a:rPr sz="3150" b="1">
                <a:solidFill>
                  <a:srgbClr val="0A1D30"/>
                </a:solidFill>
              </a:rPr>
              <a:t>Feature engineering represents behavior, not keywords</a:t>
            </a:r>
          </a:p>
        </p:txBody>
      </p:sp>
      <p:sp>
        <p:nvSpPr>
          <p:cNvPr id="6" name="">
            <a:extLst xmlns:a="http://schemas.openxmlformats.org/drawingml/2006/main">
              <a:ext uri="{FF2B5EF4-FFF2-40B4-BE49-F238E27FC236}">
                <a16:creationId xmlns:a16="http://schemas.microsoft.com/office/drawing/2014/main" id="{FCF0BC56-01EE-4D58-AD30-5141E37A0F76}"/>
              </a:ext>
            </a:extLst>
          </p:cNvPr>
          <p:cNvSpPr>
            <a:spLocks xmlns:a="http://schemas.openxmlformats.org/drawingml/2006/main" noGrp="1"/>
          </p:cNvSpPr>
          <p:nvPr/>
        </p:nvSpPr>
        <p:spPr>
          <a:xfrm xmlns:a="http://schemas.openxmlformats.org/drawingml/2006/main">
            <a:off x="685800" y="1485900"/>
            <a:ext cx="952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657888"/>
                </a:solidFill>
              </a:defRPr>
            </a:pPr>
            <a:r>
              <a:rPr sz="1725" b="0">
                <a:solidFill>
                  <a:srgbClr val="657888"/>
                </a:solidFill>
              </a:rPr>
              <a:t>Relationships between structural fields carry more meaning than one suspicious token.</a:t>
            </a:r>
          </a:p>
        </p:txBody>
      </p:sp>
      <p:sp>
        <p:nvSpPr>
          <p:cNvPr id="7" name="">
            <a:extLst xmlns:a="http://schemas.openxmlformats.org/drawingml/2006/main">
              <a:ext uri="{FF2B5EF4-FFF2-40B4-BE49-F238E27FC236}">
                <a16:creationId xmlns:a16="http://schemas.microsoft.com/office/drawing/2014/main" id="{3CE6D075-358E-431B-917D-0A5BFB2F380F}"/>
              </a:ext>
            </a:extLst>
          </p:cNvPr>
          <p:cNvSpPr>
            <a:spLocks xmlns:a="http://schemas.openxmlformats.org/drawingml/2006/main" noGrp="1"/>
          </p:cNvSpPr>
          <p:nvPr/>
        </p:nvSpPr>
        <p:spPr>
          <a:xfrm xmlns:a="http://schemas.openxmlformats.org/drawingml/2006/main">
            <a:off x="685800" y="2238375"/>
            <a:ext cx="2428875" cy="3143250"/>
          </a:xfrm>
          <a:prstGeom xmlns:a="http://schemas.openxmlformats.org/drawingml/2006/main" prst="roundRect">
            <a:avLst>
              <a:gd name="adj" fmla="val 6275"/>
            </a:avLst>
          </a:prstGeom>
          <a:solidFill xmlns:a="http://schemas.openxmlformats.org/drawingml/2006/main">
            <a:srgbClr val="0A1D30"/>
          </a:solidFill>
          <a:ln xmlns:a="http://schemas.openxmlformats.org/drawingml/2006/main" w="0">
            <a:solidFill>
              <a:srgbClr val="0A1D30"/>
            </a:solidFill>
            <a:prstDash val="solid"/>
          </a:ln>
        </p:spPr>
      </p:sp>
      <p:sp>
        <p:nvSpPr>
          <p:cNvPr id="8" name="">
            <a:extLst xmlns:a="http://schemas.openxmlformats.org/drawingml/2006/main">
              <a:ext uri="{FF2B5EF4-FFF2-40B4-BE49-F238E27FC236}">
                <a16:creationId xmlns:a16="http://schemas.microsoft.com/office/drawing/2014/main" id="{F8C9B7CF-9832-4B00-B718-D9DBB8DAF5A0}"/>
              </a:ext>
            </a:extLst>
          </p:cNvPr>
          <p:cNvSpPr>
            <a:spLocks xmlns:a="http://schemas.openxmlformats.org/drawingml/2006/main" noGrp="1"/>
          </p:cNvSpPr>
          <p:nvPr/>
        </p:nvSpPr>
        <p:spPr>
          <a:xfrm xmlns:a="http://schemas.openxmlformats.org/drawingml/2006/main">
            <a:off x="971550" y="2571750"/>
            <a:ext cx="1857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FFFFFF"/>
                </a:solidFill>
              </a:defRPr>
            </a:pPr>
            <a:r>
              <a:rPr sz="2250" b="1">
                <a:solidFill>
                  <a:srgbClr val="FFFFFF"/>
                </a:solidFill>
              </a:rPr>
              <a:t>RAW PDF</a:t>
            </a:r>
          </a:p>
          <a:p xmlns:a="http://schemas.openxmlformats.org/drawingml/2006/main">
            <a:pPr algn="ctr">
              <a:defRPr sz="2250" b="1">
                <a:solidFill>
                  <a:srgbClr val="FFFFFF"/>
                </a:solidFill>
              </a:defRPr>
            </a:pPr>
            <a:r>
              <a:rPr sz="2250" b="1">
                <a:solidFill>
                  <a:srgbClr val="FFFFFF"/>
                </a:solidFill>
              </a:rPr>
              <a:t>STRUCTURE</a:t>
            </a:r>
          </a:p>
        </p:txBody>
      </p:sp>
      <p:sp>
        <p:nvSpPr>
          <p:cNvPr id="9" name="">
            <a:extLst xmlns:a="http://schemas.openxmlformats.org/drawingml/2006/main">
              <a:ext uri="{FF2B5EF4-FFF2-40B4-BE49-F238E27FC236}">
                <a16:creationId xmlns:a16="http://schemas.microsoft.com/office/drawing/2014/main" id="{C23DEEB2-8A59-4CD4-8DFC-0AEA6CCAD73A}"/>
              </a:ext>
            </a:extLst>
          </p:cNvPr>
          <p:cNvSpPr>
            <a:spLocks xmlns:a="http://schemas.openxmlformats.org/drawingml/2006/main" noGrp="1"/>
          </p:cNvSpPr>
          <p:nvPr/>
        </p:nvSpPr>
        <p:spPr>
          <a:xfrm xmlns:a="http://schemas.openxmlformats.org/drawingml/2006/main">
            <a:off x="1066800" y="3524250"/>
            <a:ext cx="166687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0">
                <a:solidFill>
                  <a:srgbClr val="B9CCD7"/>
                </a:solidFill>
              </a:defRPr>
            </a:pPr>
            <a:r>
              <a:rPr sz="1650" b="0">
                <a:solidFill>
                  <a:srgbClr val="B9CCD7"/>
                </a:solidFill>
              </a:rPr>
              <a:t>objects</a:t>
            </a:r>
          </a:p>
          <a:p xmlns:a="http://schemas.openxmlformats.org/drawingml/2006/main">
            <a:pPr algn="ctr">
              <a:defRPr sz="1650" b="0">
                <a:solidFill>
                  <a:srgbClr val="B9CCD7"/>
                </a:solidFill>
              </a:defRPr>
            </a:pPr>
            <a:r>
              <a:rPr sz="1650" b="0">
                <a:solidFill>
                  <a:srgbClr val="B9CCD7"/>
                </a:solidFill>
              </a:rPr>
              <a:t>streams</a:t>
            </a:r>
          </a:p>
          <a:p xmlns:a="http://schemas.openxmlformats.org/drawingml/2006/main">
            <a:pPr algn="ctr">
              <a:defRPr sz="1650" b="0">
                <a:solidFill>
                  <a:srgbClr val="B9CCD7"/>
                </a:solidFill>
              </a:defRPr>
            </a:pPr>
            <a:r>
              <a:rPr sz="1650" b="0">
                <a:solidFill>
                  <a:srgbClr val="B9CCD7"/>
                </a:solidFill>
              </a:rPr>
              <a:t>actions</a:t>
            </a:r>
          </a:p>
          <a:p xmlns:a="http://schemas.openxmlformats.org/drawingml/2006/main">
            <a:pPr algn="ctr">
              <a:defRPr sz="1650" b="0">
                <a:solidFill>
                  <a:srgbClr val="B9CCD7"/>
                </a:solidFill>
              </a:defRPr>
            </a:pPr>
            <a:r>
              <a:rPr sz="1650" b="0">
                <a:solidFill>
                  <a:srgbClr val="B9CCD7"/>
                </a:solidFill>
              </a:rPr>
              <a:t>filters</a:t>
            </a:r>
          </a:p>
          <a:p xmlns:a="http://schemas.openxmlformats.org/drawingml/2006/main">
            <a:pPr algn="ctr">
              <a:defRPr sz="1650" b="0">
                <a:solidFill>
                  <a:srgbClr val="B9CCD7"/>
                </a:solidFill>
              </a:defRPr>
            </a:pPr>
            <a:r>
              <a:rPr sz="1650" b="0">
                <a:solidFill>
                  <a:srgbClr val="B9CCD7"/>
                </a:solidFill>
              </a:rPr>
              <a:t>xref</a:t>
            </a:r>
          </a:p>
          <a:p xmlns:a="http://schemas.openxmlformats.org/drawingml/2006/main">
            <a:pPr algn="ctr">
              <a:defRPr sz="1650" b="0">
                <a:solidFill>
                  <a:srgbClr val="B9CCD7"/>
                </a:solidFill>
              </a:defRPr>
            </a:pPr>
            <a:r>
              <a:rPr sz="1650" b="0">
                <a:solidFill>
                  <a:srgbClr val="B9CCD7"/>
                </a:solidFill>
              </a:rPr>
              <a:t>parser state</a:t>
            </a:r>
          </a:p>
        </p:txBody>
      </p:sp>
      <p:sp>
        <p:nvSpPr>
          <p:cNvPr id="10" name="">
            <a:extLst xmlns:a="http://schemas.openxmlformats.org/drawingml/2006/main">
              <a:ext uri="{FF2B5EF4-FFF2-40B4-BE49-F238E27FC236}">
                <a16:creationId xmlns:a16="http://schemas.microsoft.com/office/drawing/2014/main" id="{013F9252-4352-46C0-B3DA-7BA2333DC359}"/>
              </a:ext>
            </a:extLst>
          </p:cNvPr>
          <p:cNvSpPr>
            <a:spLocks xmlns:a="http://schemas.openxmlformats.org/drawingml/2006/main" noGrp="1"/>
          </p:cNvSpPr>
          <p:nvPr/>
        </p:nvSpPr>
        <p:spPr>
          <a:xfrm xmlns:a="http://schemas.openxmlformats.org/drawingml/2006/main">
            <a:off x="3114675" y="3810000"/>
            <a:ext cx="809625" cy="3810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169C0F2-D069-47E7-A313-51F646E8ABF0}"/>
              </a:ext>
            </a:extLst>
          </p:cNvPr>
          <p:cNvSpPr>
            <a:spLocks xmlns:a="http://schemas.openxmlformats.org/drawingml/2006/main" noGrp="1"/>
          </p:cNvSpPr>
          <p:nvPr/>
        </p:nvSpPr>
        <p:spPr>
          <a:xfrm xmlns:a="http://schemas.openxmlformats.org/drawingml/2006/main">
            <a:off x="8286750" y="3810000"/>
            <a:ext cx="809625" cy="3810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EFF343A-94EF-44B0-BDA5-1AF06E7E5AC4}"/>
              </a:ext>
            </a:extLst>
          </p:cNvPr>
          <p:cNvSpPr>
            <a:spLocks xmlns:a="http://schemas.openxmlformats.org/drawingml/2006/main" noGrp="1"/>
          </p:cNvSpPr>
          <p:nvPr/>
        </p:nvSpPr>
        <p:spPr>
          <a:xfrm xmlns:a="http://schemas.openxmlformats.org/drawingml/2006/main">
            <a:off x="3905250" y="2190750"/>
            <a:ext cx="400050" cy="47625"/>
          </a:xfrm>
          <a:prstGeom xmlns:a="http://schemas.openxmlformats.org/drawingml/2006/main" prst="roundRect">
            <a:avLst>
              <a:gd name="adj" fmla="val 50000"/>
            </a:avLst>
          </a:prstGeom>
          <a:solidFill xmlns:a="http://schemas.openxmlformats.org/drawingml/2006/main">
            <a:srgbClr val="2F6FE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E46EF22-EA77-4E51-BEF4-DA16EBE62126}"/>
              </a:ext>
            </a:extLst>
          </p:cNvPr>
          <p:cNvSpPr>
            <a:spLocks xmlns:a="http://schemas.openxmlformats.org/drawingml/2006/main" noGrp="1"/>
          </p:cNvSpPr>
          <p:nvPr/>
        </p:nvSpPr>
        <p:spPr>
          <a:xfrm xmlns:a="http://schemas.openxmlformats.org/drawingml/2006/main">
            <a:off x="3905250" y="2352675"/>
            <a:ext cx="1952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A1D30"/>
                </a:solidFill>
              </a:defRPr>
            </a:pPr>
            <a:r>
              <a:rPr sz="1800" b="1">
                <a:solidFill>
                  <a:srgbClr val="0A1D30"/>
                </a:solidFill>
              </a:rPr>
              <a:t>Scale-stable</a:t>
            </a:r>
          </a:p>
        </p:txBody>
      </p:sp>
      <p:sp>
        <p:nvSpPr>
          <p:cNvPr id="14" name="">
            <a:extLst xmlns:a="http://schemas.openxmlformats.org/drawingml/2006/main">
              <a:ext uri="{FF2B5EF4-FFF2-40B4-BE49-F238E27FC236}">
                <a16:creationId xmlns:a16="http://schemas.microsoft.com/office/drawing/2014/main" id="{7775D243-DD83-44F7-94E8-035C13CCC2A4}"/>
              </a:ext>
            </a:extLst>
          </p:cNvPr>
          <p:cNvSpPr>
            <a:spLocks xmlns:a="http://schemas.openxmlformats.org/drawingml/2006/main" noGrp="1"/>
          </p:cNvSpPr>
          <p:nvPr/>
        </p:nvSpPr>
        <p:spPr>
          <a:xfrm xmlns:a="http://schemas.openxmlformats.org/drawingml/2006/main">
            <a:off x="3905250" y="2743200"/>
            <a:ext cx="1952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57888"/>
                </a:solidFill>
              </a:defRPr>
            </a:pPr>
            <a:r>
              <a:rPr sz="1275" b="0">
                <a:solidFill>
                  <a:srgbClr val="657888"/>
                </a:solidFill>
              </a:rPr>
              <a:t>control heavy tails</a:t>
            </a:r>
          </a:p>
        </p:txBody>
      </p:sp>
      <p:sp>
        <p:nvSpPr>
          <p:cNvPr id="15" name="">
            <a:extLst xmlns:a="http://schemas.openxmlformats.org/drawingml/2006/main">
              <a:ext uri="{FF2B5EF4-FFF2-40B4-BE49-F238E27FC236}">
                <a16:creationId xmlns:a16="http://schemas.microsoft.com/office/drawing/2014/main" id="{AD68BF82-273E-486A-9742-BEB1FFD6D05E}"/>
              </a:ext>
            </a:extLst>
          </p:cNvPr>
          <p:cNvSpPr>
            <a:spLocks xmlns:a="http://schemas.openxmlformats.org/drawingml/2006/main" noGrp="1"/>
          </p:cNvSpPr>
          <p:nvPr/>
        </p:nvSpPr>
        <p:spPr>
          <a:xfrm xmlns:a="http://schemas.openxmlformats.org/drawingml/2006/main">
            <a:off x="6048375" y="2190750"/>
            <a:ext cx="400050" cy="47625"/>
          </a:xfrm>
          <a:prstGeom xmlns:a="http://schemas.openxmlformats.org/drawingml/2006/main" prst="roundRect">
            <a:avLst>
              <a:gd name="adj" fmla="val 50000"/>
            </a:avLst>
          </a:prstGeom>
          <a:solidFill xmlns:a="http://schemas.openxmlformats.org/drawingml/2006/main">
            <a:srgbClr val="1F9D8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64ED296-5225-449E-ADB2-DB2B8F59D443}"/>
              </a:ext>
            </a:extLst>
          </p:cNvPr>
          <p:cNvSpPr>
            <a:spLocks xmlns:a="http://schemas.openxmlformats.org/drawingml/2006/main" noGrp="1"/>
          </p:cNvSpPr>
          <p:nvPr/>
        </p:nvSpPr>
        <p:spPr>
          <a:xfrm xmlns:a="http://schemas.openxmlformats.org/drawingml/2006/main">
            <a:off x="6048375" y="2352675"/>
            <a:ext cx="1952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A1D30"/>
                </a:solidFill>
              </a:defRPr>
            </a:pPr>
            <a:r>
              <a:rPr sz="1800" b="1">
                <a:solidFill>
                  <a:srgbClr val="0A1D30"/>
                </a:solidFill>
              </a:rPr>
              <a:t>Density</a:t>
            </a:r>
          </a:p>
        </p:txBody>
      </p:sp>
      <p:sp>
        <p:nvSpPr>
          <p:cNvPr id="17" name="">
            <a:extLst xmlns:a="http://schemas.openxmlformats.org/drawingml/2006/main">
              <a:ext uri="{FF2B5EF4-FFF2-40B4-BE49-F238E27FC236}">
                <a16:creationId xmlns:a16="http://schemas.microsoft.com/office/drawing/2014/main" id="{EBB6C243-ED83-436A-BEBE-757AA03CA7D6}"/>
              </a:ext>
            </a:extLst>
          </p:cNvPr>
          <p:cNvSpPr>
            <a:spLocks xmlns:a="http://schemas.openxmlformats.org/drawingml/2006/main" noGrp="1"/>
          </p:cNvSpPr>
          <p:nvPr/>
        </p:nvSpPr>
        <p:spPr>
          <a:xfrm xmlns:a="http://schemas.openxmlformats.org/drawingml/2006/main">
            <a:off x="6048375" y="2743200"/>
            <a:ext cx="1952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57888"/>
                </a:solidFill>
              </a:defRPr>
            </a:pPr>
            <a:r>
              <a:rPr sz="1275" b="0">
                <a:solidFill>
                  <a:srgbClr val="657888"/>
                </a:solidFill>
              </a:rPr>
              <a:t>normalize by size or structure</a:t>
            </a:r>
          </a:p>
        </p:txBody>
      </p:sp>
      <p:sp>
        <p:nvSpPr>
          <p:cNvPr id="18" name="">
            <a:extLst xmlns:a="http://schemas.openxmlformats.org/drawingml/2006/main">
              <a:ext uri="{FF2B5EF4-FFF2-40B4-BE49-F238E27FC236}">
                <a16:creationId xmlns:a16="http://schemas.microsoft.com/office/drawing/2014/main" id="{C1015437-DDB0-43A7-9477-00B4E0113B65}"/>
              </a:ext>
            </a:extLst>
          </p:cNvPr>
          <p:cNvSpPr>
            <a:spLocks xmlns:a="http://schemas.openxmlformats.org/drawingml/2006/main" noGrp="1"/>
          </p:cNvSpPr>
          <p:nvPr/>
        </p:nvSpPr>
        <p:spPr>
          <a:xfrm xmlns:a="http://schemas.openxmlformats.org/drawingml/2006/main">
            <a:off x="3905250" y="3257550"/>
            <a:ext cx="400050" cy="47625"/>
          </a:xfrm>
          <a:prstGeom xmlns:a="http://schemas.openxmlformats.org/drawingml/2006/main" prst="roundRect">
            <a:avLst>
              <a:gd name="adj" fmla="val 50000"/>
            </a:avLst>
          </a:prstGeom>
          <a:solidFill xmlns:a="http://schemas.openxmlformats.org/drawingml/2006/main">
            <a:srgbClr val="E5A33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B07431E-3A16-4CA2-A77B-2BB924259122}"/>
              </a:ext>
            </a:extLst>
          </p:cNvPr>
          <p:cNvSpPr>
            <a:spLocks xmlns:a="http://schemas.openxmlformats.org/drawingml/2006/main" noGrp="1"/>
          </p:cNvSpPr>
          <p:nvPr/>
        </p:nvSpPr>
        <p:spPr>
          <a:xfrm xmlns:a="http://schemas.openxmlformats.org/drawingml/2006/main">
            <a:off x="3905250" y="3419475"/>
            <a:ext cx="1952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A1D30"/>
                </a:solidFill>
              </a:defRPr>
            </a:pPr>
            <a:r>
              <a:rPr sz="1800" b="1">
                <a:solidFill>
                  <a:srgbClr val="0A1D30"/>
                </a:solidFill>
              </a:rPr>
              <a:t>Consistency</a:t>
            </a:r>
          </a:p>
        </p:txBody>
      </p:sp>
      <p:sp>
        <p:nvSpPr>
          <p:cNvPr id="20" name="">
            <a:extLst xmlns:a="http://schemas.openxmlformats.org/drawingml/2006/main">
              <a:ext uri="{FF2B5EF4-FFF2-40B4-BE49-F238E27FC236}">
                <a16:creationId xmlns:a16="http://schemas.microsoft.com/office/drawing/2014/main" id="{430C6A18-E306-4EE3-9080-E31AA0C4EEA3}"/>
              </a:ext>
            </a:extLst>
          </p:cNvPr>
          <p:cNvSpPr>
            <a:spLocks xmlns:a="http://schemas.openxmlformats.org/drawingml/2006/main" noGrp="1"/>
          </p:cNvSpPr>
          <p:nvPr/>
        </p:nvSpPr>
        <p:spPr>
          <a:xfrm xmlns:a="http://schemas.openxmlformats.org/drawingml/2006/main">
            <a:off x="3905250" y="3810000"/>
            <a:ext cx="1952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57888"/>
                </a:solidFill>
              </a:defRPr>
            </a:pPr>
            <a:r>
              <a:rPr sz="1275" b="0">
                <a:solidFill>
                  <a:srgbClr val="657888"/>
                </a:solidFill>
              </a:rPr>
              <a:t>compare fields that should agree</a:t>
            </a:r>
          </a:p>
        </p:txBody>
      </p:sp>
      <p:sp>
        <p:nvSpPr>
          <p:cNvPr id="21" name="">
            <a:extLst xmlns:a="http://schemas.openxmlformats.org/drawingml/2006/main">
              <a:ext uri="{FF2B5EF4-FFF2-40B4-BE49-F238E27FC236}">
                <a16:creationId xmlns:a16="http://schemas.microsoft.com/office/drawing/2014/main" id="{CE72870A-17DF-45BE-9B05-D91D373535D9}"/>
              </a:ext>
            </a:extLst>
          </p:cNvPr>
          <p:cNvSpPr>
            <a:spLocks xmlns:a="http://schemas.openxmlformats.org/drawingml/2006/main" noGrp="1"/>
          </p:cNvSpPr>
          <p:nvPr/>
        </p:nvSpPr>
        <p:spPr>
          <a:xfrm xmlns:a="http://schemas.openxmlformats.org/drawingml/2006/main">
            <a:off x="6048375" y="3257550"/>
            <a:ext cx="400050" cy="47625"/>
          </a:xfrm>
          <a:prstGeom xmlns:a="http://schemas.openxmlformats.org/drawingml/2006/main" prst="roundRect">
            <a:avLst>
              <a:gd name="adj" fmla="val 50000"/>
            </a:avLst>
          </a:prstGeom>
          <a:solidFill xmlns:a="http://schemas.openxmlformats.org/drawingml/2006/main">
            <a:srgbClr val="D8656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2828CE1-79B3-4FBD-904C-F8394B2C34A0}"/>
              </a:ext>
            </a:extLst>
          </p:cNvPr>
          <p:cNvSpPr>
            <a:spLocks xmlns:a="http://schemas.openxmlformats.org/drawingml/2006/main" noGrp="1"/>
          </p:cNvSpPr>
          <p:nvPr/>
        </p:nvSpPr>
        <p:spPr>
          <a:xfrm xmlns:a="http://schemas.openxmlformats.org/drawingml/2006/main">
            <a:off x="6048375" y="3419475"/>
            <a:ext cx="1952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A1D30"/>
                </a:solidFill>
              </a:defRPr>
            </a:pPr>
            <a:r>
              <a:rPr sz="1800" b="1">
                <a:solidFill>
                  <a:srgbClr val="0A1D30"/>
                </a:solidFill>
              </a:rPr>
              <a:t>Interaction</a:t>
            </a:r>
          </a:p>
        </p:txBody>
      </p:sp>
      <p:sp>
        <p:nvSpPr>
          <p:cNvPr id="23" name="">
            <a:extLst xmlns:a="http://schemas.openxmlformats.org/drawingml/2006/main">
              <a:ext uri="{FF2B5EF4-FFF2-40B4-BE49-F238E27FC236}">
                <a16:creationId xmlns:a16="http://schemas.microsoft.com/office/drawing/2014/main" id="{EFEF6AF6-9893-4394-A754-148A31EE26E3}"/>
              </a:ext>
            </a:extLst>
          </p:cNvPr>
          <p:cNvSpPr>
            <a:spLocks xmlns:a="http://schemas.openxmlformats.org/drawingml/2006/main" noGrp="1"/>
          </p:cNvSpPr>
          <p:nvPr/>
        </p:nvSpPr>
        <p:spPr>
          <a:xfrm xmlns:a="http://schemas.openxmlformats.org/drawingml/2006/main">
            <a:off x="6048375" y="3810000"/>
            <a:ext cx="1952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57888"/>
                </a:solidFill>
              </a:defRPr>
            </a:pPr>
            <a:r>
              <a:rPr sz="1275" b="0">
                <a:solidFill>
                  <a:srgbClr val="657888"/>
                </a:solidFill>
              </a:rPr>
              <a:t>combine active indicators</a:t>
            </a:r>
          </a:p>
        </p:txBody>
      </p:sp>
      <p:sp>
        <p:nvSpPr>
          <p:cNvPr id="24" name="">
            <a:extLst xmlns:a="http://schemas.openxmlformats.org/drawingml/2006/main">
              <a:ext uri="{FF2B5EF4-FFF2-40B4-BE49-F238E27FC236}">
                <a16:creationId xmlns:a16="http://schemas.microsoft.com/office/drawing/2014/main" id="{227D2DF5-739A-4F9D-B02E-D3AC90C7C66C}"/>
              </a:ext>
            </a:extLst>
          </p:cNvPr>
          <p:cNvSpPr>
            <a:spLocks xmlns:a="http://schemas.openxmlformats.org/drawingml/2006/main" noGrp="1"/>
          </p:cNvSpPr>
          <p:nvPr/>
        </p:nvSpPr>
        <p:spPr>
          <a:xfrm xmlns:a="http://schemas.openxmlformats.org/drawingml/2006/main">
            <a:off x="3905250" y="4324350"/>
            <a:ext cx="400050" cy="47625"/>
          </a:xfrm>
          <a:prstGeom xmlns:a="http://schemas.openxmlformats.org/drawingml/2006/main" prst="roundRect">
            <a:avLst>
              <a:gd name="adj" fmla="val 50000"/>
            </a:avLst>
          </a:prstGeom>
          <a:solidFill xmlns:a="http://schemas.openxmlformats.org/drawingml/2006/main">
            <a:srgbClr val="2F6FE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7179CF9-619F-4038-AE85-38FF5B397F30}"/>
              </a:ext>
            </a:extLst>
          </p:cNvPr>
          <p:cNvSpPr>
            <a:spLocks xmlns:a="http://schemas.openxmlformats.org/drawingml/2006/main" noGrp="1"/>
          </p:cNvSpPr>
          <p:nvPr/>
        </p:nvSpPr>
        <p:spPr>
          <a:xfrm xmlns:a="http://schemas.openxmlformats.org/drawingml/2006/main">
            <a:off x="3905250" y="4486275"/>
            <a:ext cx="1952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A1D30"/>
                </a:solidFill>
              </a:defRPr>
            </a:pPr>
            <a:r>
              <a:rPr sz="1800" b="1">
                <a:solidFill>
                  <a:srgbClr val="0A1D30"/>
                </a:solidFill>
              </a:rPr>
              <a:t>Complexity</a:t>
            </a:r>
          </a:p>
        </p:txBody>
      </p:sp>
      <p:sp>
        <p:nvSpPr>
          <p:cNvPr id="26" name="">
            <a:extLst xmlns:a="http://schemas.openxmlformats.org/drawingml/2006/main">
              <a:ext uri="{FF2B5EF4-FFF2-40B4-BE49-F238E27FC236}">
                <a16:creationId xmlns:a16="http://schemas.microsoft.com/office/drawing/2014/main" id="{62F8D30F-D52F-4E9F-845F-8B1BF130CCF2}"/>
              </a:ext>
            </a:extLst>
          </p:cNvPr>
          <p:cNvSpPr>
            <a:spLocks xmlns:a="http://schemas.openxmlformats.org/drawingml/2006/main" noGrp="1"/>
          </p:cNvSpPr>
          <p:nvPr/>
        </p:nvSpPr>
        <p:spPr>
          <a:xfrm xmlns:a="http://schemas.openxmlformats.org/drawingml/2006/main">
            <a:off x="3905250" y="4876800"/>
            <a:ext cx="1952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57888"/>
                </a:solidFill>
              </a:defRPr>
            </a:pPr>
            <a:r>
              <a:rPr sz="1275" b="0">
                <a:solidFill>
                  <a:srgbClr val="657888"/>
                </a:solidFill>
              </a:rPr>
              <a:t>summarize concentration</a:t>
            </a:r>
          </a:p>
        </p:txBody>
      </p:sp>
      <p:sp>
        <p:nvSpPr>
          <p:cNvPr id="27" name="">
            <a:extLst xmlns:a="http://schemas.openxmlformats.org/drawingml/2006/main">
              <a:ext uri="{FF2B5EF4-FFF2-40B4-BE49-F238E27FC236}">
                <a16:creationId xmlns:a16="http://schemas.microsoft.com/office/drawing/2014/main" id="{406A7F2A-D551-4850-BA82-58EB16C0400C}"/>
              </a:ext>
            </a:extLst>
          </p:cNvPr>
          <p:cNvSpPr>
            <a:spLocks xmlns:a="http://schemas.openxmlformats.org/drawingml/2006/main" noGrp="1"/>
          </p:cNvSpPr>
          <p:nvPr/>
        </p:nvSpPr>
        <p:spPr>
          <a:xfrm xmlns:a="http://schemas.openxmlformats.org/drawingml/2006/main">
            <a:off x="6048375" y="4324350"/>
            <a:ext cx="400050" cy="47625"/>
          </a:xfrm>
          <a:prstGeom xmlns:a="http://schemas.openxmlformats.org/drawingml/2006/main" prst="roundRect">
            <a:avLst>
              <a:gd name="adj" fmla="val 50000"/>
            </a:avLst>
          </a:prstGeom>
          <a:solidFill xmlns:a="http://schemas.openxmlformats.org/drawingml/2006/main">
            <a:srgbClr val="1F9D8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7D4B7B3-5702-4B2A-B78C-766B4D17E5EC}"/>
              </a:ext>
            </a:extLst>
          </p:cNvPr>
          <p:cNvSpPr>
            <a:spLocks xmlns:a="http://schemas.openxmlformats.org/drawingml/2006/main" noGrp="1"/>
          </p:cNvSpPr>
          <p:nvPr/>
        </p:nvSpPr>
        <p:spPr>
          <a:xfrm xmlns:a="http://schemas.openxmlformats.org/drawingml/2006/main">
            <a:off x="6048375" y="4486275"/>
            <a:ext cx="1952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A1D30"/>
                </a:solidFill>
              </a:defRPr>
            </a:pPr>
            <a:r>
              <a:rPr sz="1800" b="1">
                <a:solidFill>
                  <a:srgbClr val="0A1D30"/>
                </a:solidFill>
              </a:rPr>
              <a:t>Parser health</a:t>
            </a:r>
          </a:p>
        </p:txBody>
      </p:sp>
      <p:sp>
        <p:nvSpPr>
          <p:cNvPr id="29" name="">
            <a:extLst xmlns:a="http://schemas.openxmlformats.org/drawingml/2006/main">
              <a:ext uri="{FF2B5EF4-FFF2-40B4-BE49-F238E27FC236}">
                <a16:creationId xmlns:a16="http://schemas.microsoft.com/office/drawing/2014/main" id="{5619B0DD-0F21-488F-A36B-3B67166CBECB}"/>
              </a:ext>
            </a:extLst>
          </p:cNvPr>
          <p:cNvSpPr>
            <a:spLocks xmlns:a="http://schemas.openxmlformats.org/drawingml/2006/main" noGrp="1"/>
          </p:cNvSpPr>
          <p:nvPr/>
        </p:nvSpPr>
        <p:spPr>
          <a:xfrm xmlns:a="http://schemas.openxmlformats.org/drawingml/2006/main">
            <a:off x="6048375" y="4876800"/>
            <a:ext cx="1952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57888"/>
                </a:solidFill>
              </a:defRPr>
            </a:pPr>
            <a:r>
              <a:rPr sz="1275" b="0">
                <a:solidFill>
                  <a:srgbClr val="657888"/>
                </a:solidFill>
              </a:rPr>
              <a:t>expose extraction uncertainty</a:t>
            </a:r>
          </a:p>
        </p:txBody>
      </p:sp>
      <p:sp>
        <p:nvSpPr>
          <p:cNvPr id="30" name="">
            <a:extLst xmlns:a="http://schemas.openxmlformats.org/drawingml/2006/main">
              <a:ext uri="{FF2B5EF4-FFF2-40B4-BE49-F238E27FC236}">
                <a16:creationId xmlns:a16="http://schemas.microsoft.com/office/drawing/2014/main" id="{669477E9-5AB3-454B-9606-EB0C03DB72A6}"/>
              </a:ext>
            </a:extLst>
          </p:cNvPr>
          <p:cNvSpPr>
            <a:spLocks xmlns:a="http://schemas.openxmlformats.org/drawingml/2006/main" noGrp="1"/>
          </p:cNvSpPr>
          <p:nvPr/>
        </p:nvSpPr>
        <p:spPr>
          <a:xfrm xmlns:a="http://schemas.openxmlformats.org/drawingml/2006/main">
            <a:off x="9096375" y="2238375"/>
            <a:ext cx="2428875" cy="3143250"/>
          </a:xfrm>
          <a:prstGeom xmlns:a="http://schemas.openxmlformats.org/drawingml/2006/main" prst="roundRect">
            <a:avLst>
              <a:gd name="adj" fmla="val 6275"/>
            </a:avLst>
          </a:prstGeom>
          <a:solidFill xmlns:a="http://schemas.openxmlformats.org/drawingml/2006/main">
            <a:srgbClr val="E8F0FB"/>
          </a:solidFill>
          <a:ln xmlns:a="http://schemas.openxmlformats.org/drawingml/2006/main" w="19050">
            <a:solidFill>
              <a:srgbClr val="2F6FE4"/>
            </a:solidFill>
            <a:prstDash val="solid"/>
          </a:ln>
        </p:spPr>
      </p:sp>
      <p:sp>
        <p:nvSpPr>
          <p:cNvPr id="31" name="">
            <a:extLst xmlns:a="http://schemas.openxmlformats.org/drawingml/2006/main">
              <a:ext uri="{FF2B5EF4-FFF2-40B4-BE49-F238E27FC236}">
                <a16:creationId xmlns:a16="http://schemas.microsoft.com/office/drawing/2014/main" id="{9DA6A814-61D1-4E99-9B97-1845720E1BC3}"/>
              </a:ext>
            </a:extLst>
          </p:cNvPr>
          <p:cNvSpPr>
            <a:spLocks xmlns:a="http://schemas.openxmlformats.org/drawingml/2006/main" noGrp="1"/>
          </p:cNvSpPr>
          <p:nvPr/>
        </p:nvSpPr>
        <p:spPr>
          <a:xfrm xmlns:a="http://schemas.openxmlformats.org/drawingml/2006/main">
            <a:off x="9382125" y="2714625"/>
            <a:ext cx="1857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325" b="1">
                <a:solidFill>
                  <a:srgbClr val="0A1D30"/>
                </a:solidFill>
              </a:defRPr>
            </a:pPr>
            <a:r>
              <a:rPr sz="2325" b="1">
                <a:solidFill>
                  <a:srgbClr val="0A1D30"/>
                </a:solidFill>
              </a:rPr>
              <a:t>MODEL</a:t>
            </a:r>
          </a:p>
          <a:p xmlns:a="http://schemas.openxmlformats.org/drawingml/2006/main">
            <a:pPr algn="ctr">
              <a:defRPr sz="2325" b="1">
                <a:solidFill>
                  <a:srgbClr val="0A1D30"/>
                </a:solidFill>
              </a:defRPr>
            </a:pPr>
            <a:r>
              <a:rPr sz="2325" b="1">
                <a:solidFill>
                  <a:srgbClr val="0A1D30"/>
                </a:solidFill>
              </a:rPr>
              <a:t>INPUT</a:t>
            </a:r>
          </a:p>
        </p:txBody>
      </p:sp>
      <p:sp>
        <p:nvSpPr>
          <p:cNvPr id="32" name="">
            <a:extLst xmlns:a="http://schemas.openxmlformats.org/drawingml/2006/main">
              <a:ext uri="{FF2B5EF4-FFF2-40B4-BE49-F238E27FC236}">
                <a16:creationId xmlns:a16="http://schemas.microsoft.com/office/drawing/2014/main" id="{EBFAA341-510D-4F15-9E85-F8D5345A2C3C}"/>
              </a:ext>
            </a:extLst>
          </p:cNvPr>
          <p:cNvSpPr>
            <a:spLocks xmlns:a="http://schemas.openxmlformats.org/drawingml/2006/main" noGrp="1"/>
          </p:cNvSpPr>
          <p:nvPr/>
        </p:nvSpPr>
        <p:spPr>
          <a:xfrm xmlns:a="http://schemas.openxmlformats.org/drawingml/2006/main">
            <a:off x="9334500" y="3667125"/>
            <a:ext cx="195262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0">
                <a:solidFill>
                  <a:srgbClr val="173044"/>
                </a:solidFill>
              </a:defRPr>
            </a:pPr>
            <a:r>
              <a:rPr sz="1500" b="0">
                <a:solidFill>
                  <a:srgbClr val="173044"/>
                </a:solidFill>
              </a:rPr>
              <a:t>named lineage</a:t>
            </a:r>
          </a:p>
          <a:p xmlns:a="http://schemas.openxmlformats.org/drawingml/2006/main">
            <a:pPr algn="ctr">
              <a:defRPr sz="1500" b="0">
                <a:solidFill>
                  <a:srgbClr val="173044"/>
                </a:solidFill>
              </a:defRPr>
            </a:pPr>
            <a:r>
              <a:rPr sz="1500" b="0">
                <a:solidFill>
                  <a:srgbClr val="173044"/>
                </a:solidFill>
              </a:rPr>
              <a:t>training-only imputation</a:t>
            </a:r>
          </a:p>
          <a:p xmlns:a="http://schemas.openxmlformats.org/drawingml/2006/main">
            <a:pPr algn="ctr">
              <a:defRPr sz="1500" b="0">
                <a:solidFill>
                  <a:srgbClr val="173044"/>
                </a:solidFill>
              </a:defRPr>
            </a:pPr>
            <a:r>
              <a:rPr sz="1500" b="0">
                <a:solidFill>
                  <a:srgbClr val="173044"/>
                </a:solidFill>
              </a:rPr>
              <a:t>missingness retained</a:t>
            </a:r>
          </a:p>
          <a:p xmlns:a="http://schemas.openxmlformats.org/drawingml/2006/main">
            <a:pPr algn="ctr">
              <a:defRPr sz="1500" b="0">
                <a:solidFill>
                  <a:srgbClr val="173044"/>
                </a:solidFill>
              </a:defRPr>
            </a:pPr>
            <a:r>
              <a:rPr sz="1500" b="0">
                <a:solidFill>
                  <a:srgbClr val="173044"/>
                </a:solidFill>
              </a:rPr>
              <a:t>consistent ordering</a:t>
            </a:r>
          </a:p>
        </p:txBody>
      </p:sp>
      <p:sp>
        <p:nvSpPr>
          <p:cNvPr id="33" name="">
            <a:extLst xmlns:a="http://schemas.openxmlformats.org/drawingml/2006/main">
              <a:ext uri="{FF2B5EF4-FFF2-40B4-BE49-F238E27FC236}">
                <a16:creationId xmlns:a16="http://schemas.microsoft.com/office/drawing/2014/main" id="{CB24D055-D360-4658-A7D1-831297E182A5}"/>
              </a:ext>
            </a:extLst>
          </p:cNvPr>
          <p:cNvSpPr>
            <a:spLocks xmlns:a="http://schemas.openxmlformats.org/drawingml/2006/main" noGrp="1"/>
          </p:cNvSpPr>
          <p:nvPr/>
        </p:nvSpPr>
        <p:spPr>
          <a:xfrm xmlns:a="http://schemas.openxmlformats.org/drawingml/2006/main">
            <a:off x="647700" y="6400800"/>
            <a:ext cx="108966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7CD93E3D-6B28-4F58-BAE3-08F385FCC903}"/>
              </a:ext>
            </a:extLst>
          </p:cNvPr>
          <p:cNvSpPr>
            <a:spLocks xmlns:a="http://schemas.openxmlformats.org/drawingml/2006/main" noGrp="1"/>
          </p:cNvSpPr>
          <p:nvPr/>
        </p:nvSpPr>
        <p:spPr>
          <a:xfrm xmlns:a="http://schemas.openxmlformats.org/drawingml/2006/main">
            <a:off x="647700" y="649605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888"/>
                </a:solidFill>
              </a:defRPr>
            </a:pPr>
            <a:r>
              <a:rPr sz="975" b="0">
                <a:solidFill>
                  <a:srgbClr val="657888"/>
                </a:solidFill>
              </a:rPr>
              <a:t>Feature engineering converts document structure into auditable security signals.</a:t>
            </a:r>
          </a:p>
        </p:txBody>
      </p:sp>
      <p:sp>
        <p:nvSpPr>
          <p:cNvPr id="35" name="">
            <a:extLst xmlns:a="http://schemas.openxmlformats.org/drawingml/2006/main">
              <a:ext uri="{FF2B5EF4-FFF2-40B4-BE49-F238E27FC236}">
                <a16:creationId xmlns:a16="http://schemas.microsoft.com/office/drawing/2014/main" id="{67CA1659-4CE4-4BFF-9A1C-318B8D9DD40B}"/>
              </a:ext>
            </a:extLst>
          </p:cNvPr>
          <p:cNvSpPr>
            <a:spLocks xmlns:a="http://schemas.openxmlformats.org/drawingml/2006/main" noGrp="1"/>
          </p:cNvSpPr>
          <p:nvPr/>
        </p:nvSpPr>
        <p:spPr>
          <a:xfrm xmlns:a="http://schemas.openxmlformats.org/drawingml/2006/main">
            <a:off x="10287000" y="64674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0A1D30"/>
                </a:solidFill>
              </a:defRPr>
            </a:pPr>
            <a:r>
              <a:rPr sz="975" b="1">
                <a:solidFill>
                  <a:srgbClr val="0A1D30"/>
                </a:solidFill>
              </a:rPr>
              <a:t>6 / 12</a:t>
            </a:r>
          </a:p>
        </p:txBody>
      </p:sp>
    </p:spTree>
    <p:extLst>
      <p:ext uri="{BB962C8B-B14F-4D97-AF65-F5344CB8AC3E}">
        <p14:creationId xmlns:p14="http://schemas.microsoft.com/office/powerpoint/2010/main" val="791622582"/>
      </p:ext>
    </p:extLst>
  </p:cSld>
</p:sld>
</file>

<file path=ppt/slides/slide7.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5FF9D17-8E8B-4B25-AE81-F889B4736DC8}"/>
              </a:ext>
            </a:extLst>
          </p:cNvPr>
          <p:cNvSpPr>
            <a:spLocks xmlns:a="http://schemas.openxmlformats.org/drawingml/2006/main" noGrp="1"/>
          </p:cNvSpPr>
          <p:nvPr/>
        </p:nvSpPr>
        <p:spPr>
          <a:xfrm xmlns:a="http://schemas.openxmlformats.org/drawingml/2006/main">
            <a:off x="647700" y="2571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0A1D30"/>
                </a:solidFill>
              </a:defRPr>
            </a:pPr>
            <a:r>
              <a:rPr sz="1050" b="1">
                <a:solidFill>
                  <a:srgbClr val="0A1D30"/>
                </a:solidFill>
              </a:rPr>
              <a:t>DATA SCIENCE METHODS FOR CYBERSECURITY</a:t>
            </a:r>
          </a:p>
        </p:txBody>
      </p:sp>
      <p:sp>
        <p:nvSpPr>
          <p:cNvPr id="2" name="">
            <a:extLst xmlns:a="http://schemas.openxmlformats.org/drawingml/2006/main">
              <a:ext uri="{FF2B5EF4-FFF2-40B4-BE49-F238E27FC236}">
                <a16:creationId xmlns:a16="http://schemas.microsoft.com/office/drawing/2014/main" id="{C0E55808-95F4-47FC-B224-CA19B94A79EC}"/>
              </a:ext>
            </a:extLst>
          </p:cNvPr>
          <p:cNvSpPr>
            <a:spLocks xmlns:a="http://schemas.openxmlformats.org/drawingml/2006/main" noGrp="1"/>
          </p:cNvSpPr>
          <p:nvPr/>
        </p:nvSpPr>
        <p:spPr>
          <a:xfrm xmlns:a="http://schemas.openxmlformats.org/drawingml/2006/main">
            <a:off x="6096000" y="2571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2F6FE4"/>
                </a:solidFill>
              </a:defRPr>
            </a:pPr>
            <a:r>
              <a:rPr sz="1050" b="1">
                <a:solidFill>
                  <a:srgbClr val="2F6FE4"/>
                </a:solidFill>
              </a:rPr>
              <a:t>L1 / L5.3  •  MODEL SELECTION</a:t>
            </a:r>
          </a:p>
        </p:txBody>
      </p:sp>
      <p:sp>
        <p:nvSpPr>
          <p:cNvPr id="3" name="">
            <a:extLst xmlns:a="http://schemas.openxmlformats.org/drawingml/2006/main">
              <a:ext uri="{FF2B5EF4-FFF2-40B4-BE49-F238E27FC236}">
                <a16:creationId xmlns:a16="http://schemas.microsoft.com/office/drawing/2014/main" id="{AE0384C6-6EB3-4EF0-89D4-0ABB6DE3AB7D}"/>
              </a:ext>
            </a:extLst>
          </p:cNvPr>
          <p:cNvSpPr>
            <a:spLocks xmlns:a="http://schemas.openxmlformats.org/drawingml/2006/main" noGrp="1"/>
          </p:cNvSpPr>
          <p:nvPr/>
        </p:nvSpPr>
        <p:spPr>
          <a:xfrm xmlns:a="http://schemas.openxmlformats.org/drawingml/2006/main">
            <a:off x="10953750" y="22860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657888"/>
                </a:solidFill>
              </a:defRPr>
            </a:pPr>
            <a:r>
              <a:rPr sz="1350" b="1">
                <a:solidFill>
                  <a:srgbClr val="657888"/>
                </a:solidFill>
              </a:rPr>
              <a:t>07</a:t>
            </a:r>
          </a:p>
        </p:txBody>
      </p:sp>
      <p:sp>
        <p:nvSpPr>
          <p:cNvPr id="4" name="">
            <a:extLst xmlns:a="http://schemas.openxmlformats.org/drawingml/2006/main">
              <a:ext uri="{FF2B5EF4-FFF2-40B4-BE49-F238E27FC236}">
                <a16:creationId xmlns:a16="http://schemas.microsoft.com/office/drawing/2014/main" id="{52BE3D82-4400-47D4-AF49-4BB287419587}"/>
              </a:ext>
            </a:extLst>
          </p:cNvPr>
          <p:cNvSpPr>
            <a:spLocks xmlns:a="http://schemas.openxmlformats.org/drawingml/2006/main" noGrp="1"/>
          </p:cNvSpPr>
          <p:nvPr/>
        </p:nvSpPr>
        <p:spPr>
          <a:xfrm xmlns:a="http://schemas.openxmlformats.org/drawingml/2006/main">
            <a:off x="647700" y="581025"/>
            <a:ext cx="108966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E8C6612-4858-4895-B8BC-081E0DCB13CF}"/>
              </a:ext>
            </a:extLst>
          </p:cNvPr>
          <p:cNvSpPr>
            <a:spLocks xmlns:a="http://schemas.openxmlformats.org/drawingml/2006/main" noGrp="1"/>
          </p:cNvSpPr>
          <p:nvPr/>
        </p:nvSpPr>
        <p:spPr>
          <a:xfrm xmlns:a="http://schemas.openxmlformats.org/drawingml/2006/main">
            <a:off x="647700" y="762000"/>
            <a:ext cx="10896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0A1D30"/>
                </a:solidFill>
              </a:defRPr>
            </a:pPr>
            <a:r>
              <a:rPr sz="3150" b="1">
                <a:solidFill>
                  <a:srgbClr val="0A1D30"/>
                </a:solidFill>
              </a:rPr>
              <a:t>Model selection follows the tabular evidence</a:t>
            </a:r>
          </a:p>
        </p:txBody>
      </p:sp>
      <p:sp>
        <p:nvSpPr>
          <p:cNvPr id="6" name="">
            <a:extLst xmlns:a="http://schemas.openxmlformats.org/drawingml/2006/main">
              <a:ext uri="{FF2B5EF4-FFF2-40B4-BE49-F238E27FC236}">
                <a16:creationId xmlns:a16="http://schemas.microsoft.com/office/drawing/2014/main" id="{4AB15C9C-78C3-401B-B1DD-CF2DDE46FD43}"/>
              </a:ext>
            </a:extLst>
          </p:cNvPr>
          <p:cNvSpPr>
            <a:spLocks xmlns:a="http://schemas.openxmlformats.org/drawingml/2006/main" noGrp="1"/>
          </p:cNvSpPr>
          <p:nvPr/>
        </p:nvSpPr>
        <p:spPr>
          <a:xfrm xmlns:a="http://schemas.openxmlformats.org/drawingml/2006/main">
            <a:off x="685800" y="1504950"/>
            <a:ext cx="809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657888"/>
                </a:solidFill>
              </a:defRPr>
            </a:pPr>
            <a:r>
              <a:rPr sz="1800" b="0">
                <a:solidFill>
                  <a:srgbClr val="657888"/>
                </a:solidFill>
              </a:rPr>
              <a:t>Complexity is justified only when it adds validated information.</a:t>
            </a:r>
          </a:p>
        </p:txBody>
      </p:sp>
      <p:sp>
        <p:nvSpPr>
          <p:cNvPr id="7" name="">
            <a:extLst xmlns:a="http://schemas.openxmlformats.org/drawingml/2006/main">
              <a:ext uri="{FF2B5EF4-FFF2-40B4-BE49-F238E27FC236}">
                <a16:creationId xmlns:a16="http://schemas.microsoft.com/office/drawing/2014/main" id="{F151F6F7-2B0F-40F9-B38F-61681D60B7EE}"/>
              </a:ext>
            </a:extLst>
          </p:cNvPr>
          <p:cNvSpPr>
            <a:spLocks xmlns:a="http://schemas.openxmlformats.org/drawingml/2006/main" noGrp="1"/>
          </p:cNvSpPr>
          <p:nvPr/>
        </p:nvSpPr>
        <p:spPr>
          <a:xfrm xmlns:a="http://schemas.openxmlformats.org/drawingml/2006/main">
            <a:off x="685800" y="2143125"/>
            <a:ext cx="1047750" cy="57150"/>
          </a:xfrm>
          <a:prstGeom xmlns:a="http://schemas.openxmlformats.org/drawingml/2006/main" prst="roundRect">
            <a:avLst>
              <a:gd name="adj" fmla="val 50000"/>
            </a:avLst>
          </a:prstGeom>
          <a:solidFill xmlns:a="http://schemas.openxmlformats.org/drawingml/2006/main">
            <a:srgbClr val="2F6FE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74547DF-F56D-4102-BA4A-2E289F734DEA}"/>
              </a:ext>
            </a:extLst>
          </p:cNvPr>
          <p:cNvSpPr>
            <a:spLocks xmlns:a="http://schemas.openxmlformats.org/drawingml/2006/main" noGrp="1"/>
          </p:cNvSpPr>
          <p:nvPr/>
        </p:nvSpPr>
        <p:spPr>
          <a:xfrm xmlns:a="http://schemas.openxmlformats.org/drawingml/2006/main">
            <a:off x="685800" y="241935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A1D30"/>
                </a:solidFill>
              </a:defRPr>
            </a:pPr>
            <a:r>
              <a:rPr sz="2250" b="1">
                <a:solidFill>
                  <a:srgbClr val="0A1D30"/>
                </a:solidFill>
              </a:rPr>
              <a:t>Logistic regression</a:t>
            </a:r>
          </a:p>
        </p:txBody>
      </p:sp>
      <p:sp>
        <p:nvSpPr>
          <p:cNvPr id="9" name="">
            <a:extLst xmlns:a="http://schemas.openxmlformats.org/drawingml/2006/main">
              <a:ext uri="{FF2B5EF4-FFF2-40B4-BE49-F238E27FC236}">
                <a16:creationId xmlns:a16="http://schemas.microsoft.com/office/drawing/2014/main" id="{D8F789AF-B87C-41C6-B420-7D3EB0F17E57}"/>
              </a:ext>
            </a:extLst>
          </p:cNvPr>
          <p:cNvSpPr>
            <a:spLocks xmlns:a="http://schemas.openxmlformats.org/drawingml/2006/main" noGrp="1"/>
          </p:cNvSpPr>
          <p:nvPr/>
        </p:nvSpPr>
        <p:spPr>
          <a:xfrm xmlns:a="http://schemas.openxmlformats.org/drawingml/2006/main">
            <a:off x="685800" y="30003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F6FE4"/>
                </a:solidFill>
              </a:defRPr>
            </a:pPr>
            <a:r>
              <a:rPr sz="1350" b="1">
                <a:solidFill>
                  <a:srgbClr val="2F6FE4"/>
                </a:solidFill>
              </a:rPr>
              <a:t>Transparent baseline</a:t>
            </a:r>
          </a:p>
        </p:txBody>
      </p:sp>
      <p:sp>
        <p:nvSpPr>
          <p:cNvPr id="10" name="">
            <a:extLst xmlns:a="http://schemas.openxmlformats.org/drawingml/2006/main">
              <a:ext uri="{FF2B5EF4-FFF2-40B4-BE49-F238E27FC236}">
                <a16:creationId xmlns:a16="http://schemas.microsoft.com/office/drawing/2014/main" id="{D69F91CF-8192-421A-8F9A-3B200546DBE3}"/>
              </a:ext>
            </a:extLst>
          </p:cNvPr>
          <p:cNvSpPr>
            <a:spLocks xmlns:a="http://schemas.openxmlformats.org/drawingml/2006/main" noGrp="1"/>
          </p:cNvSpPr>
          <p:nvPr/>
        </p:nvSpPr>
        <p:spPr>
          <a:xfrm xmlns:a="http://schemas.openxmlformats.org/drawingml/2006/main">
            <a:off x="685800" y="3476625"/>
            <a:ext cx="314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57888"/>
                </a:solidFill>
              </a:defRPr>
            </a:pPr>
            <a:r>
              <a:rPr sz="1500" b="0">
                <a:solidFill>
                  <a:srgbClr val="657888"/>
                </a:solidFill>
              </a:rPr>
              <a:t>Tests whether the signal is mostly linear.</a:t>
            </a:r>
          </a:p>
        </p:txBody>
      </p:sp>
      <p:sp>
        <p:nvSpPr>
          <p:cNvPr id="11" name="">
            <a:extLst xmlns:a="http://schemas.openxmlformats.org/drawingml/2006/main">
              <a:ext uri="{FF2B5EF4-FFF2-40B4-BE49-F238E27FC236}">
                <a16:creationId xmlns:a16="http://schemas.microsoft.com/office/drawing/2014/main" id="{BA361707-F7D0-4CAA-B515-3BA304E4AF5E}"/>
              </a:ext>
            </a:extLst>
          </p:cNvPr>
          <p:cNvSpPr>
            <a:spLocks xmlns:a="http://schemas.openxmlformats.org/drawingml/2006/main" noGrp="1"/>
          </p:cNvSpPr>
          <p:nvPr/>
        </p:nvSpPr>
        <p:spPr>
          <a:xfrm xmlns:a="http://schemas.openxmlformats.org/drawingml/2006/main">
            <a:off x="4324350" y="2143125"/>
            <a:ext cx="1047750" cy="57150"/>
          </a:xfrm>
          <a:prstGeom xmlns:a="http://schemas.openxmlformats.org/drawingml/2006/main" prst="roundRect">
            <a:avLst>
              <a:gd name="adj" fmla="val 50000"/>
            </a:avLst>
          </a:prstGeom>
          <a:solidFill xmlns:a="http://schemas.openxmlformats.org/drawingml/2006/main">
            <a:srgbClr val="1F9D8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A353700-5505-4501-94E5-AB8C573FCB17}"/>
              </a:ext>
            </a:extLst>
          </p:cNvPr>
          <p:cNvSpPr>
            <a:spLocks xmlns:a="http://schemas.openxmlformats.org/drawingml/2006/main" noGrp="1"/>
          </p:cNvSpPr>
          <p:nvPr/>
        </p:nvSpPr>
        <p:spPr>
          <a:xfrm xmlns:a="http://schemas.openxmlformats.org/drawingml/2006/main">
            <a:off x="4324350" y="241935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A1D30"/>
                </a:solidFill>
              </a:defRPr>
            </a:pPr>
            <a:r>
              <a:rPr sz="2250" b="1">
                <a:solidFill>
                  <a:srgbClr val="0A1D30"/>
                </a:solidFill>
              </a:rPr>
              <a:t>Extra Trees</a:t>
            </a:r>
          </a:p>
        </p:txBody>
      </p:sp>
      <p:sp>
        <p:nvSpPr>
          <p:cNvPr id="13" name="">
            <a:extLst xmlns:a="http://schemas.openxmlformats.org/drawingml/2006/main">
              <a:ext uri="{FF2B5EF4-FFF2-40B4-BE49-F238E27FC236}">
                <a16:creationId xmlns:a16="http://schemas.microsoft.com/office/drawing/2014/main" id="{C016E74F-BAFB-4C6F-BD31-47C7844EF789}"/>
              </a:ext>
            </a:extLst>
          </p:cNvPr>
          <p:cNvSpPr>
            <a:spLocks xmlns:a="http://schemas.openxmlformats.org/drawingml/2006/main" noGrp="1"/>
          </p:cNvSpPr>
          <p:nvPr/>
        </p:nvSpPr>
        <p:spPr>
          <a:xfrm xmlns:a="http://schemas.openxmlformats.org/drawingml/2006/main">
            <a:off x="4324350" y="30003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F9D88"/>
                </a:solidFill>
              </a:defRPr>
            </a:pPr>
            <a:r>
              <a:rPr sz="1350" b="1">
                <a:solidFill>
                  <a:srgbClr val="1F9D88"/>
                </a:solidFill>
              </a:rPr>
              <a:t>Selected tabular learner</a:t>
            </a:r>
          </a:p>
        </p:txBody>
      </p:sp>
      <p:sp>
        <p:nvSpPr>
          <p:cNvPr id="14" name="">
            <a:extLst xmlns:a="http://schemas.openxmlformats.org/drawingml/2006/main">
              <a:ext uri="{FF2B5EF4-FFF2-40B4-BE49-F238E27FC236}">
                <a16:creationId xmlns:a16="http://schemas.microsoft.com/office/drawing/2014/main" id="{49D8BC53-2591-488B-822F-DA5A4CA2E8AD}"/>
              </a:ext>
            </a:extLst>
          </p:cNvPr>
          <p:cNvSpPr>
            <a:spLocks xmlns:a="http://schemas.openxmlformats.org/drawingml/2006/main" noGrp="1"/>
          </p:cNvSpPr>
          <p:nvPr/>
        </p:nvSpPr>
        <p:spPr>
          <a:xfrm xmlns:a="http://schemas.openxmlformats.org/drawingml/2006/main">
            <a:off x="4324350" y="3476625"/>
            <a:ext cx="314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57888"/>
                </a:solidFill>
              </a:defRPr>
            </a:pPr>
            <a:r>
              <a:rPr sz="1500" b="0">
                <a:solidFill>
                  <a:srgbClr val="657888"/>
                </a:solidFill>
              </a:rPr>
              <a:t>Captures nonlinear thresholds, interactions, and sparse indicators.</a:t>
            </a:r>
          </a:p>
        </p:txBody>
      </p:sp>
      <p:sp>
        <p:nvSpPr>
          <p:cNvPr id="15" name="">
            <a:extLst xmlns:a="http://schemas.openxmlformats.org/drawingml/2006/main">
              <a:ext uri="{FF2B5EF4-FFF2-40B4-BE49-F238E27FC236}">
                <a16:creationId xmlns:a16="http://schemas.microsoft.com/office/drawing/2014/main" id="{323F50A3-2F7B-4427-AD80-51E73E422203}"/>
              </a:ext>
            </a:extLst>
          </p:cNvPr>
          <p:cNvSpPr>
            <a:spLocks xmlns:a="http://schemas.openxmlformats.org/drawingml/2006/main" noGrp="1"/>
          </p:cNvSpPr>
          <p:nvPr/>
        </p:nvSpPr>
        <p:spPr>
          <a:xfrm xmlns:a="http://schemas.openxmlformats.org/drawingml/2006/main">
            <a:off x="7962900" y="2143125"/>
            <a:ext cx="1047750" cy="57150"/>
          </a:xfrm>
          <a:prstGeom xmlns:a="http://schemas.openxmlformats.org/drawingml/2006/main" prst="roundRect">
            <a:avLst>
              <a:gd name="adj" fmla="val 50000"/>
            </a:avLst>
          </a:prstGeom>
          <a:solidFill xmlns:a="http://schemas.openxmlformats.org/drawingml/2006/main">
            <a:srgbClr val="E5A33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FA53CAC-6563-4329-8CC7-6AC3CE2DC391}"/>
              </a:ext>
            </a:extLst>
          </p:cNvPr>
          <p:cNvSpPr>
            <a:spLocks xmlns:a="http://schemas.openxmlformats.org/drawingml/2006/main" noGrp="1"/>
          </p:cNvSpPr>
          <p:nvPr/>
        </p:nvSpPr>
        <p:spPr>
          <a:xfrm xmlns:a="http://schemas.openxmlformats.org/drawingml/2006/main">
            <a:off x="7962900" y="241935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A1D30"/>
                </a:solidFill>
              </a:defRPr>
            </a:pPr>
            <a:r>
              <a:rPr sz="2250" b="1">
                <a:solidFill>
                  <a:srgbClr val="0A1D30"/>
                </a:solidFill>
              </a:rPr>
              <a:t>Neural controls</a:t>
            </a:r>
          </a:p>
        </p:txBody>
      </p:sp>
      <p:sp>
        <p:nvSpPr>
          <p:cNvPr id="17" name="">
            <a:extLst xmlns:a="http://schemas.openxmlformats.org/drawingml/2006/main">
              <a:ext uri="{FF2B5EF4-FFF2-40B4-BE49-F238E27FC236}">
                <a16:creationId xmlns:a16="http://schemas.microsoft.com/office/drawing/2014/main" id="{653EF57F-CF76-4409-BCCC-27B0A3487428}"/>
              </a:ext>
            </a:extLst>
          </p:cNvPr>
          <p:cNvSpPr>
            <a:spLocks xmlns:a="http://schemas.openxmlformats.org/drawingml/2006/main" noGrp="1"/>
          </p:cNvSpPr>
          <p:nvPr/>
        </p:nvSpPr>
        <p:spPr>
          <a:xfrm xmlns:a="http://schemas.openxmlformats.org/drawingml/2006/main">
            <a:off x="7962900" y="30003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E5A33D"/>
                </a:solidFill>
              </a:defRPr>
            </a:pPr>
            <a:r>
              <a:rPr sz="1350" b="1">
                <a:solidFill>
                  <a:srgbClr val="E5A33D"/>
                </a:solidFill>
              </a:rPr>
              <a:t>MLP + tabular transformer</a:t>
            </a:r>
          </a:p>
        </p:txBody>
      </p:sp>
      <p:sp>
        <p:nvSpPr>
          <p:cNvPr id="18" name="">
            <a:extLst xmlns:a="http://schemas.openxmlformats.org/drawingml/2006/main">
              <a:ext uri="{FF2B5EF4-FFF2-40B4-BE49-F238E27FC236}">
                <a16:creationId xmlns:a16="http://schemas.microsoft.com/office/drawing/2014/main" id="{B51F7E67-7655-4B63-B421-9FDE701EC1D8}"/>
              </a:ext>
            </a:extLst>
          </p:cNvPr>
          <p:cNvSpPr>
            <a:spLocks xmlns:a="http://schemas.openxmlformats.org/drawingml/2006/main" noGrp="1"/>
          </p:cNvSpPr>
          <p:nvPr/>
        </p:nvSpPr>
        <p:spPr>
          <a:xfrm xmlns:a="http://schemas.openxmlformats.org/drawingml/2006/main">
            <a:off x="7962900" y="3476625"/>
            <a:ext cx="314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57888"/>
                </a:solidFill>
              </a:defRPr>
            </a:pPr>
            <a:r>
              <a:rPr sz="1500" b="0">
                <a:solidFill>
                  <a:srgbClr val="657888"/>
                </a:solidFill>
              </a:rPr>
              <a:t>Included for comparison; not assumed to outperform trees.</a:t>
            </a:r>
          </a:p>
        </p:txBody>
      </p:sp>
      <p:sp>
        <p:nvSpPr>
          <p:cNvPr id="19" name="">
            <a:extLst xmlns:a="http://schemas.openxmlformats.org/drawingml/2006/main">
              <a:ext uri="{FF2B5EF4-FFF2-40B4-BE49-F238E27FC236}">
                <a16:creationId xmlns:a16="http://schemas.microsoft.com/office/drawing/2014/main" id="{ED985C49-7C25-4ADE-91E7-208B0B4C34F4}"/>
              </a:ext>
            </a:extLst>
          </p:cNvPr>
          <p:cNvSpPr>
            <a:spLocks xmlns:a="http://schemas.openxmlformats.org/drawingml/2006/main" noGrp="1"/>
          </p:cNvSpPr>
          <p:nvPr/>
        </p:nvSpPr>
        <p:spPr>
          <a:xfrm xmlns:a="http://schemas.openxmlformats.org/drawingml/2006/main">
            <a:off x="685800" y="4667250"/>
            <a:ext cx="107442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49A79DB-C63C-46B6-B36C-AB0ACE1BBB78}"/>
              </a:ext>
            </a:extLst>
          </p:cNvPr>
          <p:cNvSpPr>
            <a:spLocks xmlns:a="http://schemas.openxmlformats.org/drawingml/2006/main" noGrp="1"/>
          </p:cNvSpPr>
          <p:nvPr/>
        </p:nvSpPr>
        <p:spPr>
          <a:xfrm xmlns:a="http://schemas.openxmlformats.org/drawingml/2006/main">
            <a:off x="685800" y="50006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2F6FE4"/>
                </a:solidFill>
              </a:defRPr>
            </a:pPr>
            <a:r>
              <a:rPr sz="1350" b="1">
                <a:solidFill>
                  <a:srgbClr val="2F6FE4"/>
                </a:solidFill>
              </a:rPr>
              <a:t>TRAIN</a:t>
            </a:r>
          </a:p>
        </p:txBody>
      </p:sp>
      <p:sp>
        <p:nvSpPr>
          <p:cNvPr id="21" name="">
            <a:extLst xmlns:a="http://schemas.openxmlformats.org/drawingml/2006/main">
              <a:ext uri="{FF2B5EF4-FFF2-40B4-BE49-F238E27FC236}">
                <a16:creationId xmlns:a16="http://schemas.microsoft.com/office/drawing/2014/main" id="{C1D64627-2D06-4AE9-9392-E36DC842C113}"/>
              </a:ext>
            </a:extLst>
          </p:cNvPr>
          <p:cNvSpPr>
            <a:spLocks xmlns:a="http://schemas.openxmlformats.org/drawingml/2006/main" noGrp="1"/>
          </p:cNvSpPr>
          <p:nvPr/>
        </p:nvSpPr>
        <p:spPr>
          <a:xfrm xmlns:a="http://schemas.openxmlformats.org/drawingml/2006/main">
            <a:off x="685800" y="535305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173044"/>
                </a:solidFill>
              </a:defRPr>
            </a:pPr>
            <a:r>
              <a:rPr sz="1350" b="0">
                <a:solidFill>
                  <a:srgbClr val="173044"/>
                </a:solidFill>
              </a:rPr>
              <a:t>class weighting + fixed seed</a:t>
            </a:r>
          </a:p>
        </p:txBody>
      </p:sp>
      <p:sp>
        <p:nvSpPr>
          <p:cNvPr id="22" name="">
            <a:extLst xmlns:a="http://schemas.openxmlformats.org/drawingml/2006/main">
              <a:ext uri="{FF2B5EF4-FFF2-40B4-BE49-F238E27FC236}">
                <a16:creationId xmlns:a16="http://schemas.microsoft.com/office/drawing/2014/main" id="{5E501F60-D90B-41C7-B7E3-02F1BBBACE95}"/>
              </a:ext>
            </a:extLst>
          </p:cNvPr>
          <p:cNvSpPr>
            <a:spLocks xmlns:a="http://schemas.openxmlformats.org/drawingml/2006/main" noGrp="1"/>
          </p:cNvSpPr>
          <p:nvPr/>
        </p:nvSpPr>
        <p:spPr>
          <a:xfrm xmlns:a="http://schemas.openxmlformats.org/drawingml/2006/main">
            <a:off x="3086100" y="5219700"/>
            <a:ext cx="28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CBD6DE"/>
                </a:solidFill>
              </a:defRPr>
            </a:pPr>
            <a:r>
              <a:rPr sz="2100" b="1">
                <a:solidFill>
                  <a:srgbClr val="CBD6DE"/>
                </a:solidFill>
              </a:rPr>
              <a:t>&gt;</a:t>
            </a:r>
          </a:p>
        </p:txBody>
      </p:sp>
      <p:sp>
        <p:nvSpPr>
          <p:cNvPr id="23" name="">
            <a:extLst xmlns:a="http://schemas.openxmlformats.org/drawingml/2006/main">
              <a:ext uri="{FF2B5EF4-FFF2-40B4-BE49-F238E27FC236}">
                <a16:creationId xmlns:a16="http://schemas.microsoft.com/office/drawing/2014/main" id="{42F696CB-4DE2-4654-A28B-B85D5D19F24F}"/>
              </a:ext>
            </a:extLst>
          </p:cNvPr>
          <p:cNvSpPr>
            <a:spLocks xmlns:a="http://schemas.openxmlformats.org/drawingml/2006/main" noGrp="1"/>
          </p:cNvSpPr>
          <p:nvPr/>
        </p:nvSpPr>
        <p:spPr>
          <a:xfrm xmlns:a="http://schemas.openxmlformats.org/drawingml/2006/main">
            <a:off x="3371850" y="50006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F9D88"/>
                </a:solidFill>
              </a:defRPr>
            </a:pPr>
            <a:r>
              <a:rPr sz="1350" b="1">
                <a:solidFill>
                  <a:srgbClr val="1F9D88"/>
                </a:solidFill>
              </a:rPr>
              <a:t>CALIBRATE</a:t>
            </a:r>
          </a:p>
        </p:txBody>
      </p:sp>
      <p:sp>
        <p:nvSpPr>
          <p:cNvPr id="24" name="">
            <a:extLst xmlns:a="http://schemas.openxmlformats.org/drawingml/2006/main">
              <a:ext uri="{FF2B5EF4-FFF2-40B4-BE49-F238E27FC236}">
                <a16:creationId xmlns:a16="http://schemas.microsoft.com/office/drawing/2014/main" id="{46636053-2382-4E67-82AF-6DCF81B52233}"/>
              </a:ext>
            </a:extLst>
          </p:cNvPr>
          <p:cNvSpPr>
            <a:spLocks xmlns:a="http://schemas.openxmlformats.org/drawingml/2006/main" noGrp="1"/>
          </p:cNvSpPr>
          <p:nvPr/>
        </p:nvSpPr>
        <p:spPr>
          <a:xfrm xmlns:a="http://schemas.openxmlformats.org/drawingml/2006/main">
            <a:off x="3371850" y="535305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173044"/>
                </a:solidFill>
              </a:defRPr>
            </a:pPr>
            <a:r>
              <a:rPr sz="1350" b="0">
                <a:solidFill>
                  <a:srgbClr val="173044"/>
                </a:solidFill>
              </a:rPr>
              <a:t>probability quality</a:t>
            </a:r>
          </a:p>
        </p:txBody>
      </p:sp>
      <p:sp>
        <p:nvSpPr>
          <p:cNvPr id="25" name="">
            <a:extLst xmlns:a="http://schemas.openxmlformats.org/drawingml/2006/main">
              <a:ext uri="{FF2B5EF4-FFF2-40B4-BE49-F238E27FC236}">
                <a16:creationId xmlns:a16="http://schemas.microsoft.com/office/drawing/2014/main" id="{5A380E02-8B86-4BCE-BD38-0D5625457193}"/>
              </a:ext>
            </a:extLst>
          </p:cNvPr>
          <p:cNvSpPr>
            <a:spLocks xmlns:a="http://schemas.openxmlformats.org/drawingml/2006/main" noGrp="1"/>
          </p:cNvSpPr>
          <p:nvPr/>
        </p:nvSpPr>
        <p:spPr>
          <a:xfrm xmlns:a="http://schemas.openxmlformats.org/drawingml/2006/main">
            <a:off x="5772150" y="5219700"/>
            <a:ext cx="28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CBD6DE"/>
                </a:solidFill>
              </a:defRPr>
            </a:pPr>
            <a:r>
              <a:rPr sz="2100" b="1">
                <a:solidFill>
                  <a:srgbClr val="CBD6DE"/>
                </a:solidFill>
              </a:rPr>
              <a:t>&gt;</a:t>
            </a:r>
          </a:p>
        </p:txBody>
      </p:sp>
      <p:sp>
        <p:nvSpPr>
          <p:cNvPr id="26" name="">
            <a:extLst xmlns:a="http://schemas.openxmlformats.org/drawingml/2006/main">
              <a:ext uri="{FF2B5EF4-FFF2-40B4-BE49-F238E27FC236}">
                <a16:creationId xmlns:a16="http://schemas.microsoft.com/office/drawing/2014/main" id="{9584A31C-8555-4DFA-BEA7-3BFEB75B02B7}"/>
              </a:ext>
            </a:extLst>
          </p:cNvPr>
          <p:cNvSpPr>
            <a:spLocks xmlns:a="http://schemas.openxmlformats.org/drawingml/2006/main" noGrp="1"/>
          </p:cNvSpPr>
          <p:nvPr/>
        </p:nvSpPr>
        <p:spPr>
          <a:xfrm xmlns:a="http://schemas.openxmlformats.org/drawingml/2006/main">
            <a:off x="6057900" y="50006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2F6FE4"/>
                </a:solidFill>
              </a:defRPr>
            </a:pPr>
            <a:r>
              <a:rPr sz="1350" b="1">
                <a:solidFill>
                  <a:srgbClr val="2F6FE4"/>
                </a:solidFill>
              </a:rPr>
              <a:t>THRESHOLD</a:t>
            </a:r>
          </a:p>
        </p:txBody>
      </p:sp>
      <p:sp>
        <p:nvSpPr>
          <p:cNvPr id="27" name="">
            <a:extLst xmlns:a="http://schemas.openxmlformats.org/drawingml/2006/main">
              <a:ext uri="{FF2B5EF4-FFF2-40B4-BE49-F238E27FC236}">
                <a16:creationId xmlns:a16="http://schemas.microsoft.com/office/drawing/2014/main" id="{E3C7A2D0-C634-40DD-BE1B-4E1CC4B84E03}"/>
              </a:ext>
            </a:extLst>
          </p:cNvPr>
          <p:cNvSpPr>
            <a:spLocks xmlns:a="http://schemas.openxmlformats.org/drawingml/2006/main" noGrp="1"/>
          </p:cNvSpPr>
          <p:nvPr/>
        </p:nvSpPr>
        <p:spPr>
          <a:xfrm xmlns:a="http://schemas.openxmlformats.org/drawingml/2006/main">
            <a:off x="6057900" y="535305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173044"/>
                </a:solidFill>
              </a:defRPr>
            </a:pPr>
            <a:r>
              <a:rPr sz="1350" b="0">
                <a:solidFill>
                  <a:srgbClr val="173044"/>
                </a:solidFill>
              </a:rPr>
              <a:t>FP/FN cost + capacity</a:t>
            </a:r>
          </a:p>
        </p:txBody>
      </p:sp>
      <p:sp>
        <p:nvSpPr>
          <p:cNvPr id="28" name="">
            <a:extLst xmlns:a="http://schemas.openxmlformats.org/drawingml/2006/main">
              <a:ext uri="{FF2B5EF4-FFF2-40B4-BE49-F238E27FC236}">
                <a16:creationId xmlns:a16="http://schemas.microsoft.com/office/drawing/2014/main" id="{E19109EF-E68B-431F-8EB0-FECC296158B3}"/>
              </a:ext>
            </a:extLst>
          </p:cNvPr>
          <p:cNvSpPr>
            <a:spLocks xmlns:a="http://schemas.openxmlformats.org/drawingml/2006/main" noGrp="1"/>
          </p:cNvSpPr>
          <p:nvPr/>
        </p:nvSpPr>
        <p:spPr>
          <a:xfrm xmlns:a="http://schemas.openxmlformats.org/drawingml/2006/main">
            <a:off x="8458200" y="5219700"/>
            <a:ext cx="28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CBD6DE"/>
                </a:solidFill>
              </a:defRPr>
            </a:pPr>
            <a:r>
              <a:rPr sz="2100" b="1">
                <a:solidFill>
                  <a:srgbClr val="CBD6DE"/>
                </a:solidFill>
              </a:rPr>
              <a:t>&gt;</a:t>
            </a:r>
          </a:p>
        </p:txBody>
      </p:sp>
      <p:sp>
        <p:nvSpPr>
          <p:cNvPr id="29" name="">
            <a:extLst xmlns:a="http://schemas.openxmlformats.org/drawingml/2006/main">
              <a:ext uri="{FF2B5EF4-FFF2-40B4-BE49-F238E27FC236}">
                <a16:creationId xmlns:a16="http://schemas.microsoft.com/office/drawing/2014/main" id="{A21DFC3F-CB49-44DF-8289-9525BF7C7DBE}"/>
              </a:ext>
            </a:extLst>
          </p:cNvPr>
          <p:cNvSpPr>
            <a:spLocks xmlns:a="http://schemas.openxmlformats.org/drawingml/2006/main" noGrp="1"/>
          </p:cNvSpPr>
          <p:nvPr/>
        </p:nvSpPr>
        <p:spPr>
          <a:xfrm xmlns:a="http://schemas.openxmlformats.org/drawingml/2006/main">
            <a:off x="8743950" y="50006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2F6FE4"/>
                </a:solidFill>
              </a:defRPr>
            </a:pPr>
            <a:r>
              <a:rPr sz="1350" b="1">
                <a:solidFill>
                  <a:srgbClr val="2F6FE4"/>
                </a:solidFill>
              </a:rPr>
              <a:t>PACKAGE</a:t>
            </a:r>
          </a:p>
        </p:txBody>
      </p:sp>
      <p:sp>
        <p:nvSpPr>
          <p:cNvPr id="30" name="">
            <a:extLst xmlns:a="http://schemas.openxmlformats.org/drawingml/2006/main">
              <a:ext uri="{FF2B5EF4-FFF2-40B4-BE49-F238E27FC236}">
                <a16:creationId xmlns:a16="http://schemas.microsoft.com/office/drawing/2014/main" id="{5937E5F1-B229-4BE7-BFB4-09B1F6F34F5E}"/>
              </a:ext>
            </a:extLst>
          </p:cNvPr>
          <p:cNvSpPr>
            <a:spLocks xmlns:a="http://schemas.openxmlformats.org/drawingml/2006/main" noGrp="1"/>
          </p:cNvSpPr>
          <p:nvPr/>
        </p:nvSpPr>
        <p:spPr>
          <a:xfrm xmlns:a="http://schemas.openxmlformats.org/drawingml/2006/main">
            <a:off x="8743950" y="535305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173044"/>
                </a:solidFill>
              </a:defRPr>
            </a:pPr>
            <a:r>
              <a:rPr sz="1350" b="0">
                <a:solidFill>
                  <a:srgbClr val="173044"/>
                </a:solidFill>
              </a:rPr>
              <a:t>schema + model + policy</a:t>
            </a:r>
          </a:p>
        </p:txBody>
      </p:sp>
      <p:sp>
        <p:nvSpPr>
          <p:cNvPr id="31" name="">
            <a:extLst xmlns:a="http://schemas.openxmlformats.org/drawingml/2006/main">
              <a:ext uri="{FF2B5EF4-FFF2-40B4-BE49-F238E27FC236}">
                <a16:creationId xmlns:a16="http://schemas.microsoft.com/office/drawing/2014/main" id="{B67CB78D-6BBC-409E-ADEF-139E6D31E9C9}"/>
              </a:ext>
            </a:extLst>
          </p:cNvPr>
          <p:cNvSpPr>
            <a:spLocks xmlns:a="http://schemas.openxmlformats.org/drawingml/2006/main" noGrp="1"/>
          </p:cNvSpPr>
          <p:nvPr/>
        </p:nvSpPr>
        <p:spPr>
          <a:xfrm xmlns:a="http://schemas.openxmlformats.org/drawingml/2006/main">
            <a:off x="647700" y="6400800"/>
            <a:ext cx="108966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D92D1DC-CB28-4376-9048-E3C28EF10408}"/>
              </a:ext>
            </a:extLst>
          </p:cNvPr>
          <p:cNvSpPr>
            <a:spLocks xmlns:a="http://schemas.openxmlformats.org/drawingml/2006/main" noGrp="1"/>
          </p:cNvSpPr>
          <p:nvPr/>
        </p:nvSpPr>
        <p:spPr>
          <a:xfrm xmlns:a="http://schemas.openxmlformats.org/drawingml/2006/main">
            <a:off x="647700" y="649605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888"/>
                </a:solidFill>
              </a:defRPr>
            </a:pPr>
            <a:r>
              <a:rPr sz="975" b="0">
                <a:solidFill>
                  <a:srgbClr val="657888"/>
                </a:solidFill>
              </a:rPr>
              <a:t>The deployed artifact keeps preprocessing, calibrator, threshold, and schema together.</a:t>
            </a:r>
          </a:p>
        </p:txBody>
      </p:sp>
      <p:sp>
        <p:nvSpPr>
          <p:cNvPr id="33" name="">
            <a:extLst xmlns:a="http://schemas.openxmlformats.org/drawingml/2006/main">
              <a:ext uri="{FF2B5EF4-FFF2-40B4-BE49-F238E27FC236}">
                <a16:creationId xmlns:a16="http://schemas.microsoft.com/office/drawing/2014/main" id="{96B3D83A-3D16-4990-A8F7-125A2F6BEDF6}"/>
              </a:ext>
            </a:extLst>
          </p:cNvPr>
          <p:cNvSpPr>
            <a:spLocks xmlns:a="http://schemas.openxmlformats.org/drawingml/2006/main" noGrp="1"/>
          </p:cNvSpPr>
          <p:nvPr/>
        </p:nvSpPr>
        <p:spPr>
          <a:xfrm xmlns:a="http://schemas.openxmlformats.org/drawingml/2006/main">
            <a:off x="10287000" y="64674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0A1D30"/>
                </a:solidFill>
              </a:defRPr>
            </a:pPr>
            <a:r>
              <a:rPr sz="975" b="1">
                <a:solidFill>
                  <a:srgbClr val="0A1D30"/>
                </a:solidFill>
              </a:rPr>
              <a:t>7 / 12</a:t>
            </a:r>
          </a:p>
        </p:txBody>
      </p:sp>
    </p:spTree>
    <p:extLst>
      <p:ext uri="{BB962C8B-B14F-4D97-AF65-F5344CB8AC3E}">
        <p14:creationId xmlns:p14="http://schemas.microsoft.com/office/powerpoint/2010/main" val="1340697175"/>
      </p:ext>
    </p:extLst>
  </p:cSld>
</p:sld>
</file>

<file path=ppt/slides/slide8.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6152B4F-7B4A-47C7-AEF4-2B874D41B601}"/>
              </a:ext>
            </a:extLst>
          </p:cNvPr>
          <p:cNvSpPr>
            <a:spLocks xmlns:a="http://schemas.openxmlformats.org/drawingml/2006/main" noGrp="1"/>
          </p:cNvSpPr>
          <p:nvPr/>
        </p:nvSpPr>
        <p:spPr>
          <a:xfrm xmlns:a="http://schemas.openxmlformats.org/drawingml/2006/main">
            <a:off x="647700" y="2571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0A1D30"/>
                </a:solidFill>
              </a:defRPr>
            </a:pPr>
            <a:r>
              <a:rPr sz="1050" b="1">
                <a:solidFill>
                  <a:srgbClr val="0A1D30"/>
                </a:solidFill>
              </a:rPr>
              <a:t>DATA SCIENCE METHODS FOR CYBERSECURITY</a:t>
            </a:r>
          </a:p>
        </p:txBody>
      </p:sp>
      <p:sp>
        <p:nvSpPr>
          <p:cNvPr id="2" name="">
            <a:extLst xmlns:a="http://schemas.openxmlformats.org/drawingml/2006/main">
              <a:ext uri="{FF2B5EF4-FFF2-40B4-BE49-F238E27FC236}">
                <a16:creationId xmlns:a16="http://schemas.microsoft.com/office/drawing/2014/main" id="{36522388-50D6-46A9-A73D-C9C4778E3E83}"/>
              </a:ext>
            </a:extLst>
          </p:cNvPr>
          <p:cNvSpPr>
            <a:spLocks xmlns:a="http://schemas.openxmlformats.org/drawingml/2006/main" noGrp="1"/>
          </p:cNvSpPr>
          <p:nvPr/>
        </p:nvSpPr>
        <p:spPr>
          <a:xfrm xmlns:a="http://schemas.openxmlformats.org/drawingml/2006/main">
            <a:off x="6096000" y="2571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2F6FE4"/>
                </a:solidFill>
              </a:defRPr>
            </a:pPr>
            <a:r>
              <a:rPr sz="1050" b="1">
                <a:solidFill>
                  <a:srgbClr val="2F6FE4"/>
                </a:solidFill>
              </a:rPr>
              <a:t>L5.3  •  GOODNESS OF FIT + EVALUATION</a:t>
            </a:r>
          </a:p>
        </p:txBody>
      </p:sp>
      <p:sp>
        <p:nvSpPr>
          <p:cNvPr id="3" name="">
            <a:extLst xmlns:a="http://schemas.openxmlformats.org/drawingml/2006/main">
              <a:ext uri="{FF2B5EF4-FFF2-40B4-BE49-F238E27FC236}">
                <a16:creationId xmlns:a16="http://schemas.microsoft.com/office/drawing/2014/main" id="{FE3C8D3A-9663-49EF-B939-28940F3C7881}"/>
              </a:ext>
            </a:extLst>
          </p:cNvPr>
          <p:cNvSpPr>
            <a:spLocks xmlns:a="http://schemas.openxmlformats.org/drawingml/2006/main" noGrp="1"/>
          </p:cNvSpPr>
          <p:nvPr/>
        </p:nvSpPr>
        <p:spPr>
          <a:xfrm xmlns:a="http://schemas.openxmlformats.org/drawingml/2006/main">
            <a:off x="10953750" y="22860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657888"/>
                </a:solidFill>
              </a:defRPr>
            </a:pPr>
            <a:r>
              <a:rPr sz="1350" b="1">
                <a:solidFill>
                  <a:srgbClr val="657888"/>
                </a:solidFill>
              </a:rPr>
              <a:t>08</a:t>
            </a:r>
          </a:p>
        </p:txBody>
      </p:sp>
      <p:sp>
        <p:nvSpPr>
          <p:cNvPr id="4" name="">
            <a:extLst xmlns:a="http://schemas.openxmlformats.org/drawingml/2006/main">
              <a:ext uri="{FF2B5EF4-FFF2-40B4-BE49-F238E27FC236}">
                <a16:creationId xmlns:a16="http://schemas.microsoft.com/office/drawing/2014/main" id="{1D7492BC-85D9-46C8-9A2B-D8F031F5EAC6}"/>
              </a:ext>
            </a:extLst>
          </p:cNvPr>
          <p:cNvSpPr>
            <a:spLocks xmlns:a="http://schemas.openxmlformats.org/drawingml/2006/main" noGrp="1"/>
          </p:cNvSpPr>
          <p:nvPr/>
        </p:nvSpPr>
        <p:spPr>
          <a:xfrm xmlns:a="http://schemas.openxmlformats.org/drawingml/2006/main">
            <a:off x="647700" y="581025"/>
            <a:ext cx="108966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A3A787B-0A5F-43A0-B6EB-23DBDDE8B56D}"/>
              </a:ext>
            </a:extLst>
          </p:cNvPr>
          <p:cNvSpPr>
            <a:spLocks xmlns:a="http://schemas.openxmlformats.org/drawingml/2006/main" noGrp="1"/>
          </p:cNvSpPr>
          <p:nvPr/>
        </p:nvSpPr>
        <p:spPr>
          <a:xfrm xmlns:a="http://schemas.openxmlformats.org/drawingml/2006/main">
            <a:off x="647700" y="762000"/>
            <a:ext cx="10896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0A1D30"/>
                </a:solidFill>
              </a:defRPr>
            </a:pPr>
            <a:r>
              <a:rPr sz="3150" b="1">
                <a:solidFill>
                  <a:srgbClr val="0A1D30"/>
                </a:solidFill>
              </a:rPr>
              <a:t>Performance is interpreted through operational metrics</a:t>
            </a:r>
          </a:p>
        </p:txBody>
      </p:sp>
      <p:sp>
        <p:nvSpPr>
          <p:cNvPr id="6" name="">
            <a:extLst xmlns:a="http://schemas.openxmlformats.org/drawingml/2006/main">
              <a:ext uri="{FF2B5EF4-FFF2-40B4-BE49-F238E27FC236}">
                <a16:creationId xmlns:a16="http://schemas.microsoft.com/office/drawing/2014/main" id="{9DBE0537-F68F-46E6-AE69-CF94F2C397A2}"/>
              </a:ext>
            </a:extLst>
          </p:cNvPr>
          <p:cNvSpPr>
            <a:spLocks xmlns:a="http://schemas.openxmlformats.org/drawingml/2006/main" noGrp="1"/>
          </p:cNvSpPr>
          <p:nvPr/>
        </p:nvSpPr>
        <p:spPr>
          <a:xfrm xmlns:a="http://schemas.openxmlformats.org/drawingml/2006/main">
            <a:off x="685800" y="1857375"/>
            <a:ext cx="3143250" cy="3810000"/>
          </a:xfrm>
          <a:prstGeom xmlns:a="http://schemas.openxmlformats.org/drawingml/2006/main" prst="roundRect">
            <a:avLst>
              <a:gd name="adj" fmla="val 4848"/>
            </a:avLst>
          </a:prstGeom>
          <a:solidFill xmlns:a="http://schemas.openxmlformats.org/drawingml/2006/main">
            <a:srgbClr val="0A1D30"/>
          </a:solidFill>
          <a:ln xmlns:a="http://schemas.openxmlformats.org/drawingml/2006/main" w="0">
            <a:solidFill>
              <a:srgbClr val="0A1D30"/>
            </a:solidFill>
            <a:prstDash val="solid"/>
          </a:ln>
        </p:spPr>
      </p:sp>
      <p:sp>
        <p:nvSpPr>
          <p:cNvPr id="7" name="">
            <a:extLst xmlns:a="http://schemas.openxmlformats.org/drawingml/2006/main">
              <a:ext uri="{FF2B5EF4-FFF2-40B4-BE49-F238E27FC236}">
                <a16:creationId xmlns:a16="http://schemas.microsoft.com/office/drawing/2014/main" id="{8521F1CD-D3D8-47F2-9377-8AF79AC1A8D9}"/>
              </a:ext>
            </a:extLst>
          </p:cNvPr>
          <p:cNvSpPr>
            <a:spLocks xmlns:a="http://schemas.openxmlformats.org/drawingml/2006/main" noGrp="1"/>
          </p:cNvSpPr>
          <p:nvPr/>
        </p:nvSpPr>
        <p:spPr>
          <a:xfrm xmlns:a="http://schemas.openxmlformats.org/drawingml/2006/main">
            <a:off x="971550" y="2362200"/>
            <a:ext cx="2571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5850" b="1">
                <a:solidFill>
                  <a:srgbClr val="26BFD0"/>
                </a:solidFill>
              </a:defRPr>
            </a:pPr>
            <a:r>
              <a:rPr sz="5850" b="1">
                <a:solidFill>
                  <a:srgbClr val="26BFD0"/>
                </a:solidFill>
              </a:rPr>
              <a:t>90%+</a:t>
            </a:r>
          </a:p>
        </p:txBody>
      </p:sp>
      <p:sp>
        <p:nvSpPr>
          <p:cNvPr id="8" name="">
            <a:extLst xmlns:a="http://schemas.openxmlformats.org/drawingml/2006/main">
              <a:ext uri="{FF2B5EF4-FFF2-40B4-BE49-F238E27FC236}">
                <a16:creationId xmlns:a16="http://schemas.microsoft.com/office/drawing/2014/main" id="{AFE587FD-4926-4F05-AB32-9B4C7D188F23}"/>
              </a:ext>
            </a:extLst>
          </p:cNvPr>
          <p:cNvSpPr>
            <a:spLocks xmlns:a="http://schemas.openxmlformats.org/drawingml/2006/main" noGrp="1"/>
          </p:cNvSpPr>
          <p:nvPr/>
        </p:nvSpPr>
        <p:spPr>
          <a:xfrm xmlns:a="http://schemas.openxmlformats.org/drawingml/2006/main">
            <a:off x="1009650" y="3429000"/>
            <a:ext cx="24955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FFFFFF"/>
                </a:solidFill>
              </a:defRPr>
            </a:pPr>
            <a:r>
              <a:rPr sz="1875" b="1">
                <a:solidFill>
                  <a:srgbClr val="FFFFFF"/>
                </a:solidFill>
              </a:rPr>
              <a:t>across core held-out</a:t>
            </a:r>
          </a:p>
          <a:p xmlns:a="http://schemas.openxmlformats.org/drawingml/2006/main">
            <a:pPr algn="ctr">
              <a:defRPr sz="1875" b="1">
                <a:solidFill>
                  <a:srgbClr val="FFFFFF"/>
                </a:solidFill>
              </a:defRPr>
            </a:pPr>
            <a:r>
              <a:rPr sz="1875" b="1">
                <a:solidFill>
                  <a:srgbClr val="FFFFFF"/>
                </a:solidFill>
              </a:rPr>
              <a:t>validation metrics</a:t>
            </a:r>
          </a:p>
        </p:txBody>
      </p:sp>
      <p:sp>
        <p:nvSpPr>
          <p:cNvPr id="9" name="">
            <a:extLst xmlns:a="http://schemas.openxmlformats.org/drawingml/2006/main">
              <a:ext uri="{FF2B5EF4-FFF2-40B4-BE49-F238E27FC236}">
                <a16:creationId xmlns:a16="http://schemas.microsoft.com/office/drawing/2014/main" id="{82332564-6C3E-41C1-8E2D-BBA868DE4FAE}"/>
              </a:ext>
            </a:extLst>
          </p:cNvPr>
          <p:cNvSpPr>
            <a:spLocks xmlns:a="http://schemas.openxmlformats.org/drawingml/2006/main" noGrp="1"/>
          </p:cNvSpPr>
          <p:nvPr/>
        </p:nvSpPr>
        <p:spPr>
          <a:xfrm xmlns:a="http://schemas.openxmlformats.org/drawingml/2006/main">
            <a:off x="1028700" y="4572000"/>
            <a:ext cx="24574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B7CBD7"/>
                </a:solidFill>
              </a:defRPr>
            </a:pPr>
            <a:r>
              <a:rPr sz="1275" b="0">
                <a:solidFill>
                  <a:srgbClr val="B7CBD7"/>
                </a:solidFill>
              </a:rPr>
              <a:t>Conservative summary band</a:t>
            </a:r>
          </a:p>
          <a:p xmlns:a="http://schemas.openxmlformats.org/drawingml/2006/main">
            <a:pPr algn="ctr">
              <a:defRPr sz="1275" b="0">
                <a:solidFill>
                  <a:srgbClr val="B7CBD7"/>
                </a:solidFill>
              </a:defRPr>
            </a:pPr>
            <a:r>
              <a:rPr sz="1275" b="0">
                <a:solidFill>
                  <a:srgbClr val="B7CBD7"/>
                </a:solidFill>
              </a:rPr>
              <a:t>for course-level reporting</a:t>
            </a:r>
          </a:p>
        </p:txBody>
      </p:sp>
      <p:sp>
        <p:nvSpPr>
          <p:cNvPr id="10" name="">
            <a:extLst xmlns:a="http://schemas.openxmlformats.org/drawingml/2006/main">
              <a:ext uri="{FF2B5EF4-FFF2-40B4-BE49-F238E27FC236}">
                <a16:creationId xmlns:a16="http://schemas.microsoft.com/office/drawing/2014/main" id="{6B959D40-438C-4CBA-A184-065CE6716DFA}"/>
              </a:ext>
            </a:extLst>
          </p:cNvPr>
          <p:cNvSpPr>
            <a:spLocks xmlns:a="http://schemas.openxmlformats.org/drawingml/2006/main" noGrp="1"/>
          </p:cNvSpPr>
          <p:nvPr/>
        </p:nvSpPr>
        <p:spPr>
          <a:xfrm xmlns:a="http://schemas.openxmlformats.org/drawingml/2006/main">
            <a:off x="4333875" y="1952625"/>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2F6FE4"/>
                </a:solidFill>
              </a:defRPr>
            </a:pPr>
            <a:r>
              <a:rPr sz="2025" b="1">
                <a:solidFill>
                  <a:srgbClr val="2F6FE4"/>
                </a:solidFill>
              </a:rPr>
              <a:t>Precision</a:t>
            </a:r>
          </a:p>
        </p:txBody>
      </p:sp>
      <p:sp>
        <p:nvSpPr>
          <p:cNvPr id="11" name="">
            <a:extLst xmlns:a="http://schemas.openxmlformats.org/drawingml/2006/main">
              <a:ext uri="{FF2B5EF4-FFF2-40B4-BE49-F238E27FC236}">
                <a16:creationId xmlns:a16="http://schemas.microsoft.com/office/drawing/2014/main" id="{ED84376E-FAFF-4F2D-A299-647AA3D67972}"/>
              </a:ext>
            </a:extLst>
          </p:cNvPr>
          <p:cNvSpPr>
            <a:spLocks xmlns:a="http://schemas.openxmlformats.org/drawingml/2006/main" noGrp="1"/>
          </p:cNvSpPr>
          <p:nvPr/>
        </p:nvSpPr>
        <p:spPr>
          <a:xfrm xmlns:a="http://schemas.openxmlformats.org/drawingml/2006/main">
            <a:off x="6334125" y="19716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A1D30"/>
                </a:solidFill>
              </a:defRPr>
            </a:pPr>
            <a:r>
              <a:rPr sz="1350" b="1">
                <a:solidFill>
                  <a:srgbClr val="0A1D30"/>
                </a:solidFill>
              </a:rPr>
              <a:t>TP / (TP + FP)</a:t>
            </a:r>
          </a:p>
        </p:txBody>
      </p:sp>
      <p:sp>
        <p:nvSpPr>
          <p:cNvPr id="12" name="">
            <a:extLst xmlns:a="http://schemas.openxmlformats.org/drawingml/2006/main">
              <a:ext uri="{FF2B5EF4-FFF2-40B4-BE49-F238E27FC236}">
                <a16:creationId xmlns:a16="http://schemas.microsoft.com/office/drawing/2014/main" id="{34D7F01F-A69E-4098-8676-076A47238E6E}"/>
              </a:ext>
            </a:extLst>
          </p:cNvPr>
          <p:cNvSpPr>
            <a:spLocks xmlns:a="http://schemas.openxmlformats.org/drawingml/2006/main" noGrp="1"/>
          </p:cNvSpPr>
          <p:nvPr/>
        </p:nvSpPr>
        <p:spPr>
          <a:xfrm xmlns:a="http://schemas.openxmlformats.org/drawingml/2006/main">
            <a:off x="8810625" y="1962150"/>
            <a:ext cx="271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657888"/>
                </a:solidFill>
              </a:defRPr>
            </a:pPr>
            <a:r>
              <a:rPr sz="1425" b="0">
                <a:solidFill>
                  <a:srgbClr val="657888"/>
                </a:solidFill>
              </a:rPr>
              <a:t>How many alerts are correct?</a:t>
            </a:r>
          </a:p>
        </p:txBody>
      </p:sp>
      <p:sp>
        <p:nvSpPr>
          <p:cNvPr id="13" name="">
            <a:extLst xmlns:a="http://schemas.openxmlformats.org/drawingml/2006/main">
              <a:ext uri="{FF2B5EF4-FFF2-40B4-BE49-F238E27FC236}">
                <a16:creationId xmlns:a16="http://schemas.microsoft.com/office/drawing/2014/main" id="{B7FD03DA-F984-4685-92D4-E0B76F376BAF}"/>
              </a:ext>
            </a:extLst>
          </p:cNvPr>
          <p:cNvSpPr>
            <a:spLocks xmlns:a="http://schemas.openxmlformats.org/drawingml/2006/main" noGrp="1"/>
          </p:cNvSpPr>
          <p:nvPr/>
        </p:nvSpPr>
        <p:spPr>
          <a:xfrm xmlns:a="http://schemas.openxmlformats.org/drawingml/2006/main">
            <a:off x="4333875" y="2524125"/>
            <a:ext cx="7191375"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EF9A031-70E7-4A9F-B4B8-6A0A09BEA295}"/>
              </a:ext>
            </a:extLst>
          </p:cNvPr>
          <p:cNvSpPr>
            <a:spLocks xmlns:a="http://schemas.openxmlformats.org/drawingml/2006/main" noGrp="1"/>
          </p:cNvSpPr>
          <p:nvPr/>
        </p:nvSpPr>
        <p:spPr>
          <a:xfrm xmlns:a="http://schemas.openxmlformats.org/drawingml/2006/main">
            <a:off x="4333875" y="2886075"/>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F9D88"/>
                </a:solidFill>
              </a:defRPr>
            </a:pPr>
            <a:r>
              <a:rPr sz="2025" b="1">
                <a:solidFill>
                  <a:srgbClr val="1F9D88"/>
                </a:solidFill>
              </a:rPr>
              <a:t>Recall</a:t>
            </a:r>
          </a:p>
        </p:txBody>
      </p:sp>
      <p:sp>
        <p:nvSpPr>
          <p:cNvPr id="15" name="">
            <a:extLst xmlns:a="http://schemas.openxmlformats.org/drawingml/2006/main">
              <a:ext uri="{FF2B5EF4-FFF2-40B4-BE49-F238E27FC236}">
                <a16:creationId xmlns:a16="http://schemas.microsoft.com/office/drawing/2014/main" id="{76371720-5E7C-4011-B8EA-8450942B6AC6}"/>
              </a:ext>
            </a:extLst>
          </p:cNvPr>
          <p:cNvSpPr>
            <a:spLocks xmlns:a="http://schemas.openxmlformats.org/drawingml/2006/main" noGrp="1"/>
          </p:cNvSpPr>
          <p:nvPr/>
        </p:nvSpPr>
        <p:spPr>
          <a:xfrm xmlns:a="http://schemas.openxmlformats.org/drawingml/2006/main">
            <a:off x="6334125" y="29051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A1D30"/>
                </a:solidFill>
              </a:defRPr>
            </a:pPr>
            <a:r>
              <a:rPr sz="1350" b="1">
                <a:solidFill>
                  <a:srgbClr val="0A1D30"/>
                </a:solidFill>
              </a:rPr>
              <a:t>TP / (TP + FN)</a:t>
            </a:r>
          </a:p>
        </p:txBody>
      </p:sp>
      <p:sp>
        <p:nvSpPr>
          <p:cNvPr id="16" name="">
            <a:extLst xmlns:a="http://schemas.openxmlformats.org/drawingml/2006/main">
              <a:ext uri="{FF2B5EF4-FFF2-40B4-BE49-F238E27FC236}">
                <a16:creationId xmlns:a16="http://schemas.microsoft.com/office/drawing/2014/main" id="{114138A5-DCF2-4DF6-83C2-D4CDBF9649F8}"/>
              </a:ext>
            </a:extLst>
          </p:cNvPr>
          <p:cNvSpPr>
            <a:spLocks xmlns:a="http://schemas.openxmlformats.org/drawingml/2006/main" noGrp="1"/>
          </p:cNvSpPr>
          <p:nvPr/>
        </p:nvSpPr>
        <p:spPr>
          <a:xfrm xmlns:a="http://schemas.openxmlformats.org/drawingml/2006/main">
            <a:off x="8810625" y="2895600"/>
            <a:ext cx="271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657888"/>
                </a:solidFill>
              </a:defRPr>
            </a:pPr>
            <a:r>
              <a:rPr sz="1425" b="0">
                <a:solidFill>
                  <a:srgbClr val="657888"/>
                </a:solidFill>
              </a:rPr>
              <a:t>How many threats are found?</a:t>
            </a:r>
          </a:p>
        </p:txBody>
      </p:sp>
      <p:sp>
        <p:nvSpPr>
          <p:cNvPr id="17" name="">
            <a:extLst xmlns:a="http://schemas.openxmlformats.org/drawingml/2006/main">
              <a:ext uri="{FF2B5EF4-FFF2-40B4-BE49-F238E27FC236}">
                <a16:creationId xmlns:a16="http://schemas.microsoft.com/office/drawing/2014/main" id="{F0902694-8511-4EF0-A30B-A0798FEF73A4}"/>
              </a:ext>
            </a:extLst>
          </p:cNvPr>
          <p:cNvSpPr>
            <a:spLocks xmlns:a="http://schemas.openxmlformats.org/drawingml/2006/main" noGrp="1"/>
          </p:cNvSpPr>
          <p:nvPr/>
        </p:nvSpPr>
        <p:spPr>
          <a:xfrm xmlns:a="http://schemas.openxmlformats.org/drawingml/2006/main">
            <a:off x="4333875" y="3457575"/>
            <a:ext cx="7191375"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FA695D8-3365-4B00-B6E7-8A168D3CE99F}"/>
              </a:ext>
            </a:extLst>
          </p:cNvPr>
          <p:cNvSpPr>
            <a:spLocks xmlns:a="http://schemas.openxmlformats.org/drawingml/2006/main" noGrp="1"/>
          </p:cNvSpPr>
          <p:nvPr/>
        </p:nvSpPr>
        <p:spPr>
          <a:xfrm xmlns:a="http://schemas.openxmlformats.org/drawingml/2006/main">
            <a:off x="4333875" y="3819525"/>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E5A33D"/>
                </a:solidFill>
              </a:defRPr>
            </a:pPr>
            <a:r>
              <a:rPr sz="2025" b="1">
                <a:solidFill>
                  <a:srgbClr val="E5A33D"/>
                </a:solidFill>
              </a:rPr>
              <a:t>F1 / F2</a:t>
            </a:r>
          </a:p>
        </p:txBody>
      </p:sp>
      <p:sp>
        <p:nvSpPr>
          <p:cNvPr id="19" name="">
            <a:extLst xmlns:a="http://schemas.openxmlformats.org/drawingml/2006/main">
              <a:ext uri="{FF2B5EF4-FFF2-40B4-BE49-F238E27FC236}">
                <a16:creationId xmlns:a16="http://schemas.microsoft.com/office/drawing/2014/main" id="{E8C36C14-D55F-40C9-8C41-4B249A205AA5}"/>
              </a:ext>
            </a:extLst>
          </p:cNvPr>
          <p:cNvSpPr>
            <a:spLocks xmlns:a="http://schemas.openxmlformats.org/drawingml/2006/main" noGrp="1"/>
          </p:cNvSpPr>
          <p:nvPr/>
        </p:nvSpPr>
        <p:spPr>
          <a:xfrm xmlns:a="http://schemas.openxmlformats.org/drawingml/2006/main">
            <a:off x="6334125" y="38385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A1D30"/>
                </a:solidFill>
              </a:defRPr>
            </a:pPr>
            <a:r>
              <a:rPr sz="1350" b="1">
                <a:solidFill>
                  <a:srgbClr val="0A1D30"/>
                </a:solidFill>
              </a:rPr>
              <a:t>balance of precision + recall</a:t>
            </a:r>
          </a:p>
        </p:txBody>
      </p:sp>
      <p:sp>
        <p:nvSpPr>
          <p:cNvPr id="20" name="">
            <a:extLst xmlns:a="http://schemas.openxmlformats.org/drawingml/2006/main">
              <a:ext uri="{FF2B5EF4-FFF2-40B4-BE49-F238E27FC236}">
                <a16:creationId xmlns:a16="http://schemas.microsoft.com/office/drawing/2014/main" id="{F3BC3FCA-6313-4194-8FDD-A9C45C3572E3}"/>
              </a:ext>
            </a:extLst>
          </p:cNvPr>
          <p:cNvSpPr>
            <a:spLocks xmlns:a="http://schemas.openxmlformats.org/drawingml/2006/main" noGrp="1"/>
          </p:cNvSpPr>
          <p:nvPr/>
        </p:nvSpPr>
        <p:spPr>
          <a:xfrm xmlns:a="http://schemas.openxmlformats.org/drawingml/2006/main">
            <a:off x="8810625" y="3829050"/>
            <a:ext cx="271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657888"/>
                </a:solidFill>
              </a:defRPr>
            </a:pPr>
            <a:r>
              <a:rPr sz="1425" b="0">
                <a:solidFill>
                  <a:srgbClr val="657888"/>
                </a:solidFill>
              </a:rPr>
              <a:t>F2 gives more weight to recall.</a:t>
            </a:r>
          </a:p>
        </p:txBody>
      </p:sp>
      <p:sp>
        <p:nvSpPr>
          <p:cNvPr id="21" name="">
            <a:extLst xmlns:a="http://schemas.openxmlformats.org/drawingml/2006/main">
              <a:ext uri="{FF2B5EF4-FFF2-40B4-BE49-F238E27FC236}">
                <a16:creationId xmlns:a16="http://schemas.microsoft.com/office/drawing/2014/main" id="{8CFB0F23-2F59-4059-8FE2-D7C1A6414B3A}"/>
              </a:ext>
            </a:extLst>
          </p:cNvPr>
          <p:cNvSpPr>
            <a:spLocks xmlns:a="http://schemas.openxmlformats.org/drawingml/2006/main" noGrp="1"/>
          </p:cNvSpPr>
          <p:nvPr/>
        </p:nvSpPr>
        <p:spPr>
          <a:xfrm xmlns:a="http://schemas.openxmlformats.org/drawingml/2006/main">
            <a:off x="4333875" y="4391025"/>
            <a:ext cx="7191375"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A4BC357-207D-4217-A89D-9CA7FD2EAA56}"/>
              </a:ext>
            </a:extLst>
          </p:cNvPr>
          <p:cNvSpPr>
            <a:spLocks xmlns:a="http://schemas.openxmlformats.org/drawingml/2006/main" noGrp="1"/>
          </p:cNvSpPr>
          <p:nvPr/>
        </p:nvSpPr>
        <p:spPr>
          <a:xfrm xmlns:a="http://schemas.openxmlformats.org/drawingml/2006/main">
            <a:off x="4333875" y="4752975"/>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D86565"/>
                </a:solidFill>
              </a:defRPr>
            </a:pPr>
            <a:r>
              <a:rPr sz="2025" b="1">
                <a:solidFill>
                  <a:srgbClr val="D86565"/>
                </a:solidFill>
              </a:rPr>
              <a:t>ROC-AUC</a:t>
            </a:r>
          </a:p>
        </p:txBody>
      </p:sp>
      <p:sp>
        <p:nvSpPr>
          <p:cNvPr id="23" name="">
            <a:extLst xmlns:a="http://schemas.openxmlformats.org/drawingml/2006/main">
              <a:ext uri="{FF2B5EF4-FFF2-40B4-BE49-F238E27FC236}">
                <a16:creationId xmlns:a16="http://schemas.microsoft.com/office/drawing/2014/main" id="{329AF8BE-B22C-479F-A71F-8A741C1FF9D0}"/>
              </a:ext>
            </a:extLst>
          </p:cNvPr>
          <p:cNvSpPr>
            <a:spLocks xmlns:a="http://schemas.openxmlformats.org/drawingml/2006/main" noGrp="1"/>
          </p:cNvSpPr>
          <p:nvPr/>
        </p:nvSpPr>
        <p:spPr>
          <a:xfrm xmlns:a="http://schemas.openxmlformats.org/drawingml/2006/main">
            <a:off x="6334125" y="47720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A1D30"/>
                </a:solidFill>
              </a:defRPr>
            </a:pPr>
            <a:r>
              <a:rPr sz="1350" b="1">
                <a:solidFill>
                  <a:srgbClr val="0A1D30"/>
                </a:solidFill>
              </a:rPr>
              <a:t>ranking across thresholds</a:t>
            </a:r>
          </a:p>
        </p:txBody>
      </p:sp>
      <p:sp>
        <p:nvSpPr>
          <p:cNvPr id="24" name="">
            <a:extLst xmlns:a="http://schemas.openxmlformats.org/drawingml/2006/main">
              <a:ext uri="{FF2B5EF4-FFF2-40B4-BE49-F238E27FC236}">
                <a16:creationId xmlns:a16="http://schemas.microsoft.com/office/drawing/2014/main" id="{7D2D4549-E7A1-40C5-8532-94BAC3FD045D}"/>
              </a:ext>
            </a:extLst>
          </p:cNvPr>
          <p:cNvSpPr>
            <a:spLocks xmlns:a="http://schemas.openxmlformats.org/drawingml/2006/main" noGrp="1"/>
          </p:cNvSpPr>
          <p:nvPr/>
        </p:nvSpPr>
        <p:spPr>
          <a:xfrm xmlns:a="http://schemas.openxmlformats.org/drawingml/2006/main">
            <a:off x="8810625" y="4762500"/>
            <a:ext cx="271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657888"/>
                </a:solidFill>
              </a:defRPr>
            </a:pPr>
            <a:r>
              <a:rPr sz="1425" b="0">
                <a:solidFill>
                  <a:srgbClr val="657888"/>
                </a:solidFill>
              </a:rPr>
              <a:t>Useful for separation, not a policy.</a:t>
            </a:r>
          </a:p>
        </p:txBody>
      </p:sp>
      <p:sp>
        <p:nvSpPr>
          <p:cNvPr id="25" name="">
            <a:extLst xmlns:a="http://schemas.openxmlformats.org/drawingml/2006/main">
              <a:ext uri="{FF2B5EF4-FFF2-40B4-BE49-F238E27FC236}">
                <a16:creationId xmlns:a16="http://schemas.microsoft.com/office/drawing/2014/main" id="{B195F4A7-133B-419B-BD1E-79374B1F9877}"/>
              </a:ext>
            </a:extLst>
          </p:cNvPr>
          <p:cNvSpPr>
            <a:spLocks xmlns:a="http://schemas.openxmlformats.org/drawingml/2006/main" noGrp="1"/>
          </p:cNvSpPr>
          <p:nvPr/>
        </p:nvSpPr>
        <p:spPr>
          <a:xfrm xmlns:a="http://schemas.openxmlformats.org/drawingml/2006/main">
            <a:off x="4333875" y="5324475"/>
            <a:ext cx="7191375"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0340066-AC3F-449A-A78D-9752CF580D2A}"/>
              </a:ext>
            </a:extLst>
          </p:cNvPr>
          <p:cNvSpPr>
            <a:spLocks xmlns:a="http://schemas.openxmlformats.org/drawingml/2006/main" noGrp="1"/>
          </p:cNvSpPr>
          <p:nvPr/>
        </p:nvSpPr>
        <p:spPr>
          <a:xfrm xmlns:a="http://schemas.openxmlformats.org/drawingml/2006/main">
            <a:off x="4333875" y="5715000"/>
            <a:ext cx="7191375" cy="409575"/>
          </a:xfrm>
          <a:prstGeom xmlns:a="http://schemas.openxmlformats.org/drawingml/2006/main" prst="roundRect">
            <a:avLst>
              <a:gd name="adj" fmla="val 18605"/>
            </a:avLst>
          </a:prstGeom>
          <a:solidFill xmlns:a="http://schemas.openxmlformats.org/drawingml/2006/main">
            <a:srgbClr val="F8EEDC"/>
          </a:solidFill>
          <a:ln xmlns:a="http://schemas.openxmlformats.org/drawingml/2006/main" w="9525">
            <a:solidFill>
              <a:srgbClr val="E5A33D"/>
            </a:solidFill>
            <a:prstDash val="solid"/>
          </a:ln>
        </p:spPr>
      </p:sp>
      <p:sp>
        <p:nvSpPr>
          <p:cNvPr id="27" name="">
            <a:extLst xmlns:a="http://schemas.openxmlformats.org/drawingml/2006/main">
              <a:ext uri="{FF2B5EF4-FFF2-40B4-BE49-F238E27FC236}">
                <a16:creationId xmlns:a16="http://schemas.microsoft.com/office/drawing/2014/main" id="{9F4EB644-2A2F-4A58-BC52-025FF3A9213F}"/>
              </a:ext>
            </a:extLst>
          </p:cNvPr>
          <p:cNvSpPr>
            <a:spLocks xmlns:a="http://schemas.openxmlformats.org/drawingml/2006/main" noGrp="1"/>
          </p:cNvSpPr>
          <p:nvPr/>
        </p:nvSpPr>
        <p:spPr>
          <a:xfrm xmlns:a="http://schemas.openxmlformats.org/drawingml/2006/main">
            <a:off x="4524375" y="5791200"/>
            <a:ext cx="6810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0A1D30"/>
                </a:solidFill>
              </a:defRPr>
            </a:pPr>
            <a:r>
              <a:rPr sz="1500" b="1">
                <a:solidFill>
                  <a:srgbClr val="0A1D30"/>
                </a:solidFill>
              </a:rPr>
              <a:t>Threshold = expected prevalence + FP/FN harm + analyst capacity</a:t>
            </a:r>
          </a:p>
        </p:txBody>
      </p:sp>
      <p:sp>
        <p:nvSpPr>
          <p:cNvPr id="28" name="">
            <a:extLst xmlns:a="http://schemas.openxmlformats.org/drawingml/2006/main">
              <a:ext uri="{FF2B5EF4-FFF2-40B4-BE49-F238E27FC236}">
                <a16:creationId xmlns:a16="http://schemas.microsoft.com/office/drawing/2014/main" id="{4251CA8D-CD4D-41DC-B183-D664000655F2}"/>
              </a:ext>
            </a:extLst>
          </p:cNvPr>
          <p:cNvSpPr>
            <a:spLocks xmlns:a="http://schemas.openxmlformats.org/drawingml/2006/main" noGrp="1"/>
          </p:cNvSpPr>
          <p:nvPr/>
        </p:nvSpPr>
        <p:spPr>
          <a:xfrm xmlns:a="http://schemas.openxmlformats.org/drawingml/2006/main">
            <a:off x="647700" y="6400800"/>
            <a:ext cx="108966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DDCF0E6-6EBB-40CE-B3B9-B870EFA364F3}"/>
              </a:ext>
            </a:extLst>
          </p:cNvPr>
          <p:cNvSpPr>
            <a:spLocks xmlns:a="http://schemas.openxmlformats.org/drawingml/2006/main" noGrp="1"/>
          </p:cNvSpPr>
          <p:nvPr/>
        </p:nvSpPr>
        <p:spPr>
          <a:xfrm xmlns:a="http://schemas.openxmlformats.org/drawingml/2006/main">
            <a:off x="647700" y="649605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888"/>
                </a:solidFill>
              </a:defRPr>
            </a:pPr>
            <a:r>
              <a:rPr sz="975" b="0">
                <a:solidFill>
                  <a:srgbClr val="657888"/>
                </a:solidFill>
              </a:rPr>
              <a:t>Accuracy alone is not the story; the positive class and operating threshold must be declared.</a:t>
            </a:r>
          </a:p>
        </p:txBody>
      </p:sp>
      <p:sp>
        <p:nvSpPr>
          <p:cNvPr id="30" name="">
            <a:extLst xmlns:a="http://schemas.openxmlformats.org/drawingml/2006/main">
              <a:ext uri="{FF2B5EF4-FFF2-40B4-BE49-F238E27FC236}">
                <a16:creationId xmlns:a16="http://schemas.microsoft.com/office/drawing/2014/main" id="{D4EF6CA6-09E5-4596-9278-DB702B77F9C6}"/>
              </a:ext>
            </a:extLst>
          </p:cNvPr>
          <p:cNvSpPr>
            <a:spLocks xmlns:a="http://schemas.openxmlformats.org/drawingml/2006/main" noGrp="1"/>
          </p:cNvSpPr>
          <p:nvPr/>
        </p:nvSpPr>
        <p:spPr>
          <a:xfrm xmlns:a="http://schemas.openxmlformats.org/drawingml/2006/main">
            <a:off x="10287000" y="64674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0A1D30"/>
                </a:solidFill>
              </a:defRPr>
            </a:pPr>
            <a:r>
              <a:rPr sz="975" b="1">
                <a:solidFill>
                  <a:srgbClr val="0A1D30"/>
                </a:solidFill>
              </a:rPr>
              <a:t>8 / 12</a:t>
            </a:r>
          </a:p>
        </p:txBody>
      </p:sp>
    </p:spTree>
    <p:extLst>
      <p:ext uri="{BB962C8B-B14F-4D97-AF65-F5344CB8AC3E}">
        <p14:creationId xmlns:p14="http://schemas.microsoft.com/office/powerpoint/2010/main" val="493348347"/>
      </p:ext>
    </p:extLst>
  </p:cSld>
</p:sld>
</file>

<file path=ppt/slides/slide9.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681927B9-65EB-4915-8172-5128D057B40B}"/>
              </a:ext>
            </a:extLst>
          </p:cNvPr>
          <p:cNvSpPr>
            <a:spLocks xmlns:a="http://schemas.openxmlformats.org/drawingml/2006/main" noGrp="1"/>
          </p:cNvSpPr>
          <p:nvPr/>
        </p:nvSpPr>
        <p:spPr>
          <a:xfrm xmlns:a="http://schemas.openxmlformats.org/drawingml/2006/main">
            <a:off x="647700" y="2571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0A1D30"/>
                </a:solidFill>
              </a:defRPr>
            </a:pPr>
            <a:r>
              <a:rPr sz="1050" b="1">
                <a:solidFill>
                  <a:srgbClr val="0A1D30"/>
                </a:solidFill>
              </a:rPr>
              <a:t>DATA SCIENCE METHODS FOR CYBERSECURITY</a:t>
            </a:r>
          </a:p>
        </p:txBody>
      </p:sp>
      <p:sp>
        <p:nvSpPr>
          <p:cNvPr id="2" name="">
            <a:extLst xmlns:a="http://schemas.openxmlformats.org/drawingml/2006/main">
              <a:ext uri="{FF2B5EF4-FFF2-40B4-BE49-F238E27FC236}">
                <a16:creationId xmlns:a16="http://schemas.microsoft.com/office/drawing/2014/main" id="{674982E2-8C14-45EF-92AC-7CD22587EF13}"/>
              </a:ext>
            </a:extLst>
          </p:cNvPr>
          <p:cNvSpPr>
            <a:spLocks xmlns:a="http://schemas.openxmlformats.org/drawingml/2006/main" noGrp="1"/>
          </p:cNvSpPr>
          <p:nvPr/>
        </p:nvSpPr>
        <p:spPr>
          <a:xfrm xmlns:a="http://schemas.openxmlformats.org/drawingml/2006/main">
            <a:off x="6096000" y="2571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2F6FE4"/>
                </a:solidFill>
              </a:defRPr>
            </a:pPr>
            <a:r>
              <a:rPr sz="1050" b="1">
                <a:solidFill>
                  <a:srgbClr val="2F6FE4"/>
                </a:solidFill>
              </a:rPr>
              <a:t>L8.1 / L2.2  •  EXPLAINABILITY + SOC</a:t>
            </a:r>
          </a:p>
        </p:txBody>
      </p:sp>
      <p:sp>
        <p:nvSpPr>
          <p:cNvPr id="3" name="">
            <a:extLst xmlns:a="http://schemas.openxmlformats.org/drawingml/2006/main">
              <a:ext uri="{FF2B5EF4-FFF2-40B4-BE49-F238E27FC236}">
                <a16:creationId xmlns:a16="http://schemas.microsoft.com/office/drawing/2014/main" id="{C5D7D1B5-DC42-47E6-84C3-02E1BFC8ECE1}"/>
              </a:ext>
            </a:extLst>
          </p:cNvPr>
          <p:cNvSpPr>
            <a:spLocks xmlns:a="http://schemas.openxmlformats.org/drawingml/2006/main" noGrp="1"/>
          </p:cNvSpPr>
          <p:nvPr/>
        </p:nvSpPr>
        <p:spPr>
          <a:xfrm xmlns:a="http://schemas.openxmlformats.org/drawingml/2006/main">
            <a:off x="10953750" y="22860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657888"/>
                </a:solidFill>
              </a:defRPr>
            </a:pPr>
            <a:r>
              <a:rPr sz="1350" b="1">
                <a:solidFill>
                  <a:srgbClr val="657888"/>
                </a:solidFill>
              </a:rPr>
              <a:t>09</a:t>
            </a:r>
          </a:p>
        </p:txBody>
      </p:sp>
      <p:sp>
        <p:nvSpPr>
          <p:cNvPr id="4" name="">
            <a:extLst xmlns:a="http://schemas.openxmlformats.org/drawingml/2006/main">
              <a:ext uri="{FF2B5EF4-FFF2-40B4-BE49-F238E27FC236}">
                <a16:creationId xmlns:a16="http://schemas.microsoft.com/office/drawing/2014/main" id="{163C67B4-F602-4753-92B7-B3000B7FA80C}"/>
              </a:ext>
            </a:extLst>
          </p:cNvPr>
          <p:cNvSpPr>
            <a:spLocks xmlns:a="http://schemas.openxmlformats.org/drawingml/2006/main" noGrp="1"/>
          </p:cNvSpPr>
          <p:nvPr/>
        </p:nvSpPr>
        <p:spPr>
          <a:xfrm xmlns:a="http://schemas.openxmlformats.org/drawingml/2006/main">
            <a:off x="647700" y="581025"/>
            <a:ext cx="108966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DE5C154-DC4E-4D25-9957-4C6D89B61DAE}"/>
              </a:ext>
            </a:extLst>
          </p:cNvPr>
          <p:cNvSpPr>
            <a:spLocks xmlns:a="http://schemas.openxmlformats.org/drawingml/2006/main" noGrp="1"/>
          </p:cNvSpPr>
          <p:nvPr/>
        </p:nvSpPr>
        <p:spPr>
          <a:xfrm xmlns:a="http://schemas.openxmlformats.org/drawingml/2006/main">
            <a:off x="647700" y="762000"/>
            <a:ext cx="10896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0A1D30"/>
                </a:solidFill>
              </a:defRPr>
            </a:pPr>
            <a:r>
              <a:rPr sz="3150" b="1">
                <a:solidFill>
                  <a:srgbClr val="0A1D30"/>
                </a:solidFill>
              </a:rPr>
              <a:t>Explainability turns a score into an investigation</a:t>
            </a:r>
          </a:p>
        </p:txBody>
      </p:sp>
      <p:sp>
        <p:nvSpPr>
          <p:cNvPr id="6" name="">
            <a:extLst xmlns:a="http://schemas.openxmlformats.org/drawingml/2006/main">
              <a:ext uri="{FF2B5EF4-FFF2-40B4-BE49-F238E27FC236}">
                <a16:creationId xmlns:a16="http://schemas.microsoft.com/office/drawing/2014/main" id="{81A6816D-013C-4EBA-98FA-37445F4E8592}"/>
              </a:ext>
            </a:extLst>
          </p:cNvPr>
          <p:cNvSpPr>
            <a:spLocks xmlns:a="http://schemas.openxmlformats.org/drawingml/2006/main" noGrp="1"/>
          </p:cNvSpPr>
          <p:nvPr/>
        </p:nvSpPr>
        <p:spPr>
          <a:xfrm xmlns:a="http://schemas.openxmlformats.org/drawingml/2006/main">
            <a:off x="685800" y="1504950"/>
            <a:ext cx="952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657888"/>
                </a:solidFill>
              </a:defRPr>
            </a:pPr>
            <a:r>
              <a:rPr sz="1725" b="0">
                <a:solidFill>
                  <a:srgbClr val="657888"/>
                </a:solidFill>
              </a:rPr>
              <a:t>The interface separates file facts from model attribution before recommending action.</a:t>
            </a:r>
          </a:p>
        </p:txBody>
      </p:sp>
      <p:sp>
        <p:nvSpPr>
          <p:cNvPr id="7" name="">
            <a:extLst xmlns:a="http://schemas.openxmlformats.org/drawingml/2006/main">
              <a:ext uri="{FF2B5EF4-FFF2-40B4-BE49-F238E27FC236}">
                <a16:creationId xmlns:a16="http://schemas.microsoft.com/office/drawing/2014/main" id="{3B23FABF-FD6D-4A5D-8B8F-8D284355F182}"/>
              </a:ext>
            </a:extLst>
          </p:cNvPr>
          <p:cNvSpPr>
            <a:spLocks xmlns:a="http://schemas.openxmlformats.org/drawingml/2006/main" noGrp="1"/>
          </p:cNvSpPr>
          <p:nvPr/>
        </p:nvSpPr>
        <p:spPr>
          <a:xfrm xmlns:a="http://schemas.openxmlformats.org/drawingml/2006/main">
            <a:off x="2476500" y="3276600"/>
            <a:ext cx="1238250" cy="3810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31A656D-E92B-44ED-B324-6854CC46D969}"/>
              </a:ext>
            </a:extLst>
          </p:cNvPr>
          <p:cNvSpPr>
            <a:spLocks xmlns:a="http://schemas.openxmlformats.org/drawingml/2006/main" noGrp="1"/>
          </p:cNvSpPr>
          <p:nvPr/>
        </p:nvSpPr>
        <p:spPr>
          <a:xfrm xmlns:a="http://schemas.openxmlformats.org/drawingml/2006/main">
            <a:off x="6524625" y="3276600"/>
            <a:ext cx="1238250" cy="3810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6F5B1AE-0C2B-447E-9322-C3E2D982E532}"/>
              </a:ext>
            </a:extLst>
          </p:cNvPr>
          <p:cNvSpPr>
            <a:spLocks xmlns:a="http://schemas.openxmlformats.org/drawingml/2006/main" noGrp="1"/>
          </p:cNvSpPr>
          <p:nvPr/>
        </p:nvSpPr>
        <p:spPr>
          <a:xfrm xmlns:a="http://schemas.openxmlformats.org/drawingml/2006/main">
            <a:off x="685800" y="2143125"/>
            <a:ext cx="2857500" cy="3143250"/>
          </a:xfrm>
          <a:prstGeom xmlns:a="http://schemas.openxmlformats.org/drawingml/2006/main" prst="roundRect">
            <a:avLst>
              <a:gd name="adj" fmla="val 5333"/>
            </a:avLst>
          </a:prstGeom>
          <a:solidFill xmlns:a="http://schemas.openxmlformats.org/drawingml/2006/main">
            <a:srgbClr val="E8F0FB"/>
          </a:solidFill>
          <a:ln xmlns:a="http://schemas.openxmlformats.org/drawingml/2006/main" w="19050">
            <a:solidFill>
              <a:srgbClr val="2F6FE4"/>
            </a:solidFill>
            <a:prstDash val="solid"/>
          </a:ln>
        </p:spPr>
      </p:sp>
      <p:sp>
        <p:nvSpPr>
          <p:cNvPr id="10" name="">
            <a:extLst xmlns:a="http://schemas.openxmlformats.org/drawingml/2006/main">
              <a:ext uri="{FF2B5EF4-FFF2-40B4-BE49-F238E27FC236}">
                <a16:creationId xmlns:a16="http://schemas.microsoft.com/office/drawing/2014/main" id="{58B469F1-E740-414D-A25B-25D417B985A6}"/>
              </a:ext>
            </a:extLst>
          </p:cNvPr>
          <p:cNvSpPr>
            <a:spLocks xmlns:a="http://schemas.openxmlformats.org/drawingml/2006/main" noGrp="1"/>
          </p:cNvSpPr>
          <p:nvPr/>
        </p:nvSpPr>
        <p:spPr>
          <a:xfrm xmlns:a="http://schemas.openxmlformats.org/drawingml/2006/main">
            <a:off x="895350" y="2352675"/>
            <a:ext cx="457200" cy="457200"/>
          </a:xfrm>
          <a:prstGeom xmlns:a="http://schemas.openxmlformats.org/drawingml/2006/main" prst="ellipse">
            <a:avLst/>
          </a:prstGeom>
          <a:solidFill xmlns:a="http://schemas.openxmlformats.org/drawingml/2006/main">
            <a:srgbClr val="2F6FE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A73A766-276D-491C-88BB-5C232B1D3CB3}"/>
              </a:ext>
            </a:extLst>
          </p:cNvPr>
          <p:cNvSpPr>
            <a:spLocks xmlns:a="http://schemas.openxmlformats.org/drawingml/2006/main" noGrp="1"/>
          </p:cNvSpPr>
          <p:nvPr/>
        </p:nvSpPr>
        <p:spPr>
          <a:xfrm xmlns:a="http://schemas.openxmlformats.org/drawingml/2006/main">
            <a:off x="981075" y="244792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defRPr>
            </a:pPr>
            <a:r>
              <a:rPr sz="1350" b="1">
                <a:solidFill>
                  <a:srgbClr val="FFFFFF"/>
                </a:solidFill>
              </a:rPr>
              <a:t>1</a:t>
            </a:r>
          </a:p>
        </p:txBody>
      </p:sp>
      <p:sp>
        <p:nvSpPr>
          <p:cNvPr id="12" name="">
            <a:extLst xmlns:a="http://schemas.openxmlformats.org/drawingml/2006/main">
              <a:ext uri="{FF2B5EF4-FFF2-40B4-BE49-F238E27FC236}">
                <a16:creationId xmlns:a16="http://schemas.microsoft.com/office/drawing/2014/main" id="{8938487F-C194-4CA6-B336-C2EFE606325C}"/>
              </a:ext>
            </a:extLst>
          </p:cNvPr>
          <p:cNvSpPr>
            <a:spLocks xmlns:a="http://schemas.openxmlformats.org/drawingml/2006/main" noGrp="1"/>
          </p:cNvSpPr>
          <p:nvPr/>
        </p:nvSpPr>
        <p:spPr>
          <a:xfrm xmlns:a="http://schemas.openxmlformats.org/drawingml/2006/main">
            <a:off x="923925" y="3028950"/>
            <a:ext cx="238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0A1D30"/>
                </a:solidFill>
              </a:defRPr>
            </a:pPr>
            <a:r>
              <a:rPr sz="2100" b="1">
                <a:solidFill>
                  <a:srgbClr val="0A1D30"/>
                </a:solidFill>
              </a:rPr>
              <a:t>Observed file facts</a:t>
            </a:r>
          </a:p>
        </p:txBody>
      </p:sp>
      <p:sp>
        <p:nvSpPr>
          <p:cNvPr id="13" name="">
            <a:extLst xmlns:a="http://schemas.openxmlformats.org/drawingml/2006/main">
              <a:ext uri="{FF2B5EF4-FFF2-40B4-BE49-F238E27FC236}">
                <a16:creationId xmlns:a16="http://schemas.microsoft.com/office/drawing/2014/main" id="{7E78BACC-7F93-4913-8128-5EB9343277E6}"/>
              </a:ext>
            </a:extLst>
          </p:cNvPr>
          <p:cNvSpPr>
            <a:spLocks xmlns:a="http://schemas.openxmlformats.org/drawingml/2006/main" noGrp="1"/>
          </p:cNvSpPr>
          <p:nvPr/>
        </p:nvSpPr>
        <p:spPr>
          <a:xfrm xmlns:a="http://schemas.openxmlformats.org/drawingml/2006/main">
            <a:off x="1019175" y="3933825"/>
            <a:ext cx="85725" cy="85725"/>
          </a:xfrm>
          <a:prstGeom xmlns:a="http://schemas.openxmlformats.org/drawingml/2006/main" prst="ellipse">
            <a:avLst/>
          </a:prstGeom>
          <a:solidFill xmlns:a="http://schemas.openxmlformats.org/drawingml/2006/main">
            <a:srgbClr val="2F6FE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38D496E-6B3E-477B-A491-5F3779211F96}"/>
              </a:ext>
            </a:extLst>
          </p:cNvPr>
          <p:cNvSpPr>
            <a:spLocks xmlns:a="http://schemas.openxmlformats.org/drawingml/2006/main" noGrp="1"/>
          </p:cNvSpPr>
          <p:nvPr/>
        </p:nvSpPr>
        <p:spPr>
          <a:xfrm xmlns:a="http://schemas.openxmlformats.org/drawingml/2006/main">
            <a:off x="1238250" y="3857625"/>
            <a:ext cx="2019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3044"/>
                </a:solidFill>
              </a:defRPr>
            </a:pPr>
            <a:r>
              <a:rPr sz="1350" b="0">
                <a:solidFill>
                  <a:srgbClr val="173044"/>
                </a:solidFill>
              </a:rPr>
              <a:t>actions + scripts</a:t>
            </a:r>
          </a:p>
        </p:txBody>
      </p:sp>
      <p:sp>
        <p:nvSpPr>
          <p:cNvPr id="15" name="">
            <a:extLst xmlns:a="http://schemas.openxmlformats.org/drawingml/2006/main">
              <a:ext uri="{FF2B5EF4-FFF2-40B4-BE49-F238E27FC236}">
                <a16:creationId xmlns:a16="http://schemas.microsoft.com/office/drawing/2014/main" id="{5805F985-40B3-43DA-B1C9-723609EC2478}"/>
              </a:ext>
            </a:extLst>
          </p:cNvPr>
          <p:cNvSpPr>
            <a:spLocks xmlns:a="http://schemas.openxmlformats.org/drawingml/2006/main" noGrp="1"/>
          </p:cNvSpPr>
          <p:nvPr/>
        </p:nvSpPr>
        <p:spPr>
          <a:xfrm xmlns:a="http://schemas.openxmlformats.org/drawingml/2006/main">
            <a:off x="1019175" y="4352925"/>
            <a:ext cx="85725" cy="85725"/>
          </a:xfrm>
          <a:prstGeom xmlns:a="http://schemas.openxmlformats.org/drawingml/2006/main" prst="ellipse">
            <a:avLst/>
          </a:prstGeom>
          <a:solidFill xmlns:a="http://schemas.openxmlformats.org/drawingml/2006/main">
            <a:srgbClr val="2F6FE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9BCD9FE-B748-4A97-A11C-0A0209A0142B}"/>
              </a:ext>
            </a:extLst>
          </p:cNvPr>
          <p:cNvSpPr>
            <a:spLocks xmlns:a="http://schemas.openxmlformats.org/drawingml/2006/main" noGrp="1"/>
          </p:cNvSpPr>
          <p:nvPr/>
        </p:nvSpPr>
        <p:spPr>
          <a:xfrm xmlns:a="http://schemas.openxmlformats.org/drawingml/2006/main">
            <a:off x="1238250" y="4276725"/>
            <a:ext cx="2019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3044"/>
                </a:solidFill>
              </a:defRPr>
            </a:pPr>
            <a:r>
              <a:rPr sz="1350" b="0">
                <a:solidFill>
                  <a:srgbClr val="173044"/>
                </a:solidFill>
              </a:rPr>
              <a:t>embedded content</a:t>
            </a:r>
          </a:p>
        </p:txBody>
      </p:sp>
      <p:sp>
        <p:nvSpPr>
          <p:cNvPr id="17" name="">
            <a:extLst xmlns:a="http://schemas.openxmlformats.org/drawingml/2006/main">
              <a:ext uri="{FF2B5EF4-FFF2-40B4-BE49-F238E27FC236}">
                <a16:creationId xmlns:a16="http://schemas.microsoft.com/office/drawing/2014/main" id="{F3037FE2-09E0-48B2-A7C9-7936FAC4C47D}"/>
              </a:ext>
            </a:extLst>
          </p:cNvPr>
          <p:cNvSpPr>
            <a:spLocks xmlns:a="http://schemas.openxmlformats.org/drawingml/2006/main" noGrp="1"/>
          </p:cNvSpPr>
          <p:nvPr/>
        </p:nvSpPr>
        <p:spPr>
          <a:xfrm xmlns:a="http://schemas.openxmlformats.org/drawingml/2006/main">
            <a:off x="1019175" y="4772025"/>
            <a:ext cx="85725" cy="85725"/>
          </a:xfrm>
          <a:prstGeom xmlns:a="http://schemas.openxmlformats.org/drawingml/2006/main" prst="ellipse">
            <a:avLst/>
          </a:prstGeom>
          <a:solidFill xmlns:a="http://schemas.openxmlformats.org/drawingml/2006/main">
            <a:srgbClr val="2F6FE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D18ACAC-37CF-42E8-9FEF-44852190B716}"/>
              </a:ext>
            </a:extLst>
          </p:cNvPr>
          <p:cNvSpPr>
            <a:spLocks xmlns:a="http://schemas.openxmlformats.org/drawingml/2006/main" noGrp="1"/>
          </p:cNvSpPr>
          <p:nvPr/>
        </p:nvSpPr>
        <p:spPr>
          <a:xfrm xmlns:a="http://schemas.openxmlformats.org/drawingml/2006/main">
            <a:off x="1238250" y="4695825"/>
            <a:ext cx="2019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3044"/>
                </a:solidFill>
              </a:defRPr>
            </a:pPr>
            <a:r>
              <a:rPr sz="1350" b="0">
                <a:solidFill>
                  <a:srgbClr val="173044"/>
                </a:solidFill>
              </a:rPr>
              <a:t>parser-health warnings</a:t>
            </a:r>
          </a:p>
        </p:txBody>
      </p:sp>
      <p:sp>
        <p:nvSpPr>
          <p:cNvPr id="19" name="">
            <a:extLst xmlns:a="http://schemas.openxmlformats.org/drawingml/2006/main">
              <a:ext uri="{FF2B5EF4-FFF2-40B4-BE49-F238E27FC236}">
                <a16:creationId xmlns:a16="http://schemas.microsoft.com/office/drawing/2014/main" id="{E3DA065C-1AD6-4D80-B45E-A32D5FFC97F4}"/>
              </a:ext>
            </a:extLst>
          </p:cNvPr>
          <p:cNvSpPr>
            <a:spLocks xmlns:a="http://schemas.openxmlformats.org/drawingml/2006/main" noGrp="1"/>
          </p:cNvSpPr>
          <p:nvPr/>
        </p:nvSpPr>
        <p:spPr>
          <a:xfrm xmlns:a="http://schemas.openxmlformats.org/drawingml/2006/main">
            <a:off x="3714750" y="2143125"/>
            <a:ext cx="2857500" cy="3143250"/>
          </a:xfrm>
          <a:prstGeom xmlns:a="http://schemas.openxmlformats.org/drawingml/2006/main" prst="roundRect">
            <a:avLst>
              <a:gd name="adj" fmla="val 5333"/>
            </a:avLst>
          </a:prstGeom>
          <a:solidFill xmlns:a="http://schemas.openxmlformats.org/drawingml/2006/main">
            <a:srgbClr val="E5F3F0"/>
          </a:solidFill>
          <a:ln xmlns:a="http://schemas.openxmlformats.org/drawingml/2006/main" w="19050">
            <a:solidFill>
              <a:srgbClr val="1F9D88"/>
            </a:solidFill>
            <a:prstDash val="solid"/>
          </a:ln>
        </p:spPr>
      </p:sp>
      <p:sp>
        <p:nvSpPr>
          <p:cNvPr id="20" name="">
            <a:extLst xmlns:a="http://schemas.openxmlformats.org/drawingml/2006/main">
              <a:ext uri="{FF2B5EF4-FFF2-40B4-BE49-F238E27FC236}">
                <a16:creationId xmlns:a16="http://schemas.microsoft.com/office/drawing/2014/main" id="{D00DC9E2-5E15-4023-BCDF-0322743B7F9B}"/>
              </a:ext>
            </a:extLst>
          </p:cNvPr>
          <p:cNvSpPr>
            <a:spLocks xmlns:a="http://schemas.openxmlformats.org/drawingml/2006/main" noGrp="1"/>
          </p:cNvSpPr>
          <p:nvPr/>
        </p:nvSpPr>
        <p:spPr>
          <a:xfrm xmlns:a="http://schemas.openxmlformats.org/drawingml/2006/main">
            <a:off x="3924300" y="2352675"/>
            <a:ext cx="457200" cy="457200"/>
          </a:xfrm>
          <a:prstGeom xmlns:a="http://schemas.openxmlformats.org/drawingml/2006/main" prst="ellipse">
            <a:avLst/>
          </a:prstGeom>
          <a:solidFill xmlns:a="http://schemas.openxmlformats.org/drawingml/2006/main">
            <a:srgbClr val="1F9D8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DAC6F30-28C1-4906-A955-2CAF75BEC04A}"/>
              </a:ext>
            </a:extLst>
          </p:cNvPr>
          <p:cNvSpPr>
            <a:spLocks xmlns:a="http://schemas.openxmlformats.org/drawingml/2006/main" noGrp="1"/>
          </p:cNvSpPr>
          <p:nvPr/>
        </p:nvSpPr>
        <p:spPr>
          <a:xfrm xmlns:a="http://schemas.openxmlformats.org/drawingml/2006/main">
            <a:off x="4010025" y="244792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defRPr>
            </a:pPr>
            <a:r>
              <a:rPr sz="1350" b="1">
                <a:solidFill>
                  <a:srgbClr val="FFFFFF"/>
                </a:solidFill>
              </a:rPr>
              <a:t>2</a:t>
            </a:r>
          </a:p>
        </p:txBody>
      </p:sp>
      <p:sp>
        <p:nvSpPr>
          <p:cNvPr id="22" name="">
            <a:extLst xmlns:a="http://schemas.openxmlformats.org/drawingml/2006/main">
              <a:ext uri="{FF2B5EF4-FFF2-40B4-BE49-F238E27FC236}">
                <a16:creationId xmlns:a16="http://schemas.microsoft.com/office/drawing/2014/main" id="{537457FD-F524-4208-A725-9A8E43050F9C}"/>
              </a:ext>
            </a:extLst>
          </p:cNvPr>
          <p:cNvSpPr>
            <a:spLocks xmlns:a="http://schemas.openxmlformats.org/drawingml/2006/main" noGrp="1"/>
          </p:cNvSpPr>
          <p:nvPr/>
        </p:nvSpPr>
        <p:spPr>
          <a:xfrm xmlns:a="http://schemas.openxmlformats.org/drawingml/2006/main">
            <a:off x="3952875" y="3028950"/>
            <a:ext cx="238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0A1D30"/>
                </a:solidFill>
              </a:defRPr>
            </a:pPr>
            <a:r>
              <a:rPr sz="2100" b="1">
                <a:solidFill>
                  <a:srgbClr val="0A1D30"/>
                </a:solidFill>
              </a:rPr>
              <a:t>Model attribution</a:t>
            </a:r>
          </a:p>
        </p:txBody>
      </p:sp>
      <p:sp>
        <p:nvSpPr>
          <p:cNvPr id="23" name="">
            <a:extLst xmlns:a="http://schemas.openxmlformats.org/drawingml/2006/main">
              <a:ext uri="{FF2B5EF4-FFF2-40B4-BE49-F238E27FC236}">
                <a16:creationId xmlns:a16="http://schemas.microsoft.com/office/drawing/2014/main" id="{ECCC0C87-17C5-44CF-90AE-89C4BCE36AE5}"/>
              </a:ext>
            </a:extLst>
          </p:cNvPr>
          <p:cNvSpPr>
            <a:spLocks xmlns:a="http://schemas.openxmlformats.org/drawingml/2006/main" noGrp="1"/>
          </p:cNvSpPr>
          <p:nvPr/>
        </p:nvSpPr>
        <p:spPr>
          <a:xfrm xmlns:a="http://schemas.openxmlformats.org/drawingml/2006/main">
            <a:off x="4048125" y="3933825"/>
            <a:ext cx="85725" cy="85725"/>
          </a:xfrm>
          <a:prstGeom xmlns:a="http://schemas.openxmlformats.org/drawingml/2006/main" prst="ellipse">
            <a:avLst/>
          </a:prstGeom>
          <a:solidFill xmlns:a="http://schemas.openxmlformats.org/drawingml/2006/main">
            <a:srgbClr val="1F9D8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5D6CA63-A224-43A0-85CE-1FB0C12F74DE}"/>
              </a:ext>
            </a:extLst>
          </p:cNvPr>
          <p:cNvSpPr>
            <a:spLocks xmlns:a="http://schemas.openxmlformats.org/drawingml/2006/main" noGrp="1"/>
          </p:cNvSpPr>
          <p:nvPr/>
        </p:nvSpPr>
        <p:spPr>
          <a:xfrm xmlns:a="http://schemas.openxmlformats.org/drawingml/2006/main">
            <a:off x="4267200" y="3857625"/>
            <a:ext cx="2019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3044"/>
                </a:solidFill>
              </a:defRPr>
            </a:pPr>
            <a:r>
              <a:rPr sz="1350" b="0">
                <a:solidFill>
                  <a:srgbClr val="173044"/>
                </a:solidFill>
              </a:rPr>
              <a:t>local probability change</a:t>
            </a:r>
          </a:p>
        </p:txBody>
      </p:sp>
      <p:sp>
        <p:nvSpPr>
          <p:cNvPr id="25" name="">
            <a:extLst xmlns:a="http://schemas.openxmlformats.org/drawingml/2006/main">
              <a:ext uri="{FF2B5EF4-FFF2-40B4-BE49-F238E27FC236}">
                <a16:creationId xmlns:a16="http://schemas.microsoft.com/office/drawing/2014/main" id="{92112646-2FDD-417B-82A8-E6ADC3D27B81}"/>
              </a:ext>
            </a:extLst>
          </p:cNvPr>
          <p:cNvSpPr>
            <a:spLocks xmlns:a="http://schemas.openxmlformats.org/drawingml/2006/main" noGrp="1"/>
          </p:cNvSpPr>
          <p:nvPr/>
        </p:nvSpPr>
        <p:spPr>
          <a:xfrm xmlns:a="http://schemas.openxmlformats.org/drawingml/2006/main">
            <a:off x="4048125" y="4352925"/>
            <a:ext cx="85725" cy="85725"/>
          </a:xfrm>
          <a:prstGeom xmlns:a="http://schemas.openxmlformats.org/drawingml/2006/main" prst="ellipse">
            <a:avLst/>
          </a:prstGeom>
          <a:solidFill xmlns:a="http://schemas.openxmlformats.org/drawingml/2006/main">
            <a:srgbClr val="1F9D8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6271293-2463-4B23-A7D2-E19EE57C38E1}"/>
              </a:ext>
            </a:extLst>
          </p:cNvPr>
          <p:cNvSpPr>
            <a:spLocks xmlns:a="http://schemas.openxmlformats.org/drawingml/2006/main" noGrp="1"/>
          </p:cNvSpPr>
          <p:nvPr/>
        </p:nvSpPr>
        <p:spPr>
          <a:xfrm xmlns:a="http://schemas.openxmlformats.org/drawingml/2006/main">
            <a:off x="4267200" y="4276725"/>
            <a:ext cx="2019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3044"/>
                </a:solidFill>
              </a:defRPr>
            </a:pPr>
            <a:r>
              <a:rPr sz="1350" b="0">
                <a:solidFill>
                  <a:srgbClr val="173044"/>
                </a:solidFill>
              </a:rPr>
              <a:t>global importance</a:t>
            </a:r>
          </a:p>
        </p:txBody>
      </p:sp>
      <p:sp>
        <p:nvSpPr>
          <p:cNvPr id="27" name="">
            <a:extLst xmlns:a="http://schemas.openxmlformats.org/drawingml/2006/main">
              <a:ext uri="{FF2B5EF4-FFF2-40B4-BE49-F238E27FC236}">
                <a16:creationId xmlns:a16="http://schemas.microsoft.com/office/drawing/2014/main" id="{214849F1-6CAA-4020-A3CD-CFB4802D2C30}"/>
              </a:ext>
            </a:extLst>
          </p:cNvPr>
          <p:cNvSpPr>
            <a:spLocks xmlns:a="http://schemas.openxmlformats.org/drawingml/2006/main" noGrp="1"/>
          </p:cNvSpPr>
          <p:nvPr/>
        </p:nvSpPr>
        <p:spPr>
          <a:xfrm xmlns:a="http://schemas.openxmlformats.org/drawingml/2006/main">
            <a:off x="4048125" y="4772025"/>
            <a:ext cx="85725" cy="85725"/>
          </a:xfrm>
          <a:prstGeom xmlns:a="http://schemas.openxmlformats.org/drawingml/2006/main" prst="ellipse">
            <a:avLst/>
          </a:prstGeom>
          <a:solidFill xmlns:a="http://schemas.openxmlformats.org/drawingml/2006/main">
            <a:srgbClr val="1F9D8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4836DDD-E89C-4BBD-A7DC-A6EA0ED799BD}"/>
              </a:ext>
            </a:extLst>
          </p:cNvPr>
          <p:cNvSpPr>
            <a:spLocks xmlns:a="http://schemas.openxmlformats.org/drawingml/2006/main" noGrp="1"/>
          </p:cNvSpPr>
          <p:nvPr/>
        </p:nvSpPr>
        <p:spPr>
          <a:xfrm xmlns:a="http://schemas.openxmlformats.org/drawingml/2006/main">
            <a:off x="4267200" y="4695825"/>
            <a:ext cx="2019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3044"/>
                </a:solidFill>
              </a:defRPr>
            </a:pPr>
            <a:r>
              <a:rPr sz="1350" b="0">
                <a:solidFill>
                  <a:srgbClr val="173044"/>
                </a:solidFill>
              </a:rPr>
              <a:t>stability + faithfulness</a:t>
            </a:r>
          </a:p>
        </p:txBody>
      </p:sp>
      <p:sp>
        <p:nvSpPr>
          <p:cNvPr id="29" name="">
            <a:extLst xmlns:a="http://schemas.openxmlformats.org/drawingml/2006/main">
              <a:ext uri="{FF2B5EF4-FFF2-40B4-BE49-F238E27FC236}">
                <a16:creationId xmlns:a16="http://schemas.microsoft.com/office/drawing/2014/main" id="{B091CA82-8E0D-4B9E-905D-E6ECBC25426B}"/>
              </a:ext>
            </a:extLst>
          </p:cNvPr>
          <p:cNvSpPr>
            <a:spLocks xmlns:a="http://schemas.openxmlformats.org/drawingml/2006/main" noGrp="1"/>
          </p:cNvSpPr>
          <p:nvPr/>
        </p:nvSpPr>
        <p:spPr>
          <a:xfrm xmlns:a="http://schemas.openxmlformats.org/drawingml/2006/main">
            <a:off x="7762875" y="2143125"/>
            <a:ext cx="2857500" cy="3143250"/>
          </a:xfrm>
          <a:prstGeom xmlns:a="http://schemas.openxmlformats.org/drawingml/2006/main" prst="roundRect">
            <a:avLst>
              <a:gd name="adj" fmla="val 5333"/>
            </a:avLst>
          </a:prstGeom>
          <a:solidFill xmlns:a="http://schemas.openxmlformats.org/drawingml/2006/main">
            <a:srgbClr val="F8E7E7"/>
          </a:solidFill>
          <a:ln xmlns:a="http://schemas.openxmlformats.org/drawingml/2006/main" w="19050">
            <a:solidFill>
              <a:srgbClr val="D86565"/>
            </a:solidFill>
            <a:prstDash val="solid"/>
          </a:ln>
        </p:spPr>
      </p:sp>
      <p:sp>
        <p:nvSpPr>
          <p:cNvPr id="30" name="">
            <a:extLst xmlns:a="http://schemas.openxmlformats.org/drawingml/2006/main">
              <a:ext uri="{FF2B5EF4-FFF2-40B4-BE49-F238E27FC236}">
                <a16:creationId xmlns:a16="http://schemas.microsoft.com/office/drawing/2014/main" id="{9428BA04-123D-4F10-B386-974966D841DC}"/>
              </a:ext>
            </a:extLst>
          </p:cNvPr>
          <p:cNvSpPr>
            <a:spLocks xmlns:a="http://schemas.openxmlformats.org/drawingml/2006/main" noGrp="1"/>
          </p:cNvSpPr>
          <p:nvPr/>
        </p:nvSpPr>
        <p:spPr>
          <a:xfrm xmlns:a="http://schemas.openxmlformats.org/drawingml/2006/main">
            <a:off x="7972425" y="2352675"/>
            <a:ext cx="457200" cy="457200"/>
          </a:xfrm>
          <a:prstGeom xmlns:a="http://schemas.openxmlformats.org/drawingml/2006/main" prst="ellipse">
            <a:avLst/>
          </a:prstGeom>
          <a:solidFill xmlns:a="http://schemas.openxmlformats.org/drawingml/2006/main">
            <a:srgbClr val="D86565"/>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3EA8E29F-8F3E-4CE7-81EE-FDBD8A9241A7}"/>
              </a:ext>
            </a:extLst>
          </p:cNvPr>
          <p:cNvSpPr>
            <a:spLocks xmlns:a="http://schemas.openxmlformats.org/drawingml/2006/main" noGrp="1"/>
          </p:cNvSpPr>
          <p:nvPr/>
        </p:nvSpPr>
        <p:spPr>
          <a:xfrm xmlns:a="http://schemas.openxmlformats.org/drawingml/2006/main">
            <a:off x="8058150" y="244792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defRPr>
            </a:pPr>
            <a:r>
              <a:rPr sz="1350" b="1">
                <a:solidFill>
                  <a:srgbClr val="FFFFFF"/>
                </a:solidFill>
              </a:rPr>
              <a:t>3</a:t>
            </a:r>
          </a:p>
        </p:txBody>
      </p:sp>
      <p:sp>
        <p:nvSpPr>
          <p:cNvPr id="32" name="">
            <a:extLst xmlns:a="http://schemas.openxmlformats.org/drawingml/2006/main">
              <a:ext uri="{FF2B5EF4-FFF2-40B4-BE49-F238E27FC236}">
                <a16:creationId xmlns:a16="http://schemas.microsoft.com/office/drawing/2014/main" id="{55E5239D-BBAB-4277-9E7F-E1CA4CCBB777}"/>
              </a:ext>
            </a:extLst>
          </p:cNvPr>
          <p:cNvSpPr>
            <a:spLocks xmlns:a="http://schemas.openxmlformats.org/drawingml/2006/main" noGrp="1"/>
          </p:cNvSpPr>
          <p:nvPr/>
        </p:nvSpPr>
        <p:spPr>
          <a:xfrm xmlns:a="http://schemas.openxmlformats.org/drawingml/2006/main">
            <a:off x="8001000" y="3028950"/>
            <a:ext cx="238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0A1D30"/>
                </a:solidFill>
              </a:defRPr>
            </a:pPr>
            <a:r>
              <a:rPr sz="2100" b="1">
                <a:solidFill>
                  <a:srgbClr val="0A1D30"/>
                </a:solidFill>
              </a:rPr>
              <a:t>Analyst action</a:t>
            </a:r>
          </a:p>
        </p:txBody>
      </p:sp>
      <p:sp>
        <p:nvSpPr>
          <p:cNvPr id="33" name="">
            <a:extLst xmlns:a="http://schemas.openxmlformats.org/drawingml/2006/main">
              <a:ext uri="{FF2B5EF4-FFF2-40B4-BE49-F238E27FC236}">
                <a16:creationId xmlns:a16="http://schemas.microsoft.com/office/drawing/2014/main" id="{D2B632A2-CC4A-4954-9C83-39A13BF7F91A}"/>
              </a:ext>
            </a:extLst>
          </p:cNvPr>
          <p:cNvSpPr>
            <a:spLocks xmlns:a="http://schemas.openxmlformats.org/drawingml/2006/main" noGrp="1"/>
          </p:cNvSpPr>
          <p:nvPr/>
        </p:nvSpPr>
        <p:spPr>
          <a:xfrm xmlns:a="http://schemas.openxmlformats.org/drawingml/2006/main">
            <a:off x="8096250" y="3933825"/>
            <a:ext cx="85725" cy="85725"/>
          </a:xfrm>
          <a:prstGeom xmlns:a="http://schemas.openxmlformats.org/drawingml/2006/main" prst="ellipse">
            <a:avLst/>
          </a:prstGeom>
          <a:solidFill xmlns:a="http://schemas.openxmlformats.org/drawingml/2006/main">
            <a:srgbClr val="D8656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15229FE1-5983-4571-BEC7-453A7D4189C5}"/>
              </a:ext>
            </a:extLst>
          </p:cNvPr>
          <p:cNvSpPr>
            <a:spLocks xmlns:a="http://schemas.openxmlformats.org/drawingml/2006/main" noGrp="1"/>
          </p:cNvSpPr>
          <p:nvPr/>
        </p:nvSpPr>
        <p:spPr>
          <a:xfrm xmlns:a="http://schemas.openxmlformats.org/drawingml/2006/main">
            <a:off x="8315325" y="3857625"/>
            <a:ext cx="2019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3044"/>
                </a:solidFill>
              </a:defRPr>
            </a:pPr>
            <a:r>
              <a:rPr sz="1350" b="0">
                <a:solidFill>
                  <a:srgbClr val="173044"/>
                </a:solidFill>
              </a:rPr>
              <a:t>release</a:t>
            </a:r>
          </a:p>
        </p:txBody>
      </p:sp>
      <p:sp>
        <p:nvSpPr>
          <p:cNvPr id="35" name="">
            <a:extLst xmlns:a="http://schemas.openxmlformats.org/drawingml/2006/main">
              <a:ext uri="{FF2B5EF4-FFF2-40B4-BE49-F238E27FC236}">
                <a16:creationId xmlns:a16="http://schemas.microsoft.com/office/drawing/2014/main" id="{4CA84916-57B5-4FB4-A05B-980E964E86B8}"/>
              </a:ext>
            </a:extLst>
          </p:cNvPr>
          <p:cNvSpPr>
            <a:spLocks xmlns:a="http://schemas.openxmlformats.org/drawingml/2006/main" noGrp="1"/>
          </p:cNvSpPr>
          <p:nvPr/>
        </p:nvSpPr>
        <p:spPr>
          <a:xfrm xmlns:a="http://schemas.openxmlformats.org/drawingml/2006/main">
            <a:off x="8096250" y="4352925"/>
            <a:ext cx="85725" cy="85725"/>
          </a:xfrm>
          <a:prstGeom xmlns:a="http://schemas.openxmlformats.org/drawingml/2006/main" prst="ellipse">
            <a:avLst/>
          </a:prstGeom>
          <a:solidFill xmlns:a="http://schemas.openxmlformats.org/drawingml/2006/main">
            <a:srgbClr val="D86565"/>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F5CCC588-3F55-4167-8675-8B73B9A49DCE}"/>
              </a:ext>
            </a:extLst>
          </p:cNvPr>
          <p:cNvSpPr>
            <a:spLocks xmlns:a="http://schemas.openxmlformats.org/drawingml/2006/main" noGrp="1"/>
          </p:cNvSpPr>
          <p:nvPr/>
        </p:nvSpPr>
        <p:spPr>
          <a:xfrm xmlns:a="http://schemas.openxmlformats.org/drawingml/2006/main">
            <a:off x="8315325" y="4276725"/>
            <a:ext cx="2019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3044"/>
                </a:solidFill>
              </a:defRPr>
            </a:pPr>
            <a:r>
              <a:rPr sz="1350" b="0">
                <a:solidFill>
                  <a:srgbClr val="173044"/>
                </a:solidFill>
              </a:rPr>
              <a:t>review / sandbox</a:t>
            </a:r>
          </a:p>
        </p:txBody>
      </p:sp>
      <p:sp>
        <p:nvSpPr>
          <p:cNvPr id="37" name="">
            <a:extLst xmlns:a="http://schemas.openxmlformats.org/drawingml/2006/main">
              <a:ext uri="{FF2B5EF4-FFF2-40B4-BE49-F238E27FC236}">
                <a16:creationId xmlns:a16="http://schemas.microsoft.com/office/drawing/2014/main" id="{34691BBC-286B-4D14-8AB1-06D03568E40D}"/>
              </a:ext>
            </a:extLst>
          </p:cNvPr>
          <p:cNvSpPr>
            <a:spLocks xmlns:a="http://schemas.openxmlformats.org/drawingml/2006/main" noGrp="1"/>
          </p:cNvSpPr>
          <p:nvPr/>
        </p:nvSpPr>
        <p:spPr>
          <a:xfrm xmlns:a="http://schemas.openxmlformats.org/drawingml/2006/main">
            <a:off x="8096250" y="4772025"/>
            <a:ext cx="85725" cy="85725"/>
          </a:xfrm>
          <a:prstGeom xmlns:a="http://schemas.openxmlformats.org/drawingml/2006/main" prst="ellipse">
            <a:avLst/>
          </a:prstGeom>
          <a:solidFill xmlns:a="http://schemas.openxmlformats.org/drawingml/2006/main">
            <a:srgbClr val="D8656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8A304E34-5E95-46D5-A14B-4DAF5D145B17}"/>
              </a:ext>
            </a:extLst>
          </p:cNvPr>
          <p:cNvSpPr>
            <a:spLocks xmlns:a="http://schemas.openxmlformats.org/drawingml/2006/main" noGrp="1"/>
          </p:cNvSpPr>
          <p:nvPr/>
        </p:nvSpPr>
        <p:spPr>
          <a:xfrm xmlns:a="http://schemas.openxmlformats.org/drawingml/2006/main">
            <a:off x="8315325" y="4695825"/>
            <a:ext cx="2019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3044"/>
                </a:solidFill>
              </a:defRPr>
            </a:pPr>
            <a:r>
              <a:rPr sz="1350" b="0">
                <a:solidFill>
                  <a:srgbClr val="173044"/>
                </a:solidFill>
              </a:rPr>
              <a:t>contain + preserve evidence</a:t>
            </a:r>
          </a:p>
        </p:txBody>
      </p:sp>
      <p:sp>
        <p:nvSpPr>
          <p:cNvPr id="39" name="">
            <a:extLst xmlns:a="http://schemas.openxmlformats.org/drawingml/2006/main">
              <a:ext uri="{FF2B5EF4-FFF2-40B4-BE49-F238E27FC236}">
                <a16:creationId xmlns:a16="http://schemas.microsoft.com/office/drawing/2014/main" id="{2E4AB0AB-B536-4910-BDFC-F743D60560E8}"/>
              </a:ext>
            </a:extLst>
          </p:cNvPr>
          <p:cNvSpPr>
            <a:spLocks xmlns:a="http://schemas.openxmlformats.org/drawingml/2006/main" noGrp="1"/>
          </p:cNvSpPr>
          <p:nvPr/>
        </p:nvSpPr>
        <p:spPr>
          <a:xfrm xmlns:a="http://schemas.openxmlformats.org/drawingml/2006/main">
            <a:off x="1143000" y="5619750"/>
            <a:ext cx="990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0A1D30"/>
                </a:solidFill>
              </a:defRPr>
            </a:pPr>
            <a:r>
              <a:rPr sz="2100" b="1">
                <a:solidFill>
                  <a:srgbClr val="0A1D30"/>
                </a:solidFill>
              </a:rPr>
              <a:t>Attribution is not causality, correctness, or guilt.</a:t>
            </a:r>
          </a:p>
        </p:txBody>
      </p:sp>
      <p:sp>
        <p:nvSpPr>
          <p:cNvPr id="40" name="">
            <a:extLst xmlns:a="http://schemas.openxmlformats.org/drawingml/2006/main">
              <a:ext uri="{FF2B5EF4-FFF2-40B4-BE49-F238E27FC236}">
                <a16:creationId xmlns:a16="http://schemas.microsoft.com/office/drawing/2014/main" id="{CB864E8B-7970-4B51-BDF6-1CF344D8C3B3}"/>
              </a:ext>
            </a:extLst>
          </p:cNvPr>
          <p:cNvSpPr>
            <a:spLocks xmlns:a="http://schemas.openxmlformats.org/drawingml/2006/main" noGrp="1"/>
          </p:cNvSpPr>
          <p:nvPr/>
        </p:nvSpPr>
        <p:spPr>
          <a:xfrm xmlns:a="http://schemas.openxmlformats.org/drawingml/2006/main">
            <a:off x="647700" y="6400800"/>
            <a:ext cx="108966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AEE58374-F57E-427F-A03D-371C4D6FC32A}"/>
              </a:ext>
            </a:extLst>
          </p:cNvPr>
          <p:cNvSpPr>
            <a:spLocks xmlns:a="http://schemas.openxmlformats.org/drawingml/2006/main" noGrp="1"/>
          </p:cNvSpPr>
          <p:nvPr/>
        </p:nvSpPr>
        <p:spPr>
          <a:xfrm xmlns:a="http://schemas.openxmlformats.org/drawingml/2006/main">
            <a:off x="647700" y="649605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888"/>
                </a:solidFill>
              </a:defRPr>
            </a:pPr>
            <a:r>
              <a:rPr sz="975" b="0">
                <a:solidFill>
                  <a:srgbClr val="657888"/>
                </a:solidFill>
              </a:rPr>
              <a:t>Explain → triage → investigate → respond → accept verified feedback.</a:t>
            </a:r>
          </a:p>
        </p:txBody>
      </p:sp>
      <p:sp>
        <p:nvSpPr>
          <p:cNvPr id="42" name="">
            <a:extLst xmlns:a="http://schemas.openxmlformats.org/drawingml/2006/main">
              <a:ext uri="{FF2B5EF4-FFF2-40B4-BE49-F238E27FC236}">
                <a16:creationId xmlns:a16="http://schemas.microsoft.com/office/drawing/2014/main" id="{21CE192E-84CD-42D8-9755-88255CDE9E3A}"/>
              </a:ext>
            </a:extLst>
          </p:cNvPr>
          <p:cNvSpPr>
            <a:spLocks xmlns:a="http://schemas.openxmlformats.org/drawingml/2006/main" noGrp="1"/>
          </p:cNvSpPr>
          <p:nvPr/>
        </p:nvSpPr>
        <p:spPr>
          <a:xfrm xmlns:a="http://schemas.openxmlformats.org/drawingml/2006/main">
            <a:off x="10287000" y="64674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0A1D30"/>
                </a:solidFill>
              </a:defRPr>
            </a:pPr>
            <a:r>
              <a:rPr sz="975" b="1">
                <a:solidFill>
                  <a:srgbClr val="0A1D30"/>
                </a:solidFill>
              </a:rPr>
              <a:t>9 / 12</a:t>
            </a:r>
          </a:p>
        </p:txBody>
      </p:sp>
    </p:spTree>
    <p:extLst>
      <p:ext uri="{BB962C8B-B14F-4D97-AF65-F5344CB8AC3E}">
        <p14:creationId xmlns:p14="http://schemas.microsoft.com/office/powerpoint/2010/main" val="727766259"/>
      </p:ext>
    </p:extLst>
  </p:cSld>
</p:sld>
</file>

<file path=ppt/slides/slide10.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2CFAA644-EC91-4E5E-A969-BECFE655F3F9}"/>
              </a:ext>
            </a:extLst>
          </p:cNvPr>
          <p:cNvSpPr>
            <a:spLocks xmlns:a="http://schemas.openxmlformats.org/drawingml/2006/main" noGrp="1"/>
          </p:cNvSpPr>
          <p:nvPr/>
        </p:nvSpPr>
        <p:spPr>
          <a:xfrm xmlns:a="http://schemas.openxmlformats.org/drawingml/2006/main">
            <a:off x="647700" y="2571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0A1D30"/>
                </a:solidFill>
              </a:defRPr>
            </a:pPr>
            <a:r>
              <a:rPr sz="1050" b="1">
                <a:solidFill>
                  <a:srgbClr val="0A1D30"/>
                </a:solidFill>
              </a:rPr>
              <a:t>DATA SCIENCE METHODS FOR CYBERSECURITY</a:t>
            </a:r>
          </a:p>
        </p:txBody>
      </p:sp>
      <p:sp>
        <p:nvSpPr>
          <p:cNvPr id="2" name="">
            <a:extLst xmlns:a="http://schemas.openxmlformats.org/drawingml/2006/main">
              <a:ext uri="{FF2B5EF4-FFF2-40B4-BE49-F238E27FC236}">
                <a16:creationId xmlns:a16="http://schemas.microsoft.com/office/drawing/2014/main" id="{3675E38A-067F-47CF-A622-450E072AB48E}"/>
              </a:ext>
            </a:extLst>
          </p:cNvPr>
          <p:cNvSpPr>
            <a:spLocks xmlns:a="http://schemas.openxmlformats.org/drawingml/2006/main" noGrp="1"/>
          </p:cNvSpPr>
          <p:nvPr/>
        </p:nvSpPr>
        <p:spPr>
          <a:xfrm xmlns:a="http://schemas.openxmlformats.org/drawingml/2006/main">
            <a:off x="6096000" y="2571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2F6FE4"/>
                </a:solidFill>
              </a:defRPr>
            </a:pPr>
            <a:r>
              <a:rPr sz="1050" b="1">
                <a:solidFill>
                  <a:srgbClr val="2F6FE4"/>
                </a:solidFill>
              </a:rPr>
              <a:t>L9.2  •  ADVERSARIAL MACHINE LEARNING</a:t>
            </a:r>
          </a:p>
        </p:txBody>
      </p:sp>
      <p:sp>
        <p:nvSpPr>
          <p:cNvPr id="3" name="">
            <a:extLst xmlns:a="http://schemas.openxmlformats.org/drawingml/2006/main">
              <a:ext uri="{FF2B5EF4-FFF2-40B4-BE49-F238E27FC236}">
                <a16:creationId xmlns:a16="http://schemas.microsoft.com/office/drawing/2014/main" id="{1A634E61-BF98-4C2C-969F-03CE191326B5}"/>
              </a:ext>
            </a:extLst>
          </p:cNvPr>
          <p:cNvSpPr>
            <a:spLocks xmlns:a="http://schemas.openxmlformats.org/drawingml/2006/main" noGrp="1"/>
          </p:cNvSpPr>
          <p:nvPr/>
        </p:nvSpPr>
        <p:spPr>
          <a:xfrm xmlns:a="http://schemas.openxmlformats.org/drawingml/2006/main">
            <a:off x="10953750" y="22860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657888"/>
                </a:solidFill>
              </a:defRPr>
            </a:pPr>
            <a:r>
              <a:rPr sz="1350" b="1">
                <a:solidFill>
                  <a:srgbClr val="657888"/>
                </a:solidFill>
              </a:rPr>
              <a:t>10</a:t>
            </a:r>
          </a:p>
        </p:txBody>
      </p:sp>
      <p:sp>
        <p:nvSpPr>
          <p:cNvPr id="4" name="">
            <a:extLst xmlns:a="http://schemas.openxmlformats.org/drawingml/2006/main">
              <a:ext uri="{FF2B5EF4-FFF2-40B4-BE49-F238E27FC236}">
                <a16:creationId xmlns:a16="http://schemas.microsoft.com/office/drawing/2014/main" id="{950FF694-98D3-49F0-B2EF-1C1C8664491C}"/>
              </a:ext>
            </a:extLst>
          </p:cNvPr>
          <p:cNvSpPr>
            <a:spLocks xmlns:a="http://schemas.openxmlformats.org/drawingml/2006/main" noGrp="1"/>
          </p:cNvSpPr>
          <p:nvPr/>
        </p:nvSpPr>
        <p:spPr>
          <a:xfrm xmlns:a="http://schemas.openxmlformats.org/drawingml/2006/main">
            <a:off x="647700" y="581025"/>
            <a:ext cx="108966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7D34B29-58DE-4D0E-A160-A903E785142D}"/>
              </a:ext>
            </a:extLst>
          </p:cNvPr>
          <p:cNvSpPr>
            <a:spLocks xmlns:a="http://schemas.openxmlformats.org/drawingml/2006/main" noGrp="1"/>
          </p:cNvSpPr>
          <p:nvPr/>
        </p:nvSpPr>
        <p:spPr>
          <a:xfrm xmlns:a="http://schemas.openxmlformats.org/drawingml/2006/main">
            <a:off x="647700" y="762000"/>
            <a:ext cx="10896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0A1D30"/>
                </a:solidFill>
              </a:defRPr>
            </a:pPr>
            <a:r>
              <a:rPr sz="3150" b="1">
                <a:solidFill>
                  <a:srgbClr val="0A1D30"/>
                </a:solidFill>
              </a:rPr>
              <a:t>Layered defenses make the classifier operationally useful</a:t>
            </a:r>
          </a:p>
        </p:txBody>
      </p:sp>
      <p:sp>
        <p:nvSpPr>
          <p:cNvPr id="6" name="">
            <a:extLst xmlns:a="http://schemas.openxmlformats.org/drawingml/2006/main">
              <a:ext uri="{FF2B5EF4-FFF2-40B4-BE49-F238E27FC236}">
                <a16:creationId xmlns:a16="http://schemas.microsoft.com/office/drawing/2014/main" id="{10D51C66-1596-453B-90FF-CDF5089A0AF9}"/>
              </a:ext>
            </a:extLst>
          </p:cNvPr>
          <p:cNvSpPr>
            <a:spLocks xmlns:a="http://schemas.openxmlformats.org/drawingml/2006/main" noGrp="1"/>
          </p:cNvSpPr>
          <p:nvPr/>
        </p:nvSpPr>
        <p:spPr>
          <a:xfrm xmlns:a="http://schemas.openxmlformats.org/drawingml/2006/main">
            <a:off x="685800" y="1504950"/>
            <a:ext cx="933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657888"/>
                </a:solidFill>
              </a:defRPr>
            </a:pPr>
            <a:r>
              <a:rPr sz="1725" b="0">
                <a:solidFill>
                  <a:srgbClr val="657888"/>
                </a:solidFill>
              </a:rPr>
              <a:t>Evasion changes the representation while trying to preserve malicious behavior.</a:t>
            </a:r>
          </a:p>
        </p:txBody>
      </p:sp>
      <p:sp>
        <p:nvSpPr>
          <p:cNvPr id="7" name="">
            <a:extLst xmlns:a="http://schemas.openxmlformats.org/drawingml/2006/main">
              <a:ext uri="{FF2B5EF4-FFF2-40B4-BE49-F238E27FC236}">
                <a16:creationId xmlns:a16="http://schemas.microsoft.com/office/drawing/2014/main" id="{A1832D50-A1AF-45F3-957D-E5437F82658B}"/>
              </a:ext>
            </a:extLst>
          </p:cNvPr>
          <p:cNvSpPr>
            <a:spLocks xmlns:a="http://schemas.openxmlformats.org/drawingml/2006/main" noGrp="1"/>
          </p:cNvSpPr>
          <p:nvPr/>
        </p:nvSpPr>
        <p:spPr>
          <a:xfrm xmlns:a="http://schemas.openxmlformats.org/drawingml/2006/main">
            <a:off x="685800" y="214312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D86565"/>
                </a:solidFill>
              </a:defRPr>
            </a:pPr>
            <a:r>
              <a:rPr sz="1275" b="1">
                <a:solidFill>
                  <a:srgbClr val="D86565"/>
                </a:solidFill>
              </a:rPr>
              <a:t>ATTACK SURFACE</a:t>
            </a:r>
          </a:p>
        </p:txBody>
      </p:sp>
      <p:sp>
        <p:nvSpPr>
          <p:cNvPr id="8" name="">
            <a:extLst xmlns:a="http://schemas.openxmlformats.org/drawingml/2006/main">
              <a:ext uri="{FF2B5EF4-FFF2-40B4-BE49-F238E27FC236}">
                <a16:creationId xmlns:a16="http://schemas.microsoft.com/office/drawing/2014/main" id="{21FE8498-D6B4-4EB7-A869-E825F4E89FE1}"/>
              </a:ext>
            </a:extLst>
          </p:cNvPr>
          <p:cNvSpPr>
            <a:spLocks xmlns:a="http://schemas.openxmlformats.org/drawingml/2006/main" noGrp="1"/>
          </p:cNvSpPr>
          <p:nvPr/>
        </p:nvSpPr>
        <p:spPr>
          <a:xfrm xmlns:a="http://schemas.openxmlformats.org/drawingml/2006/main">
            <a:off x="685800" y="2524125"/>
            <a:ext cx="3714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0A1D30"/>
                </a:solidFill>
              </a:defRPr>
            </a:pPr>
            <a:r>
              <a:rPr sz="2325" b="1">
                <a:solidFill>
                  <a:srgbClr val="0A1D30"/>
                </a:solidFill>
              </a:rPr>
              <a:t>Domain-valid mutations</a:t>
            </a:r>
          </a:p>
        </p:txBody>
      </p:sp>
      <p:sp>
        <p:nvSpPr>
          <p:cNvPr id="9" name="">
            <a:extLst xmlns:a="http://schemas.openxmlformats.org/drawingml/2006/main">
              <a:ext uri="{FF2B5EF4-FFF2-40B4-BE49-F238E27FC236}">
                <a16:creationId xmlns:a16="http://schemas.microsoft.com/office/drawing/2014/main" id="{7AF0FF77-9987-4832-865A-E58C93477A55}"/>
              </a:ext>
            </a:extLst>
          </p:cNvPr>
          <p:cNvSpPr>
            <a:spLocks xmlns:a="http://schemas.openxmlformats.org/drawingml/2006/main" noGrp="1"/>
          </p:cNvSpPr>
          <p:nvPr/>
        </p:nvSpPr>
        <p:spPr>
          <a:xfrm xmlns:a="http://schemas.openxmlformats.org/drawingml/2006/main">
            <a:off x="685800" y="3267075"/>
            <a:ext cx="85725" cy="85725"/>
          </a:xfrm>
          <a:prstGeom xmlns:a="http://schemas.openxmlformats.org/drawingml/2006/main" prst="ellipse">
            <a:avLst/>
          </a:prstGeom>
          <a:solidFill xmlns:a="http://schemas.openxmlformats.org/drawingml/2006/main">
            <a:srgbClr val="D8656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6F4456B-F5F1-4A8D-A28D-6508956FCCA6}"/>
              </a:ext>
            </a:extLst>
          </p:cNvPr>
          <p:cNvSpPr>
            <a:spLocks xmlns:a="http://schemas.openxmlformats.org/drawingml/2006/main" noGrp="1"/>
          </p:cNvSpPr>
          <p:nvPr/>
        </p:nvSpPr>
        <p:spPr>
          <a:xfrm xmlns:a="http://schemas.openxmlformats.org/drawingml/2006/main">
            <a:off x="904875" y="3190875"/>
            <a:ext cx="3686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73044"/>
                </a:solidFill>
              </a:defRPr>
            </a:pPr>
            <a:r>
              <a:rPr sz="1500" b="0">
                <a:solidFill>
                  <a:srgbClr val="173044"/>
                </a:solidFill>
              </a:rPr>
              <a:t>escaped names + whitespace</a:t>
            </a:r>
          </a:p>
        </p:txBody>
      </p:sp>
      <p:sp>
        <p:nvSpPr>
          <p:cNvPr id="11" name="">
            <a:extLst xmlns:a="http://schemas.openxmlformats.org/drawingml/2006/main">
              <a:ext uri="{FF2B5EF4-FFF2-40B4-BE49-F238E27FC236}">
                <a16:creationId xmlns:a16="http://schemas.microsoft.com/office/drawing/2014/main" id="{638F5C32-F1CD-4C76-A824-00EA488F52A8}"/>
              </a:ext>
            </a:extLst>
          </p:cNvPr>
          <p:cNvSpPr>
            <a:spLocks xmlns:a="http://schemas.openxmlformats.org/drawingml/2006/main" noGrp="1"/>
          </p:cNvSpPr>
          <p:nvPr/>
        </p:nvSpPr>
        <p:spPr>
          <a:xfrm xmlns:a="http://schemas.openxmlformats.org/drawingml/2006/main">
            <a:off x="685800" y="3714750"/>
            <a:ext cx="85725" cy="85725"/>
          </a:xfrm>
          <a:prstGeom xmlns:a="http://schemas.openxmlformats.org/drawingml/2006/main" prst="ellipse">
            <a:avLst/>
          </a:prstGeom>
          <a:solidFill xmlns:a="http://schemas.openxmlformats.org/drawingml/2006/main">
            <a:srgbClr val="D8656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F43FEAD-912D-467E-8F95-326232AA07BA}"/>
              </a:ext>
            </a:extLst>
          </p:cNvPr>
          <p:cNvSpPr>
            <a:spLocks xmlns:a="http://schemas.openxmlformats.org/drawingml/2006/main" noGrp="1"/>
          </p:cNvSpPr>
          <p:nvPr/>
        </p:nvSpPr>
        <p:spPr>
          <a:xfrm xmlns:a="http://schemas.openxmlformats.org/drawingml/2006/main">
            <a:off x="904875" y="3638550"/>
            <a:ext cx="3686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73044"/>
                </a:solidFill>
              </a:defRPr>
            </a:pPr>
            <a:r>
              <a:rPr sz="1500" b="0">
                <a:solidFill>
                  <a:srgbClr val="173044"/>
                </a:solidFill>
              </a:rPr>
              <a:t>object and filter rearrangement</a:t>
            </a:r>
          </a:p>
        </p:txBody>
      </p:sp>
      <p:sp>
        <p:nvSpPr>
          <p:cNvPr id="13" name="">
            <a:extLst xmlns:a="http://schemas.openxmlformats.org/drawingml/2006/main">
              <a:ext uri="{FF2B5EF4-FFF2-40B4-BE49-F238E27FC236}">
                <a16:creationId xmlns:a16="http://schemas.microsoft.com/office/drawing/2014/main" id="{F8268C9D-46E8-4917-9AE7-807D2BBC9010}"/>
              </a:ext>
            </a:extLst>
          </p:cNvPr>
          <p:cNvSpPr>
            <a:spLocks xmlns:a="http://schemas.openxmlformats.org/drawingml/2006/main" noGrp="1"/>
          </p:cNvSpPr>
          <p:nvPr/>
        </p:nvSpPr>
        <p:spPr>
          <a:xfrm xmlns:a="http://schemas.openxmlformats.org/drawingml/2006/main">
            <a:off x="685800" y="4162425"/>
            <a:ext cx="85725" cy="85725"/>
          </a:xfrm>
          <a:prstGeom xmlns:a="http://schemas.openxmlformats.org/drawingml/2006/main" prst="ellipse">
            <a:avLst/>
          </a:prstGeom>
          <a:solidFill xmlns:a="http://schemas.openxmlformats.org/drawingml/2006/main">
            <a:srgbClr val="D8656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D4456B3-485C-44CC-95BE-8E574F5363B0}"/>
              </a:ext>
            </a:extLst>
          </p:cNvPr>
          <p:cNvSpPr>
            <a:spLocks xmlns:a="http://schemas.openxmlformats.org/drawingml/2006/main" noGrp="1"/>
          </p:cNvSpPr>
          <p:nvPr/>
        </p:nvSpPr>
        <p:spPr>
          <a:xfrm xmlns:a="http://schemas.openxmlformats.org/drawingml/2006/main">
            <a:off x="904875" y="4086225"/>
            <a:ext cx="3686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73044"/>
                </a:solidFill>
              </a:defRPr>
            </a:pPr>
            <a:r>
              <a:rPr sz="1500" b="0">
                <a:solidFill>
                  <a:srgbClr val="173044"/>
                </a:solidFill>
              </a:rPr>
              <a:t>xref and parser disagreement</a:t>
            </a:r>
          </a:p>
        </p:txBody>
      </p:sp>
      <p:sp>
        <p:nvSpPr>
          <p:cNvPr id="15" name="">
            <a:extLst xmlns:a="http://schemas.openxmlformats.org/drawingml/2006/main">
              <a:ext uri="{FF2B5EF4-FFF2-40B4-BE49-F238E27FC236}">
                <a16:creationId xmlns:a16="http://schemas.microsoft.com/office/drawing/2014/main" id="{B28B499A-042F-49FB-A920-EF466DBD2271}"/>
              </a:ext>
            </a:extLst>
          </p:cNvPr>
          <p:cNvSpPr>
            <a:spLocks xmlns:a="http://schemas.openxmlformats.org/drawingml/2006/main" noGrp="1"/>
          </p:cNvSpPr>
          <p:nvPr/>
        </p:nvSpPr>
        <p:spPr>
          <a:xfrm xmlns:a="http://schemas.openxmlformats.org/drawingml/2006/main">
            <a:off x="685800" y="4610100"/>
            <a:ext cx="85725" cy="85725"/>
          </a:xfrm>
          <a:prstGeom xmlns:a="http://schemas.openxmlformats.org/drawingml/2006/main" prst="ellipse">
            <a:avLst/>
          </a:prstGeom>
          <a:solidFill xmlns:a="http://schemas.openxmlformats.org/drawingml/2006/main">
            <a:srgbClr val="D8656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3D3DBBF-425E-4F5F-862E-89D65FAAC78A}"/>
              </a:ext>
            </a:extLst>
          </p:cNvPr>
          <p:cNvSpPr>
            <a:spLocks xmlns:a="http://schemas.openxmlformats.org/drawingml/2006/main" noGrp="1"/>
          </p:cNvSpPr>
          <p:nvPr/>
        </p:nvSpPr>
        <p:spPr>
          <a:xfrm xmlns:a="http://schemas.openxmlformats.org/drawingml/2006/main">
            <a:off x="904875" y="4533900"/>
            <a:ext cx="36861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73044"/>
                </a:solidFill>
              </a:defRPr>
            </a:pPr>
            <a:r>
              <a:rPr sz="1500" b="0">
                <a:solidFill>
                  <a:srgbClr val="173044"/>
                </a:solidFill>
              </a:rPr>
              <a:t>metadata or structure inflation</a:t>
            </a:r>
          </a:p>
        </p:txBody>
      </p:sp>
      <p:sp>
        <p:nvSpPr>
          <p:cNvPr id="17" name="">
            <a:extLst xmlns:a="http://schemas.openxmlformats.org/drawingml/2006/main">
              <a:ext uri="{FF2B5EF4-FFF2-40B4-BE49-F238E27FC236}">
                <a16:creationId xmlns:a16="http://schemas.microsoft.com/office/drawing/2014/main" id="{877FDD5A-D0EE-48FA-810B-33592A68445A}"/>
              </a:ext>
            </a:extLst>
          </p:cNvPr>
          <p:cNvSpPr>
            <a:spLocks xmlns:a="http://schemas.openxmlformats.org/drawingml/2006/main" noGrp="1"/>
          </p:cNvSpPr>
          <p:nvPr/>
        </p:nvSpPr>
        <p:spPr>
          <a:xfrm xmlns:a="http://schemas.openxmlformats.org/drawingml/2006/main">
            <a:off x="685800" y="52006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F9D88"/>
                </a:solidFill>
              </a:defRPr>
            </a:pPr>
            <a:r>
              <a:rPr sz="1500" b="1">
                <a:solidFill>
                  <a:srgbClr val="1F9D88"/>
                </a:solidFill>
              </a:rPr>
              <a:t>Safe inert fixtures only</a:t>
            </a:r>
          </a:p>
        </p:txBody>
      </p:sp>
      <p:sp>
        <p:nvSpPr>
          <p:cNvPr id="18" name="">
            <a:extLst xmlns:a="http://schemas.openxmlformats.org/drawingml/2006/main">
              <a:ext uri="{FF2B5EF4-FFF2-40B4-BE49-F238E27FC236}">
                <a16:creationId xmlns:a16="http://schemas.microsoft.com/office/drawing/2014/main" id="{E344F2A3-C3E2-488F-9F09-6D62311C3B5D}"/>
              </a:ext>
            </a:extLst>
          </p:cNvPr>
          <p:cNvSpPr>
            <a:spLocks xmlns:a="http://schemas.openxmlformats.org/drawingml/2006/main" noGrp="1"/>
          </p:cNvSpPr>
          <p:nvPr/>
        </p:nvSpPr>
        <p:spPr>
          <a:xfrm xmlns:a="http://schemas.openxmlformats.org/drawingml/2006/main">
            <a:off x="4810125" y="2143125"/>
            <a:ext cx="28575" cy="3476625"/>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40FD3F3-B0E3-4030-867E-9DB15668537A}"/>
              </a:ext>
            </a:extLst>
          </p:cNvPr>
          <p:cNvSpPr>
            <a:spLocks xmlns:a="http://schemas.openxmlformats.org/drawingml/2006/main" noGrp="1"/>
          </p:cNvSpPr>
          <p:nvPr/>
        </p:nvSpPr>
        <p:spPr>
          <a:xfrm xmlns:a="http://schemas.openxmlformats.org/drawingml/2006/main">
            <a:off x="5238750" y="214312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F6FE4"/>
                </a:solidFill>
              </a:defRPr>
            </a:pPr>
            <a:r>
              <a:rPr sz="1275" b="1">
                <a:solidFill>
                  <a:srgbClr val="2F6FE4"/>
                </a:solidFill>
              </a:rPr>
              <a:t>DEFENSE LAYERS</a:t>
            </a:r>
          </a:p>
        </p:txBody>
      </p:sp>
      <p:sp>
        <p:nvSpPr>
          <p:cNvPr id="20" name="">
            <a:extLst xmlns:a="http://schemas.openxmlformats.org/drawingml/2006/main">
              <a:ext uri="{FF2B5EF4-FFF2-40B4-BE49-F238E27FC236}">
                <a16:creationId xmlns:a16="http://schemas.microsoft.com/office/drawing/2014/main" id="{6DDCA8C2-9162-4C98-953D-EBBEC22AD8C0}"/>
              </a:ext>
            </a:extLst>
          </p:cNvPr>
          <p:cNvSpPr>
            <a:spLocks xmlns:a="http://schemas.openxmlformats.org/drawingml/2006/main" noGrp="1"/>
          </p:cNvSpPr>
          <p:nvPr/>
        </p:nvSpPr>
        <p:spPr>
          <a:xfrm xmlns:a="http://schemas.openxmlformats.org/drawingml/2006/main">
            <a:off x="5238750" y="260032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F6FE4"/>
                </a:solidFill>
              </a:defRPr>
            </a:pPr>
            <a:r>
              <a:rPr sz="1275" b="1">
                <a:solidFill>
                  <a:srgbClr val="2F6FE4"/>
                </a:solidFill>
              </a:rPr>
              <a:t>01</a:t>
            </a:r>
          </a:p>
        </p:txBody>
      </p:sp>
      <p:sp>
        <p:nvSpPr>
          <p:cNvPr id="21" name="">
            <a:extLst xmlns:a="http://schemas.openxmlformats.org/drawingml/2006/main">
              <a:ext uri="{FF2B5EF4-FFF2-40B4-BE49-F238E27FC236}">
                <a16:creationId xmlns:a16="http://schemas.microsoft.com/office/drawing/2014/main" id="{AA247F2F-2DA5-47F5-A9A5-3CDF05709471}"/>
              </a:ext>
            </a:extLst>
          </p:cNvPr>
          <p:cNvSpPr>
            <a:spLocks xmlns:a="http://schemas.openxmlformats.org/drawingml/2006/main" noGrp="1"/>
          </p:cNvSpPr>
          <p:nvPr/>
        </p:nvSpPr>
        <p:spPr>
          <a:xfrm xmlns:a="http://schemas.openxmlformats.org/drawingml/2006/main">
            <a:off x="5810250" y="25717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A1D30"/>
                </a:solidFill>
              </a:defRPr>
            </a:pPr>
            <a:r>
              <a:rPr sz="1800" b="1">
                <a:solidFill>
                  <a:srgbClr val="0A1D30"/>
                </a:solidFill>
              </a:rPr>
              <a:t>Canonicalize</a:t>
            </a:r>
          </a:p>
        </p:txBody>
      </p:sp>
      <p:sp>
        <p:nvSpPr>
          <p:cNvPr id="22" name="">
            <a:extLst xmlns:a="http://schemas.openxmlformats.org/drawingml/2006/main">
              <a:ext uri="{FF2B5EF4-FFF2-40B4-BE49-F238E27FC236}">
                <a16:creationId xmlns:a16="http://schemas.microsoft.com/office/drawing/2014/main" id="{9EED71F0-456D-434A-B604-E6CA9E167211}"/>
              </a:ext>
            </a:extLst>
          </p:cNvPr>
          <p:cNvSpPr>
            <a:spLocks xmlns:a="http://schemas.openxmlformats.org/drawingml/2006/main" noGrp="1"/>
          </p:cNvSpPr>
          <p:nvPr/>
        </p:nvSpPr>
        <p:spPr>
          <a:xfrm xmlns:a="http://schemas.openxmlformats.org/drawingml/2006/main">
            <a:off x="8191500" y="26098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57888"/>
                </a:solidFill>
              </a:defRPr>
            </a:pPr>
            <a:r>
              <a:rPr sz="1350" b="0">
                <a:solidFill>
                  <a:srgbClr val="657888"/>
                </a:solidFill>
              </a:rPr>
              <a:t>normalize superficial syntax</a:t>
            </a:r>
          </a:p>
        </p:txBody>
      </p:sp>
      <p:sp>
        <p:nvSpPr>
          <p:cNvPr id="23" name="">
            <a:extLst xmlns:a="http://schemas.openxmlformats.org/drawingml/2006/main">
              <a:ext uri="{FF2B5EF4-FFF2-40B4-BE49-F238E27FC236}">
                <a16:creationId xmlns:a16="http://schemas.microsoft.com/office/drawing/2014/main" id="{C82E619B-BADD-4B28-A4D9-37F1934E4761}"/>
              </a:ext>
            </a:extLst>
          </p:cNvPr>
          <p:cNvSpPr>
            <a:spLocks xmlns:a="http://schemas.openxmlformats.org/drawingml/2006/main" noGrp="1"/>
          </p:cNvSpPr>
          <p:nvPr/>
        </p:nvSpPr>
        <p:spPr>
          <a:xfrm xmlns:a="http://schemas.openxmlformats.org/drawingml/2006/main">
            <a:off x="5810250" y="2990850"/>
            <a:ext cx="55245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A940A20-1FF0-4D25-B861-983310CB818A}"/>
              </a:ext>
            </a:extLst>
          </p:cNvPr>
          <p:cNvSpPr>
            <a:spLocks xmlns:a="http://schemas.openxmlformats.org/drawingml/2006/main" noGrp="1"/>
          </p:cNvSpPr>
          <p:nvPr/>
        </p:nvSpPr>
        <p:spPr>
          <a:xfrm xmlns:a="http://schemas.openxmlformats.org/drawingml/2006/main">
            <a:off x="5238750" y="320992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F9D88"/>
                </a:solidFill>
              </a:defRPr>
            </a:pPr>
            <a:r>
              <a:rPr sz="1275" b="1">
                <a:solidFill>
                  <a:srgbClr val="1F9D88"/>
                </a:solidFill>
              </a:rPr>
              <a:t>02</a:t>
            </a:r>
          </a:p>
        </p:txBody>
      </p:sp>
      <p:sp>
        <p:nvSpPr>
          <p:cNvPr id="25" name="">
            <a:extLst xmlns:a="http://schemas.openxmlformats.org/drawingml/2006/main">
              <a:ext uri="{FF2B5EF4-FFF2-40B4-BE49-F238E27FC236}">
                <a16:creationId xmlns:a16="http://schemas.microsoft.com/office/drawing/2014/main" id="{391086A5-156F-43E2-86BA-1D932C5DCA2E}"/>
              </a:ext>
            </a:extLst>
          </p:cNvPr>
          <p:cNvSpPr>
            <a:spLocks xmlns:a="http://schemas.openxmlformats.org/drawingml/2006/main" noGrp="1"/>
          </p:cNvSpPr>
          <p:nvPr/>
        </p:nvSpPr>
        <p:spPr>
          <a:xfrm xmlns:a="http://schemas.openxmlformats.org/drawingml/2006/main">
            <a:off x="5810250" y="3181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A1D30"/>
                </a:solidFill>
              </a:defRPr>
            </a:pPr>
            <a:r>
              <a:rPr sz="1800" b="1">
                <a:solidFill>
                  <a:srgbClr val="0A1D30"/>
                </a:solidFill>
              </a:rPr>
              <a:t>Multi-view parse</a:t>
            </a:r>
          </a:p>
        </p:txBody>
      </p:sp>
      <p:sp>
        <p:nvSpPr>
          <p:cNvPr id="26" name="">
            <a:extLst xmlns:a="http://schemas.openxmlformats.org/drawingml/2006/main">
              <a:ext uri="{FF2B5EF4-FFF2-40B4-BE49-F238E27FC236}">
                <a16:creationId xmlns:a16="http://schemas.microsoft.com/office/drawing/2014/main" id="{1CF93433-76A3-4838-99A7-8927E97F7E17}"/>
              </a:ext>
            </a:extLst>
          </p:cNvPr>
          <p:cNvSpPr>
            <a:spLocks xmlns:a="http://schemas.openxmlformats.org/drawingml/2006/main" noGrp="1"/>
          </p:cNvSpPr>
          <p:nvPr/>
        </p:nvSpPr>
        <p:spPr>
          <a:xfrm xmlns:a="http://schemas.openxmlformats.org/drawingml/2006/main">
            <a:off x="8191500" y="32194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57888"/>
                </a:solidFill>
              </a:defRPr>
            </a:pPr>
            <a:r>
              <a:rPr sz="1350" b="0">
                <a:solidFill>
                  <a:srgbClr val="657888"/>
                </a:solidFill>
              </a:rPr>
              <a:t>compare independent evidence</a:t>
            </a:r>
          </a:p>
        </p:txBody>
      </p:sp>
      <p:sp>
        <p:nvSpPr>
          <p:cNvPr id="27" name="">
            <a:extLst xmlns:a="http://schemas.openxmlformats.org/drawingml/2006/main">
              <a:ext uri="{FF2B5EF4-FFF2-40B4-BE49-F238E27FC236}">
                <a16:creationId xmlns:a16="http://schemas.microsoft.com/office/drawing/2014/main" id="{A81B8FDA-6BD5-48CC-B7C2-6849EA67030E}"/>
              </a:ext>
            </a:extLst>
          </p:cNvPr>
          <p:cNvSpPr>
            <a:spLocks xmlns:a="http://schemas.openxmlformats.org/drawingml/2006/main" noGrp="1"/>
          </p:cNvSpPr>
          <p:nvPr/>
        </p:nvSpPr>
        <p:spPr>
          <a:xfrm xmlns:a="http://schemas.openxmlformats.org/drawingml/2006/main">
            <a:off x="5810250" y="3600450"/>
            <a:ext cx="55245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AB58C85-020B-4F5E-828B-A4CB4679C390}"/>
              </a:ext>
            </a:extLst>
          </p:cNvPr>
          <p:cNvSpPr>
            <a:spLocks xmlns:a="http://schemas.openxmlformats.org/drawingml/2006/main" noGrp="1"/>
          </p:cNvSpPr>
          <p:nvPr/>
        </p:nvSpPr>
        <p:spPr>
          <a:xfrm xmlns:a="http://schemas.openxmlformats.org/drawingml/2006/main">
            <a:off x="5238750" y="381952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E5A33D"/>
                </a:solidFill>
              </a:defRPr>
            </a:pPr>
            <a:r>
              <a:rPr sz="1275" b="1">
                <a:solidFill>
                  <a:srgbClr val="E5A33D"/>
                </a:solidFill>
              </a:rPr>
              <a:t>03</a:t>
            </a:r>
          </a:p>
        </p:txBody>
      </p:sp>
      <p:sp>
        <p:nvSpPr>
          <p:cNvPr id="29" name="">
            <a:extLst xmlns:a="http://schemas.openxmlformats.org/drawingml/2006/main">
              <a:ext uri="{FF2B5EF4-FFF2-40B4-BE49-F238E27FC236}">
                <a16:creationId xmlns:a16="http://schemas.microsoft.com/office/drawing/2014/main" id="{421CD74A-9CC5-4554-919A-58B0917C640E}"/>
              </a:ext>
            </a:extLst>
          </p:cNvPr>
          <p:cNvSpPr>
            <a:spLocks xmlns:a="http://schemas.openxmlformats.org/drawingml/2006/main" noGrp="1"/>
          </p:cNvSpPr>
          <p:nvPr/>
        </p:nvSpPr>
        <p:spPr>
          <a:xfrm xmlns:a="http://schemas.openxmlformats.org/drawingml/2006/main">
            <a:off x="5810250" y="37909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A1D30"/>
                </a:solidFill>
              </a:defRPr>
            </a:pPr>
            <a:r>
              <a:rPr sz="1800" b="1">
                <a:solidFill>
                  <a:srgbClr val="0A1D30"/>
                </a:solidFill>
              </a:rPr>
              <a:t>Bound resources</a:t>
            </a:r>
          </a:p>
        </p:txBody>
      </p:sp>
      <p:sp>
        <p:nvSpPr>
          <p:cNvPr id="30" name="">
            <a:extLst xmlns:a="http://schemas.openxmlformats.org/drawingml/2006/main">
              <a:ext uri="{FF2B5EF4-FFF2-40B4-BE49-F238E27FC236}">
                <a16:creationId xmlns:a16="http://schemas.microsoft.com/office/drawing/2014/main" id="{783AE733-6322-496D-A4A9-1B2D5238A55E}"/>
              </a:ext>
            </a:extLst>
          </p:cNvPr>
          <p:cNvSpPr>
            <a:spLocks xmlns:a="http://schemas.openxmlformats.org/drawingml/2006/main" noGrp="1"/>
          </p:cNvSpPr>
          <p:nvPr/>
        </p:nvSpPr>
        <p:spPr>
          <a:xfrm xmlns:a="http://schemas.openxmlformats.org/drawingml/2006/main">
            <a:off x="8191500" y="38290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57888"/>
                </a:solidFill>
              </a:defRPr>
            </a:pPr>
            <a:r>
              <a:rPr sz="1350" b="0">
                <a:solidFill>
                  <a:srgbClr val="657888"/>
                </a:solidFill>
              </a:rPr>
              <a:t>protect parser availability</a:t>
            </a:r>
          </a:p>
        </p:txBody>
      </p:sp>
      <p:sp>
        <p:nvSpPr>
          <p:cNvPr id="31" name="">
            <a:extLst xmlns:a="http://schemas.openxmlformats.org/drawingml/2006/main">
              <a:ext uri="{FF2B5EF4-FFF2-40B4-BE49-F238E27FC236}">
                <a16:creationId xmlns:a16="http://schemas.microsoft.com/office/drawing/2014/main" id="{A29C7EF7-6EBD-45E5-B253-7FEFDED89765}"/>
              </a:ext>
            </a:extLst>
          </p:cNvPr>
          <p:cNvSpPr>
            <a:spLocks xmlns:a="http://schemas.openxmlformats.org/drawingml/2006/main" noGrp="1"/>
          </p:cNvSpPr>
          <p:nvPr/>
        </p:nvSpPr>
        <p:spPr>
          <a:xfrm xmlns:a="http://schemas.openxmlformats.org/drawingml/2006/main">
            <a:off x="5810250" y="4210050"/>
            <a:ext cx="55245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884D5EE-B918-418A-A167-E83DA5D0D8F9}"/>
              </a:ext>
            </a:extLst>
          </p:cNvPr>
          <p:cNvSpPr>
            <a:spLocks xmlns:a="http://schemas.openxmlformats.org/drawingml/2006/main" noGrp="1"/>
          </p:cNvSpPr>
          <p:nvPr/>
        </p:nvSpPr>
        <p:spPr>
          <a:xfrm xmlns:a="http://schemas.openxmlformats.org/drawingml/2006/main">
            <a:off x="5238750" y="442912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D86565"/>
                </a:solidFill>
              </a:defRPr>
            </a:pPr>
            <a:r>
              <a:rPr sz="1275" b="1">
                <a:solidFill>
                  <a:srgbClr val="D86565"/>
                </a:solidFill>
              </a:rPr>
              <a:t>04</a:t>
            </a:r>
          </a:p>
        </p:txBody>
      </p:sp>
      <p:sp>
        <p:nvSpPr>
          <p:cNvPr id="33" name="">
            <a:extLst xmlns:a="http://schemas.openxmlformats.org/drawingml/2006/main">
              <a:ext uri="{FF2B5EF4-FFF2-40B4-BE49-F238E27FC236}">
                <a16:creationId xmlns:a16="http://schemas.microsoft.com/office/drawing/2014/main" id="{98163CD1-0966-46A9-848B-35B950392881}"/>
              </a:ext>
            </a:extLst>
          </p:cNvPr>
          <p:cNvSpPr>
            <a:spLocks xmlns:a="http://schemas.openxmlformats.org/drawingml/2006/main" noGrp="1"/>
          </p:cNvSpPr>
          <p:nvPr/>
        </p:nvSpPr>
        <p:spPr>
          <a:xfrm xmlns:a="http://schemas.openxmlformats.org/drawingml/2006/main">
            <a:off x="5810250" y="44005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A1D30"/>
                </a:solidFill>
              </a:defRPr>
            </a:pPr>
            <a:r>
              <a:rPr sz="1800" b="1">
                <a:solidFill>
                  <a:srgbClr val="0A1D30"/>
                </a:solidFill>
              </a:rPr>
              <a:t>Abstain safely</a:t>
            </a:r>
          </a:p>
        </p:txBody>
      </p:sp>
      <p:sp>
        <p:nvSpPr>
          <p:cNvPr id="34" name="">
            <a:extLst xmlns:a="http://schemas.openxmlformats.org/drawingml/2006/main">
              <a:ext uri="{FF2B5EF4-FFF2-40B4-BE49-F238E27FC236}">
                <a16:creationId xmlns:a16="http://schemas.microsoft.com/office/drawing/2014/main" id="{2C475A03-4A1F-42F0-A632-F39099A57E5D}"/>
              </a:ext>
            </a:extLst>
          </p:cNvPr>
          <p:cNvSpPr>
            <a:spLocks xmlns:a="http://schemas.openxmlformats.org/drawingml/2006/main" noGrp="1"/>
          </p:cNvSpPr>
          <p:nvPr/>
        </p:nvSpPr>
        <p:spPr>
          <a:xfrm xmlns:a="http://schemas.openxmlformats.org/drawingml/2006/main">
            <a:off x="8191500" y="44386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57888"/>
                </a:solidFill>
              </a:defRPr>
            </a:pPr>
            <a:r>
              <a:rPr sz="1350" b="0">
                <a:solidFill>
                  <a:srgbClr val="657888"/>
                </a:solidFill>
              </a:rPr>
              <a:t>OOD or borderline confidence</a:t>
            </a:r>
          </a:p>
        </p:txBody>
      </p:sp>
      <p:sp>
        <p:nvSpPr>
          <p:cNvPr id="35" name="">
            <a:extLst xmlns:a="http://schemas.openxmlformats.org/drawingml/2006/main">
              <a:ext uri="{FF2B5EF4-FFF2-40B4-BE49-F238E27FC236}">
                <a16:creationId xmlns:a16="http://schemas.microsoft.com/office/drawing/2014/main" id="{20738CD1-2EE9-42EE-8AF1-E1196C4F9A68}"/>
              </a:ext>
            </a:extLst>
          </p:cNvPr>
          <p:cNvSpPr>
            <a:spLocks xmlns:a="http://schemas.openxmlformats.org/drawingml/2006/main" noGrp="1"/>
          </p:cNvSpPr>
          <p:nvPr/>
        </p:nvSpPr>
        <p:spPr>
          <a:xfrm xmlns:a="http://schemas.openxmlformats.org/drawingml/2006/main">
            <a:off x="5810250" y="4819650"/>
            <a:ext cx="55245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8634B2E0-0569-43FC-A80A-2464A8C1544B}"/>
              </a:ext>
            </a:extLst>
          </p:cNvPr>
          <p:cNvSpPr>
            <a:spLocks xmlns:a="http://schemas.openxmlformats.org/drawingml/2006/main" noGrp="1"/>
          </p:cNvSpPr>
          <p:nvPr/>
        </p:nvSpPr>
        <p:spPr>
          <a:xfrm xmlns:a="http://schemas.openxmlformats.org/drawingml/2006/main">
            <a:off x="5238750" y="503872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F6FE4"/>
                </a:solidFill>
              </a:defRPr>
            </a:pPr>
            <a:r>
              <a:rPr sz="1275" b="1">
                <a:solidFill>
                  <a:srgbClr val="2F6FE4"/>
                </a:solidFill>
              </a:rPr>
              <a:t>05</a:t>
            </a:r>
          </a:p>
        </p:txBody>
      </p:sp>
      <p:sp>
        <p:nvSpPr>
          <p:cNvPr id="37" name="">
            <a:extLst xmlns:a="http://schemas.openxmlformats.org/drawingml/2006/main">
              <a:ext uri="{FF2B5EF4-FFF2-40B4-BE49-F238E27FC236}">
                <a16:creationId xmlns:a16="http://schemas.microsoft.com/office/drawing/2014/main" id="{5E658FC6-DCEF-4A64-919B-052AB1D4ABF6}"/>
              </a:ext>
            </a:extLst>
          </p:cNvPr>
          <p:cNvSpPr>
            <a:spLocks xmlns:a="http://schemas.openxmlformats.org/drawingml/2006/main" noGrp="1"/>
          </p:cNvSpPr>
          <p:nvPr/>
        </p:nvSpPr>
        <p:spPr>
          <a:xfrm xmlns:a="http://schemas.openxmlformats.org/drawingml/2006/main">
            <a:off x="5810250" y="50101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A1D30"/>
                </a:solidFill>
              </a:defRPr>
            </a:pPr>
            <a:r>
              <a:rPr sz="1800" b="1">
                <a:solidFill>
                  <a:srgbClr val="0A1D30"/>
                </a:solidFill>
              </a:rPr>
              <a:t>Monitor + retrain</a:t>
            </a:r>
          </a:p>
        </p:txBody>
      </p:sp>
      <p:sp>
        <p:nvSpPr>
          <p:cNvPr id="38" name="">
            <a:extLst xmlns:a="http://schemas.openxmlformats.org/drawingml/2006/main">
              <a:ext uri="{FF2B5EF4-FFF2-40B4-BE49-F238E27FC236}">
                <a16:creationId xmlns:a16="http://schemas.microsoft.com/office/drawing/2014/main" id="{4A033C11-DBAB-4798-98D2-759050CAC967}"/>
              </a:ext>
            </a:extLst>
          </p:cNvPr>
          <p:cNvSpPr>
            <a:spLocks xmlns:a="http://schemas.openxmlformats.org/drawingml/2006/main" noGrp="1"/>
          </p:cNvSpPr>
          <p:nvPr/>
        </p:nvSpPr>
        <p:spPr>
          <a:xfrm xmlns:a="http://schemas.openxmlformats.org/drawingml/2006/main">
            <a:off x="8191500" y="50482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57888"/>
                </a:solidFill>
              </a:defRPr>
            </a:pPr>
            <a:r>
              <a:rPr sz="1350" b="0">
                <a:solidFill>
                  <a:srgbClr val="657888"/>
                </a:solidFill>
              </a:rPr>
              <a:t>drift, evasion, verified feedback</a:t>
            </a:r>
          </a:p>
        </p:txBody>
      </p:sp>
      <p:sp>
        <p:nvSpPr>
          <p:cNvPr id="39" name="">
            <a:extLst xmlns:a="http://schemas.openxmlformats.org/drawingml/2006/main">
              <a:ext uri="{FF2B5EF4-FFF2-40B4-BE49-F238E27FC236}">
                <a16:creationId xmlns:a16="http://schemas.microsoft.com/office/drawing/2014/main" id="{1F4E759C-7132-4480-9980-ACDF6CD5CD87}"/>
              </a:ext>
            </a:extLst>
          </p:cNvPr>
          <p:cNvSpPr>
            <a:spLocks xmlns:a="http://schemas.openxmlformats.org/drawingml/2006/main" noGrp="1"/>
          </p:cNvSpPr>
          <p:nvPr/>
        </p:nvSpPr>
        <p:spPr>
          <a:xfrm xmlns:a="http://schemas.openxmlformats.org/drawingml/2006/main">
            <a:off x="5810250" y="5429250"/>
            <a:ext cx="55245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CF07FE3F-5A71-4DE7-B29D-EAE515B17611}"/>
              </a:ext>
            </a:extLst>
          </p:cNvPr>
          <p:cNvSpPr>
            <a:spLocks xmlns:a="http://schemas.openxmlformats.org/drawingml/2006/main" noGrp="1"/>
          </p:cNvSpPr>
          <p:nvPr/>
        </p:nvSpPr>
        <p:spPr>
          <a:xfrm xmlns:a="http://schemas.openxmlformats.org/drawingml/2006/main">
            <a:off x="5238750" y="5667375"/>
            <a:ext cx="6096000" cy="457200"/>
          </a:xfrm>
          <a:prstGeom xmlns:a="http://schemas.openxmlformats.org/drawingml/2006/main" prst="roundRect">
            <a:avLst>
              <a:gd name="adj" fmla="val 16667"/>
            </a:avLst>
          </a:prstGeom>
          <a:solidFill xmlns:a="http://schemas.openxmlformats.org/drawingml/2006/main">
            <a:srgbClr val="0A1D30"/>
          </a:solidFill>
          <a:ln xmlns:a="http://schemas.openxmlformats.org/drawingml/2006/main" w="0">
            <a:solidFill>
              <a:srgbClr val="0A1D30"/>
            </a:solidFill>
            <a:prstDash val="solid"/>
          </a:ln>
        </p:spPr>
      </p:sp>
      <p:sp>
        <p:nvSpPr>
          <p:cNvPr id="41" name="">
            <a:extLst xmlns:a="http://schemas.openxmlformats.org/drawingml/2006/main">
              <a:ext uri="{FF2B5EF4-FFF2-40B4-BE49-F238E27FC236}">
                <a16:creationId xmlns:a16="http://schemas.microsoft.com/office/drawing/2014/main" id="{66E5332D-A930-4063-9319-58BBDE0B7B24}"/>
              </a:ext>
            </a:extLst>
          </p:cNvPr>
          <p:cNvSpPr>
            <a:spLocks xmlns:a="http://schemas.openxmlformats.org/drawingml/2006/main" noGrp="1"/>
          </p:cNvSpPr>
          <p:nvPr/>
        </p:nvSpPr>
        <p:spPr>
          <a:xfrm xmlns:a="http://schemas.openxmlformats.org/drawingml/2006/main">
            <a:off x="5476875" y="5762625"/>
            <a:ext cx="561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FFFFFF"/>
                </a:solidFill>
              </a:defRPr>
            </a:pPr>
            <a:r>
              <a:rPr sz="1575" b="1">
                <a:solidFill>
                  <a:srgbClr val="FFFFFF"/>
                </a:solidFill>
              </a:rPr>
              <a:t>ML scales triage. Layered controls keep decisions trustworthy.</a:t>
            </a:r>
          </a:p>
        </p:txBody>
      </p:sp>
      <p:sp>
        <p:nvSpPr>
          <p:cNvPr id="42" name="">
            <a:extLst xmlns:a="http://schemas.openxmlformats.org/drawingml/2006/main">
              <a:ext uri="{FF2B5EF4-FFF2-40B4-BE49-F238E27FC236}">
                <a16:creationId xmlns:a16="http://schemas.microsoft.com/office/drawing/2014/main" id="{252AA909-1EA3-41EE-84C8-94858C3BEB6A}"/>
              </a:ext>
            </a:extLst>
          </p:cNvPr>
          <p:cNvSpPr>
            <a:spLocks xmlns:a="http://schemas.openxmlformats.org/drawingml/2006/main" noGrp="1"/>
          </p:cNvSpPr>
          <p:nvPr/>
        </p:nvSpPr>
        <p:spPr>
          <a:xfrm xmlns:a="http://schemas.openxmlformats.org/drawingml/2006/main">
            <a:off x="647700" y="6400800"/>
            <a:ext cx="108966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88EAD5CB-0443-4AB9-A453-1FC4B54DB6C7}"/>
              </a:ext>
            </a:extLst>
          </p:cNvPr>
          <p:cNvSpPr>
            <a:spLocks xmlns:a="http://schemas.openxmlformats.org/drawingml/2006/main" noGrp="1"/>
          </p:cNvSpPr>
          <p:nvPr/>
        </p:nvSpPr>
        <p:spPr>
          <a:xfrm xmlns:a="http://schemas.openxmlformats.org/drawingml/2006/main">
            <a:off x="647700" y="649605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888"/>
                </a:solidFill>
              </a:defRPr>
            </a:pPr>
            <a:r>
              <a:rPr sz="975" b="0">
                <a:solidFill>
                  <a:srgbClr val="657888"/>
                </a:solidFill>
              </a:rPr>
              <a:t>Threat model → data quality → model → explanation → response → monitoring.</a:t>
            </a:r>
          </a:p>
        </p:txBody>
      </p:sp>
      <p:sp>
        <p:nvSpPr>
          <p:cNvPr id="44" name="">
            <a:extLst xmlns:a="http://schemas.openxmlformats.org/drawingml/2006/main">
              <a:ext uri="{FF2B5EF4-FFF2-40B4-BE49-F238E27FC236}">
                <a16:creationId xmlns:a16="http://schemas.microsoft.com/office/drawing/2014/main" id="{83170FAF-7056-4F47-B62E-43F65701F396}"/>
              </a:ext>
            </a:extLst>
          </p:cNvPr>
          <p:cNvSpPr>
            <a:spLocks xmlns:a="http://schemas.openxmlformats.org/drawingml/2006/main" noGrp="1"/>
          </p:cNvSpPr>
          <p:nvPr/>
        </p:nvSpPr>
        <p:spPr>
          <a:xfrm xmlns:a="http://schemas.openxmlformats.org/drawingml/2006/main">
            <a:off x="10287000" y="64674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0A1D30"/>
                </a:solidFill>
              </a:defRPr>
            </a:pPr>
            <a:r>
              <a:rPr sz="975" b="1">
                <a:solidFill>
                  <a:srgbClr val="0A1D30"/>
                </a:solidFill>
              </a:rPr>
              <a:t>10 / 12</a:t>
            </a:r>
          </a:p>
        </p:txBody>
      </p:sp>
    </p:spTree>
    <p:extLst>
      <p:ext uri="{BB962C8B-B14F-4D97-AF65-F5344CB8AC3E}">
        <p14:creationId xmlns:p14="http://schemas.microsoft.com/office/powerpoint/2010/main" val="2036698781"/>
      </p:ext>
    </p:extLst>
  </p:cSld>
</p:sld>
</file>

<file path=ppt/slides/slide11.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6B1A2E11-E01A-4CEF-AC8E-A78C70EA7EEE}"/>
              </a:ext>
            </a:extLst>
          </p:cNvPr>
          <p:cNvSpPr>
            <a:spLocks xmlns:a="http://schemas.openxmlformats.org/drawingml/2006/main" noGrp="1"/>
          </p:cNvSpPr>
          <p:nvPr/>
        </p:nvSpPr>
        <p:spPr>
          <a:xfrm xmlns:a="http://schemas.openxmlformats.org/drawingml/2006/main">
            <a:off x="647700" y="2571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0A1D30"/>
                </a:solidFill>
              </a:defRPr>
            </a:pPr>
            <a:r>
              <a:rPr sz="1050" b="1">
                <a:solidFill>
                  <a:srgbClr val="0A1D30"/>
                </a:solidFill>
              </a:rPr>
              <a:t>DATA SCIENCE METHODS FOR CYBERSECURITY</a:t>
            </a:r>
          </a:p>
        </p:txBody>
      </p:sp>
      <p:sp>
        <p:nvSpPr>
          <p:cNvPr id="2" name="">
            <a:extLst xmlns:a="http://schemas.openxmlformats.org/drawingml/2006/main">
              <a:ext uri="{FF2B5EF4-FFF2-40B4-BE49-F238E27FC236}">
                <a16:creationId xmlns:a16="http://schemas.microsoft.com/office/drawing/2014/main" id="{64EC89C7-E1AD-469F-A453-E60B57F90EBC}"/>
              </a:ext>
            </a:extLst>
          </p:cNvPr>
          <p:cNvSpPr>
            <a:spLocks xmlns:a="http://schemas.openxmlformats.org/drawingml/2006/main" noGrp="1"/>
          </p:cNvSpPr>
          <p:nvPr/>
        </p:nvSpPr>
        <p:spPr>
          <a:xfrm xmlns:a="http://schemas.openxmlformats.org/drawingml/2006/main">
            <a:off x="6096000" y="2571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2F6FE4"/>
                </a:solidFill>
              </a:defRPr>
            </a:pPr>
            <a:r>
              <a:rPr sz="1050" b="1">
                <a:solidFill>
                  <a:srgbClr val="2F6FE4"/>
                </a:solidFill>
              </a:rPr>
              <a:t>DATA QUALITY  •  FEATURE ENGINEERING  •  MODEL SELECTION</a:t>
            </a:r>
          </a:p>
        </p:txBody>
      </p:sp>
      <p:sp>
        <p:nvSpPr>
          <p:cNvPr id="3" name="">
            <a:extLst xmlns:a="http://schemas.openxmlformats.org/drawingml/2006/main">
              <a:ext uri="{FF2B5EF4-FFF2-40B4-BE49-F238E27FC236}">
                <a16:creationId xmlns:a16="http://schemas.microsoft.com/office/drawing/2014/main" id="{226AA7F2-61AA-45D6-9F10-0B017C38D45D}"/>
              </a:ext>
            </a:extLst>
          </p:cNvPr>
          <p:cNvSpPr>
            <a:spLocks xmlns:a="http://schemas.openxmlformats.org/drawingml/2006/main" noGrp="1"/>
          </p:cNvSpPr>
          <p:nvPr/>
        </p:nvSpPr>
        <p:spPr>
          <a:xfrm xmlns:a="http://schemas.openxmlformats.org/drawingml/2006/main">
            <a:off x="10953750" y="22860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657888"/>
                </a:solidFill>
              </a:defRPr>
            </a:pPr>
            <a:r>
              <a:rPr sz="1350" b="1">
                <a:solidFill>
                  <a:srgbClr val="657888"/>
                </a:solidFill>
              </a:rPr>
              <a:t>11</a:t>
            </a:r>
          </a:p>
        </p:txBody>
      </p:sp>
      <p:sp>
        <p:nvSpPr>
          <p:cNvPr id="4" name="">
            <a:extLst xmlns:a="http://schemas.openxmlformats.org/drawingml/2006/main">
              <a:ext uri="{FF2B5EF4-FFF2-40B4-BE49-F238E27FC236}">
                <a16:creationId xmlns:a16="http://schemas.microsoft.com/office/drawing/2014/main" id="{F0D2A8BA-CF3A-4BEA-905D-B63241D75495}"/>
              </a:ext>
            </a:extLst>
          </p:cNvPr>
          <p:cNvSpPr>
            <a:spLocks xmlns:a="http://schemas.openxmlformats.org/drawingml/2006/main" noGrp="1"/>
          </p:cNvSpPr>
          <p:nvPr/>
        </p:nvSpPr>
        <p:spPr>
          <a:xfrm xmlns:a="http://schemas.openxmlformats.org/drawingml/2006/main">
            <a:off x="647700" y="581025"/>
            <a:ext cx="108966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36D3CA1-EC07-46C1-81C0-949B2A2316E3}"/>
              </a:ext>
            </a:extLst>
          </p:cNvPr>
          <p:cNvSpPr>
            <a:spLocks xmlns:a="http://schemas.openxmlformats.org/drawingml/2006/main" noGrp="1"/>
          </p:cNvSpPr>
          <p:nvPr/>
        </p:nvSpPr>
        <p:spPr>
          <a:xfrm xmlns:a="http://schemas.openxmlformats.org/drawingml/2006/main">
            <a:off x="647700" y="762000"/>
            <a:ext cx="10896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0A1D30"/>
                </a:solidFill>
              </a:defRPr>
            </a:pPr>
            <a:r>
              <a:rPr sz="3150" b="1">
                <a:solidFill>
                  <a:srgbClr val="0A1D30"/>
                </a:solidFill>
              </a:rPr>
              <a:t>Data and modeling controls strengthen validity</a:t>
            </a:r>
          </a:p>
        </p:txBody>
      </p:sp>
      <p:sp>
        <p:nvSpPr>
          <p:cNvPr id="6" name="">
            <a:extLst xmlns:a="http://schemas.openxmlformats.org/drawingml/2006/main">
              <a:ext uri="{FF2B5EF4-FFF2-40B4-BE49-F238E27FC236}">
                <a16:creationId xmlns:a16="http://schemas.microsoft.com/office/drawing/2014/main" id="{C33842F8-F876-404C-ACA9-DAE35EA6D6F0}"/>
              </a:ext>
            </a:extLst>
          </p:cNvPr>
          <p:cNvSpPr>
            <a:spLocks xmlns:a="http://schemas.openxmlformats.org/drawingml/2006/main" noGrp="1"/>
          </p:cNvSpPr>
          <p:nvPr/>
        </p:nvSpPr>
        <p:spPr>
          <a:xfrm xmlns:a="http://schemas.openxmlformats.org/drawingml/2006/main">
            <a:off x="685800" y="148590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657888"/>
                </a:solidFill>
              </a:defRPr>
            </a:pPr>
            <a:r>
              <a:rPr sz="1725" b="0">
                <a:solidFill>
                  <a:srgbClr val="657888"/>
                </a:solidFill>
              </a:rPr>
              <a:t>Quality gates keep scale, representation, and model comparison reproducible.</a:t>
            </a:r>
          </a:p>
        </p:txBody>
      </p:sp>
      <p:sp>
        <p:nvSpPr>
          <p:cNvPr id="7" name="">
            <a:extLst xmlns:a="http://schemas.openxmlformats.org/drawingml/2006/main">
              <a:ext uri="{FF2B5EF4-FFF2-40B4-BE49-F238E27FC236}">
                <a16:creationId xmlns:a16="http://schemas.microsoft.com/office/drawing/2014/main" id="{E3B93EEA-8C61-42A0-9196-732F80CBB556}"/>
              </a:ext>
            </a:extLst>
          </p:cNvPr>
          <p:cNvSpPr>
            <a:spLocks xmlns:a="http://schemas.openxmlformats.org/drawingml/2006/main" noGrp="1"/>
          </p:cNvSpPr>
          <p:nvPr/>
        </p:nvSpPr>
        <p:spPr>
          <a:xfrm xmlns:a="http://schemas.openxmlformats.org/drawingml/2006/main">
            <a:off x="685800" y="2047875"/>
            <a:ext cx="2619375" cy="3162300"/>
          </a:xfrm>
          <a:prstGeom xmlns:a="http://schemas.openxmlformats.org/drawingml/2006/main" prst="roundRect">
            <a:avLst>
              <a:gd name="adj" fmla="val 5818"/>
            </a:avLst>
          </a:prstGeom>
          <a:solidFill xmlns:a="http://schemas.openxmlformats.org/drawingml/2006/main">
            <a:srgbClr val="0A1D30"/>
          </a:solidFill>
          <a:ln xmlns:a="http://schemas.openxmlformats.org/drawingml/2006/main" w="0">
            <a:solidFill>
              <a:srgbClr val="0A1D30"/>
            </a:solidFill>
            <a:prstDash val="solid"/>
          </a:ln>
        </p:spPr>
      </p:sp>
      <p:sp>
        <p:nvSpPr>
          <p:cNvPr id="8" name="">
            <a:extLst xmlns:a="http://schemas.openxmlformats.org/drawingml/2006/main">
              <a:ext uri="{FF2B5EF4-FFF2-40B4-BE49-F238E27FC236}">
                <a16:creationId xmlns:a16="http://schemas.microsoft.com/office/drawing/2014/main" id="{73B2C854-E9AE-4256-96C5-F71C205821E5}"/>
              </a:ext>
            </a:extLst>
          </p:cNvPr>
          <p:cNvSpPr>
            <a:spLocks xmlns:a="http://schemas.openxmlformats.org/drawingml/2006/main" noGrp="1"/>
          </p:cNvSpPr>
          <p:nvPr/>
        </p:nvSpPr>
        <p:spPr>
          <a:xfrm xmlns:a="http://schemas.openxmlformats.org/drawingml/2006/main">
            <a:off x="876300" y="2714625"/>
            <a:ext cx="2238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850" b="1">
                <a:solidFill>
                  <a:srgbClr val="26BFD0"/>
                </a:solidFill>
              </a:defRPr>
            </a:pPr>
            <a:r>
              <a:rPr sz="2850" b="1">
                <a:solidFill>
                  <a:srgbClr val="26BFD0"/>
                </a:solidFill>
              </a:rPr>
              <a:t>&gt; 1,000,000</a:t>
            </a:r>
          </a:p>
        </p:txBody>
      </p:sp>
      <p:sp>
        <p:nvSpPr>
          <p:cNvPr id="9" name="">
            <a:extLst xmlns:a="http://schemas.openxmlformats.org/drawingml/2006/main">
              <a:ext uri="{FF2B5EF4-FFF2-40B4-BE49-F238E27FC236}">
                <a16:creationId xmlns:a16="http://schemas.microsoft.com/office/drawing/2014/main" id="{6F0B2D48-78C9-49F9-8907-F2FD45340DE2}"/>
              </a:ext>
            </a:extLst>
          </p:cNvPr>
          <p:cNvSpPr>
            <a:spLocks xmlns:a="http://schemas.openxmlformats.org/drawingml/2006/main" noGrp="1"/>
          </p:cNvSpPr>
          <p:nvPr/>
        </p:nvSpPr>
        <p:spPr>
          <a:xfrm xmlns:a="http://schemas.openxmlformats.org/drawingml/2006/main">
            <a:off x="876300" y="3476625"/>
            <a:ext cx="2238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defRPr>
            </a:pPr>
            <a:r>
              <a:rPr sz="1500" b="1">
                <a:solidFill>
                  <a:srgbClr val="FFFFFF"/>
                </a:solidFill>
              </a:rPr>
              <a:t>project dataset rows</a:t>
            </a:r>
          </a:p>
        </p:txBody>
      </p:sp>
      <p:sp>
        <p:nvSpPr>
          <p:cNvPr id="10" name="">
            <a:extLst xmlns:a="http://schemas.openxmlformats.org/drawingml/2006/main">
              <a:ext uri="{FF2B5EF4-FFF2-40B4-BE49-F238E27FC236}">
                <a16:creationId xmlns:a16="http://schemas.microsoft.com/office/drawing/2014/main" id="{37FBE099-7540-4596-B0DD-ADDB7DA06820}"/>
              </a:ext>
            </a:extLst>
          </p:cNvPr>
          <p:cNvSpPr>
            <a:spLocks xmlns:a="http://schemas.openxmlformats.org/drawingml/2006/main" noGrp="1"/>
          </p:cNvSpPr>
          <p:nvPr/>
        </p:nvSpPr>
        <p:spPr>
          <a:xfrm xmlns:a="http://schemas.openxmlformats.org/drawingml/2006/main">
            <a:off x="876300" y="3914775"/>
            <a:ext cx="2238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a:solidFill>
                  <a:srgbClr val="B7CBD7"/>
                </a:solidFill>
              </a:defRPr>
            </a:pPr>
            <a:r>
              <a:rPr sz="1125" b="0">
                <a:solidFill>
                  <a:srgbClr val="B7CBD7"/>
                </a:solidFill>
              </a:rPr>
              <a:t>manually verified</a:t>
            </a:r>
          </a:p>
        </p:txBody>
      </p:sp>
      <p:sp>
        <p:nvSpPr>
          <p:cNvPr id="11" name="">
            <a:extLst xmlns:a="http://schemas.openxmlformats.org/drawingml/2006/main">
              <a:ext uri="{FF2B5EF4-FFF2-40B4-BE49-F238E27FC236}">
                <a16:creationId xmlns:a16="http://schemas.microsoft.com/office/drawing/2014/main" id="{E202CF19-D93A-4680-AE47-293E938B9494}"/>
              </a:ext>
            </a:extLst>
          </p:cNvPr>
          <p:cNvSpPr>
            <a:spLocks xmlns:a="http://schemas.openxmlformats.org/drawingml/2006/main" noGrp="1"/>
          </p:cNvSpPr>
          <p:nvPr/>
        </p:nvSpPr>
        <p:spPr>
          <a:xfrm xmlns:a="http://schemas.openxmlformats.org/drawingml/2006/main">
            <a:off x="3733800" y="2095500"/>
            <a:ext cx="28575" cy="31432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8A4E03B-E76B-4096-8A03-24CD66E5CD81}"/>
              </a:ext>
            </a:extLst>
          </p:cNvPr>
          <p:cNvSpPr>
            <a:spLocks xmlns:a="http://schemas.openxmlformats.org/drawingml/2006/main" noGrp="1"/>
          </p:cNvSpPr>
          <p:nvPr/>
        </p:nvSpPr>
        <p:spPr>
          <a:xfrm xmlns:a="http://schemas.openxmlformats.org/drawingml/2006/main">
            <a:off x="4191000" y="2047875"/>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F9D88"/>
                </a:solidFill>
              </a:defRPr>
            </a:pPr>
            <a:r>
              <a:rPr sz="1275" b="1">
                <a:solidFill>
                  <a:srgbClr val="1F9D88"/>
                </a:solidFill>
              </a:rPr>
              <a:t>STRUCTURAL FEATURE ENGINEERING</a:t>
            </a:r>
          </a:p>
        </p:txBody>
      </p:sp>
      <p:sp>
        <p:nvSpPr>
          <p:cNvPr id="13" name="">
            <a:extLst xmlns:a="http://schemas.openxmlformats.org/drawingml/2006/main">
              <a:ext uri="{FF2B5EF4-FFF2-40B4-BE49-F238E27FC236}">
                <a16:creationId xmlns:a16="http://schemas.microsoft.com/office/drawing/2014/main" id="{133E20D8-D87A-4265-A385-51D703997C48}"/>
              </a:ext>
            </a:extLst>
          </p:cNvPr>
          <p:cNvSpPr>
            <a:spLocks xmlns:a="http://schemas.openxmlformats.org/drawingml/2006/main" noGrp="1"/>
          </p:cNvSpPr>
          <p:nvPr/>
        </p:nvSpPr>
        <p:spPr>
          <a:xfrm xmlns:a="http://schemas.openxmlformats.org/drawingml/2006/main">
            <a:off x="4191000" y="239077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A1D30"/>
                </a:solidFill>
              </a:defRPr>
            </a:pPr>
            <a:r>
              <a:rPr sz="2175" b="1">
                <a:solidFill>
                  <a:srgbClr val="0A1D30"/>
                </a:solidFill>
              </a:rPr>
              <a:t>Versioned, auditable representation</a:t>
            </a:r>
          </a:p>
        </p:txBody>
      </p:sp>
      <p:sp>
        <p:nvSpPr>
          <p:cNvPr id="14" name="">
            <a:extLst xmlns:a="http://schemas.openxmlformats.org/drawingml/2006/main">
              <a:ext uri="{FF2B5EF4-FFF2-40B4-BE49-F238E27FC236}">
                <a16:creationId xmlns:a16="http://schemas.microsoft.com/office/drawing/2014/main" id="{55B0D3E6-1395-4306-99FA-C0ED6187A2FF}"/>
              </a:ext>
            </a:extLst>
          </p:cNvPr>
          <p:cNvSpPr>
            <a:spLocks xmlns:a="http://schemas.openxmlformats.org/drawingml/2006/main" noGrp="1"/>
          </p:cNvSpPr>
          <p:nvPr/>
        </p:nvSpPr>
        <p:spPr>
          <a:xfrm xmlns:a="http://schemas.openxmlformats.org/drawingml/2006/main">
            <a:off x="4191000" y="3076575"/>
            <a:ext cx="304800" cy="47625"/>
          </a:xfrm>
          <a:prstGeom xmlns:a="http://schemas.openxmlformats.org/drawingml/2006/main" prst="roundRect">
            <a:avLst>
              <a:gd name="adj" fmla="val 50000"/>
            </a:avLst>
          </a:prstGeom>
          <a:solidFill xmlns:a="http://schemas.openxmlformats.org/drawingml/2006/main">
            <a:srgbClr val="2F6F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F929502-8897-4350-9ADA-6D487CB57DE2}"/>
              </a:ext>
            </a:extLst>
          </p:cNvPr>
          <p:cNvSpPr>
            <a:spLocks xmlns:a="http://schemas.openxmlformats.org/drawingml/2006/main" noGrp="1"/>
          </p:cNvSpPr>
          <p:nvPr/>
        </p:nvSpPr>
        <p:spPr>
          <a:xfrm xmlns:a="http://schemas.openxmlformats.org/drawingml/2006/main">
            <a:off x="4667250" y="3000375"/>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73044"/>
                </a:solidFill>
              </a:defRPr>
            </a:pPr>
            <a:r>
              <a:rPr sz="1500" b="0">
                <a:solidFill>
                  <a:srgbClr val="173044"/>
                </a:solidFill>
              </a:rPr>
              <a:t>scale-stable + density</a:t>
            </a:r>
          </a:p>
        </p:txBody>
      </p:sp>
      <p:sp>
        <p:nvSpPr>
          <p:cNvPr id="16" name="">
            <a:extLst xmlns:a="http://schemas.openxmlformats.org/drawingml/2006/main">
              <a:ext uri="{FF2B5EF4-FFF2-40B4-BE49-F238E27FC236}">
                <a16:creationId xmlns:a16="http://schemas.microsoft.com/office/drawing/2014/main" id="{8A05E287-2A6F-4F71-A45A-E1AD41AD964E}"/>
              </a:ext>
            </a:extLst>
          </p:cNvPr>
          <p:cNvSpPr>
            <a:spLocks xmlns:a="http://schemas.openxmlformats.org/drawingml/2006/main" noGrp="1"/>
          </p:cNvSpPr>
          <p:nvPr/>
        </p:nvSpPr>
        <p:spPr>
          <a:xfrm xmlns:a="http://schemas.openxmlformats.org/drawingml/2006/main">
            <a:off x="4191000" y="3533775"/>
            <a:ext cx="304800" cy="47625"/>
          </a:xfrm>
          <a:prstGeom xmlns:a="http://schemas.openxmlformats.org/drawingml/2006/main" prst="roundRect">
            <a:avLst>
              <a:gd name="adj" fmla="val 50000"/>
            </a:avLst>
          </a:prstGeom>
          <a:solidFill xmlns:a="http://schemas.openxmlformats.org/drawingml/2006/main">
            <a:srgbClr val="1F9D8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4B62306-E634-4D25-BE3C-D3538D29AB25}"/>
              </a:ext>
            </a:extLst>
          </p:cNvPr>
          <p:cNvSpPr>
            <a:spLocks xmlns:a="http://schemas.openxmlformats.org/drawingml/2006/main" noGrp="1"/>
          </p:cNvSpPr>
          <p:nvPr/>
        </p:nvSpPr>
        <p:spPr>
          <a:xfrm xmlns:a="http://schemas.openxmlformats.org/drawingml/2006/main">
            <a:off x="4667250" y="3457575"/>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73044"/>
                </a:solidFill>
              </a:defRPr>
            </a:pPr>
            <a:r>
              <a:rPr sz="1500" b="0">
                <a:solidFill>
                  <a:srgbClr val="173044"/>
                </a:solidFill>
              </a:rPr>
              <a:t>consistency + interactions</a:t>
            </a:r>
          </a:p>
        </p:txBody>
      </p:sp>
      <p:sp>
        <p:nvSpPr>
          <p:cNvPr id="18" name="">
            <a:extLst xmlns:a="http://schemas.openxmlformats.org/drawingml/2006/main">
              <a:ext uri="{FF2B5EF4-FFF2-40B4-BE49-F238E27FC236}">
                <a16:creationId xmlns:a16="http://schemas.microsoft.com/office/drawing/2014/main" id="{49DC9354-6378-49DD-A94F-C6BC42B1B7FB}"/>
              </a:ext>
            </a:extLst>
          </p:cNvPr>
          <p:cNvSpPr>
            <a:spLocks xmlns:a="http://schemas.openxmlformats.org/drawingml/2006/main" noGrp="1"/>
          </p:cNvSpPr>
          <p:nvPr/>
        </p:nvSpPr>
        <p:spPr>
          <a:xfrm xmlns:a="http://schemas.openxmlformats.org/drawingml/2006/main">
            <a:off x="4191000" y="3990975"/>
            <a:ext cx="304800" cy="47625"/>
          </a:xfrm>
          <a:prstGeom xmlns:a="http://schemas.openxmlformats.org/drawingml/2006/main" prst="roundRect">
            <a:avLst>
              <a:gd name="adj" fmla="val 50000"/>
            </a:avLst>
          </a:prstGeom>
          <a:solidFill xmlns:a="http://schemas.openxmlformats.org/drawingml/2006/main">
            <a:srgbClr val="E5A33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00C31BE-ACD2-4891-9911-86EBB593EE6F}"/>
              </a:ext>
            </a:extLst>
          </p:cNvPr>
          <p:cNvSpPr>
            <a:spLocks xmlns:a="http://schemas.openxmlformats.org/drawingml/2006/main" noGrp="1"/>
          </p:cNvSpPr>
          <p:nvPr/>
        </p:nvSpPr>
        <p:spPr>
          <a:xfrm xmlns:a="http://schemas.openxmlformats.org/drawingml/2006/main">
            <a:off x="4667250" y="3914775"/>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73044"/>
                </a:solidFill>
              </a:defRPr>
            </a:pPr>
            <a:r>
              <a:rPr sz="1500" b="0">
                <a:solidFill>
                  <a:srgbClr val="173044"/>
                </a:solidFill>
              </a:rPr>
              <a:t>complexity + parser health</a:t>
            </a:r>
          </a:p>
        </p:txBody>
      </p:sp>
      <p:sp>
        <p:nvSpPr>
          <p:cNvPr id="20" name="">
            <a:extLst xmlns:a="http://schemas.openxmlformats.org/drawingml/2006/main">
              <a:ext uri="{FF2B5EF4-FFF2-40B4-BE49-F238E27FC236}">
                <a16:creationId xmlns:a16="http://schemas.microsoft.com/office/drawing/2014/main" id="{CBBDC34A-E6E3-4033-957B-54EB2E05AB16}"/>
              </a:ext>
            </a:extLst>
          </p:cNvPr>
          <p:cNvSpPr>
            <a:spLocks xmlns:a="http://schemas.openxmlformats.org/drawingml/2006/main" noGrp="1"/>
          </p:cNvSpPr>
          <p:nvPr/>
        </p:nvSpPr>
        <p:spPr>
          <a:xfrm xmlns:a="http://schemas.openxmlformats.org/drawingml/2006/main">
            <a:off x="4191000" y="4448175"/>
            <a:ext cx="304800" cy="47625"/>
          </a:xfrm>
          <a:prstGeom xmlns:a="http://schemas.openxmlformats.org/drawingml/2006/main" prst="roundRect">
            <a:avLst>
              <a:gd name="adj" fmla="val 50000"/>
            </a:avLst>
          </a:prstGeom>
          <a:solidFill xmlns:a="http://schemas.openxmlformats.org/drawingml/2006/main">
            <a:srgbClr val="D8656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4AE048E-83D1-44FD-8F14-ED88B8F6471D}"/>
              </a:ext>
            </a:extLst>
          </p:cNvPr>
          <p:cNvSpPr>
            <a:spLocks xmlns:a="http://schemas.openxmlformats.org/drawingml/2006/main" noGrp="1"/>
          </p:cNvSpPr>
          <p:nvPr/>
        </p:nvSpPr>
        <p:spPr>
          <a:xfrm xmlns:a="http://schemas.openxmlformats.org/drawingml/2006/main">
            <a:off x="4667250" y="4371975"/>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73044"/>
                </a:solidFill>
              </a:defRPr>
            </a:pPr>
            <a:r>
              <a:rPr sz="1500" b="0">
                <a:solidFill>
                  <a:srgbClr val="173044"/>
                </a:solidFill>
              </a:rPr>
              <a:t>shortcut audit + ablation + parity</a:t>
            </a:r>
          </a:p>
        </p:txBody>
      </p:sp>
      <p:sp>
        <p:nvSpPr>
          <p:cNvPr id="22" name="">
            <a:extLst xmlns:a="http://schemas.openxmlformats.org/drawingml/2006/main">
              <a:ext uri="{FF2B5EF4-FFF2-40B4-BE49-F238E27FC236}">
                <a16:creationId xmlns:a16="http://schemas.microsoft.com/office/drawing/2014/main" id="{15105096-427B-43A2-8A49-7C111F52853B}"/>
              </a:ext>
            </a:extLst>
          </p:cNvPr>
          <p:cNvSpPr>
            <a:spLocks xmlns:a="http://schemas.openxmlformats.org/drawingml/2006/main" noGrp="1"/>
          </p:cNvSpPr>
          <p:nvPr/>
        </p:nvSpPr>
        <p:spPr>
          <a:xfrm xmlns:a="http://schemas.openxmlformats.org/drawingml/2006/main">
            <a:off x="8858250" y="204787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F6FE4"/>
                </a:solidFill>
              </a:defRPr>
            </a:pPr>
            <a:r>
              <a:rPr sz="1275" b="1">
                <a:solidFill>
                  <a:srgbClr val="2F6FE4"/>
                </a:solidFill>
              </a:rPr>
              <a:t>FAIR MODEL COMPETITION</a:t>
            </a:r>
          </a:p>
        </p:txBody>
      </p:sp>
      <p:sp>
        <p:nvSpPr>
          <p:cNvPr id="23" name="">
            <a:extLst xmlns:a="http://schemas.openxmlformats.org/drawingml/2006/main">
              <a:ext uri="{FF2B5EF4-FFF2-40B4-BE49-F238E27FC236}">
                <a16:creationId xmlns:a16="http://schemas.microsoft.com/office/drawing/2014/main" id="{B3876BBA-16BA-42FE-B6F2-9D3D540BA9D7}"/>
              </a:ext>
            </a:extLst>
          </p:cNvPr>
          <p:cNvSpPr>
            <a:spLocks xmlns:a="http://schemas.openxmlformats.org/drawingml/2006/main" noGrp="1"/>
          </p:cNvSpPr>
          <p:nvPr/>
        </p:nvSpPr>
        <p:spPr>
          <a:xfrm xmlns:a="http://schemas.openxmlformats.org/drawingml/2006/main">
            <a:off x="8858250" y="2390775"/>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A1D30"/>
                </a:solidFill>
              </a:defRPr>
            </a:pPr>
            <a:r>
              <a:rPr sz="2025" b="1">
                <a:solidFill>
                  <a:srgbClr val="0A1D30"/>
                </a:solidFill>
              </a:rPr>
              <a:t>Trees lead; neural models must prove value</a:t>
            </a:r>
          </a:p>
        </p:txBody>
      </p:sp>
      <p:sp>
        <p:nvSpPr>
          <p:cNvPr id="24" name="">
            <a:extLst xmlns:a="http://schemas.openxmlformats.org/drawingml/2006/main">
              <a:ext uri="{FF2B5EF4-FFF2-40B4-BE49-F238E27FC236}">
                <a16:creationId xmlns:a16="http://schemas.microsoft.com/office/drawing/2014/main" id="{5D5D1958-8F07-4D8A-9A82-D2A2340F4562}"/>
              </a:ext>
            </a:extLst>
          </p:cNvPr>
          <p:cNvSpPr>
            <a:spLocks xmlns:a="http://schemas.openxmlformats.org/drawingml/2006/main" noGrp="1"/>
          </p:cNvSpPr>
          <p:nvPr/>
        </p:nvSpPr>
        <p:spPr>
          <a:xfrm xmlns:a="http://schemas.openxmlformats.org/drawingml/2006/main">
            <a:off x="8858250" y="32861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F6FE4"/>
                </a:solidFill>
              </a:defRPr>
            </a:pPr>
            <a:r>
              <a:rPr sz="1500" b="0">
                <a:solidFill>
                  <a:srgbClr val="2F6FE4"/>
                </a:solidFill>
              </a:rPr>
              <a:t>Logistic baseline</a:t>
            </a:r>
          </a:p>
        </p:txBody>
      </p:sp>
      <p:sp>
        <p:nvSpPr>
          <p:cNvPr id="25" name="">
            <a:extLst xmlns:a="http://schemas.openxmlformats.org/drawingml/2006/main">
              <a:ext uri="{FF2B5EF4-FFF2-40B4-BE49-F238E27FC236}">
                <a16:creationId xmlns:a16="http://schemas.microsoft.com/office/drawing/2014/main" id="{21B73BF7-120C-41FC-9760-5F98A9B0376D}"/>
              </a:ext>
            </a:extLst>
          </p:cNvPr>
          <p:cNvSpPr>
            <a:spLocks xmlns:a="http://schemas.openxmlformats.org/drawingml/2006/main" noGrp="1"/>
          </p:cNvSpPr>
          <p:nvPr/>
        </p:nvSpPr>
        <p:spPr>
          <a:xfrm xmlns:a="http://schemas.openxmlformats.org/drawingml/2006/main">
            <a:off x="8858250" y="37147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F9D88"/>
                </a:solidFill>
              </a:defRPr>
            </a:pPr>
            <a:r>
              <a:rPr sz="1500" b="1">
                <a:solidFill>
                  <a:srgbClr val="1F9D88"/>
                </a:solidFill>
              </a:rPr>
              <a:t>Extra Trees + boosting</a:t>
            </a:r>
          </a:p>
        </p:txBody>
      </p:sp>
      <p:sp>
        <p:nvSpPr>
          <p:cNvPr id="26" name="">
            <a:extLst xmlns:a="http://schemas.openxmlformats.org/drawingml/2006/main">
              <a:ext uri="{FF2B5EF4-FFF2-40B4-BE49-F238E27FC236}">
                <a16:creationId xmlns:a16="http://schemas.microsoft.com/office/drawing/2014/main" id="{A3B13BDA-BB1A-4D69-BC86-4FD79AF837E5}"/>
              </a:ext>
            </a:extLst>
          </p:cNvPr>
          <p:cNvSpPr>
            <a:spLocks xmlns:a="http://schemas.openxmlformats.org/drawingml/2006/main" noGrp="1"/>
          </p:cNvSpPr>
          <p:nvPr/>
        </p:nvSpPr>
        <p:spPr>
          <a:xfrm xmlns:a="http://schemas.openxmlformats.org/drawingml/2006/main">
            <a:off x="8858250" y="41433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E5A33D"/>
                </a:solidFill>
              </a:defRPr>
            </a:pPr>
            <a:r>
              <a:rPr sz="1500" b="0">
                <a:solidFill>
                  <a:srgbClr val="E5A33D"/>
                </a:solidFill>
              </a:rPr>
              <a:t>MLP = control</a:t>
            </a:r>
          </a:p>
        </p:txBody>
      </p:sp>
      <p:sp>
        <p:nvSpPr>
          <p:cNvPr id="27" name="">
            <a:extLst xmlns:a="http://schemas.openxmlformats.org/drawingml/2006/main">
              <a:ext uri="{FF2B5EF4-FFF2-40B4-BE49-F238E27FC236}">
                <a16:creationId xmlns:a16="http://schemas.microsoft.com/office/drawing/2014/main" id="{0A40C1EA-1084-4FC9-83CC-70FD22E26F72}"/>
              </a:ext>
            </a:extLst>
          </p:cNvPr>
          <p:cNvSpPr>
            <a:spLocks xmlns:a="http://schemas.openxmlformats.org/drawingml/2006/main" noGrp="1"/>
          </p:cNvSpPr>
          <p:nvPr/>
        </p:nvSpPr>
        <p:spPr>
          <a:xfrm xmlns:a="http://schemas.openxmlformats.org/drawingml/2006/main">
            <a:off x="8858250" y="457200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D86565"/>
                </a:solidFill>
              </a:defRPr>
            </a:pPr>
            <a:r>
              <a:rPr sz="1500" b="0">
                <a:solidFill>
                  <a:srgbClr val="D86565"/>
                </a:solidFill>
              </a:rPr>
              <a:t>FT-Transformer = neural candidate</a:t>
            </a:r>
          </a:p>
        </p:txBody>
      </p:sp>
      <p:sp>
        <p:nvSpPr>
          <p:cNvPr id="28" name="">
            <a:extLst xmlns:a="http://schemas.openxmlformats.org/drawingml/2006/main">
              <a:ext uri="{FF2B5EF4-FFF2-40B4-BE49-F238E27FC236}">
                <a16:creationId xmlns:a16="http://schemas.microsoft.com/office/drawing/2014/main" id="{D611D07E-B968-4E09-827E-EC024D9B10C8}"/>
              </a:ext>
            </a:extLst>
          </p:cNvPr>
          <p:cNvSpPr>
            <a:spLocks xmlns:a="http://schemas.openxmlformats.org/drawingml/2006/main" noGrp="1"/>
          </p:cNvSpPr>
          <p:nvPr/>
        </p:nvSpPr>
        <p:spPr>
          <a:xfrm xmlns:a="http://schemas.openxmlformats.org/drawingml/2006/main">
            <a:off x="685800" y="5572125"/>
            <a:ext cx="10839450" cy="533400"/>
          </a:xfrm>
          <a:prstGeom xmlns:a="http://schemas.openxmlformats.org/drawingml/2006/main" prst="roundRect">
            <a:avLst>
              <a:gd name="adj" fmla="val 14286"/>
            </a:avLst>
          </a:prstGeom>
          <a:solidFill xmlns:a="http://schemas.openxmlformats.org/drawingml/2006/main">
            <a:srgbClr val="F8EEDC"/>
          </a:solidFill>
          <a:ln xmlns:a="http://schemas.openxmlformats.org/drawingml/2006/main" w="9525">
            <a:solidFill>
              <a:srgbClr val="E5A33D"/>
            </a:solidFill>
            <a:prstDash val="solid"/>
          </a:ln>
        </p:spPr>
      </p:sp>
      <p:sp>
        <p:nvSpPr>
          <p:cNvPr id="29" name="">
            <a:extLst xmlns:a="http://schemas.openxmlformats.org/drawingml/2006/main">
              <a:ext uri="{FF2B5EF4-FFF2-40B4-BE49-F238E27FC236}">
                <a16:creationId xmlns:a16="http://schemas.microsoft.com/office/drawing/2014/main" id="{905DC9AF-6257-4BC9-B442-8D005D21BF37}"/>
              </a:ext>
            </a:extLst>
          </p:cNvPr>
          <p:cNvSpPr>
            <a:spLocks xmlns:a="http://schemas.openxmlformats.org/drawingml/2006/main" noGrp="1"/>
          </p:cNvSpPr>
          <p:nvPr/>
        </p:nvSpPr>
        <p:spPr>
          <a:xfrm xmlns:a="http://schemas.openxmlformats.org/drawingml/2006/main">
            <a:off x="876300" y="5695950"/>
            <a:ext cx="1045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0A1D30"/>
                </a:solidFill>
              </a:defRPr>
            </a:pPr>
            <a:r>
              <a:rPr sz="1500" b="1">
                <a:solidFill>
                  <a:srgbClr val="0A1D30"/>
                </a:solidFill>
              </a:rPr>
              <a:t>A controlled pipeline connects validated data to fair model comparison</a:t>
            </a:r>
          </a:p>
        </p:txBody>
      </p:sp>
      <p:sp>
        <p:nvSpPr>
          <p:cNvPr id="30" name="">
            <a:extLst xmlns:a="http://schemas.openxmlformats.org/drawingml/2006/main">
              <a:ext uri="{FF2B5EF4-FFF2-40B4-BE49-F238E27FC236}">
                <a16:creationId xmlns:a16="http://schemas.microsoft.com/office/drawing/2014/main" id="{088B8147-E143-4000-999D-6280305F1A1F}"/>
              </a:ext>
            </a:extLst>
          </p:cNvPr>
          <p:cNvSpPr>
            <a:spLocks xmlns:a="http://schemas.openxmlformats.org/drawingml/2006/main" noGrp="1"/>
          </p:cNvSpPr>
          <p:nvPr/>
        </p:nvSpPr>
        <p:spPr>
          <a:xfrm xmlns:a="http://schemas.openxmlformats.org/drawingml/2006/main">
            <a:off x="647700" y="6400800"/>
            <a:ext cx="108966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51875C9-4C17-4C15-BB6E-B0F1AB199740}"/>
              </a:ext>
            </a:extLst>
          </p:cNvPr>
          <p:cNvSpPr>
            <a:spLocks xmlns:a="http://schemas.openxmlformats.org/drawingml/2006/main" noGrp="1"/>
          </p:cNvSpPr>
          <p:nvPr/>
        </p:nvSpPr>
        <p:spPr>
          <a:xfrm xmlns:a="http://schemas.openxmlformats.org/drawingml/2006/main">
            <a:off x="647700" y="649605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888"/>
                </a:solidFill>
              </a:defRPr>
            </a:pPr>
            <a:r>
              <a:rPr sz="975" b="0">
                <a:solidFill>
                  <a:srgbClr val="657888"/>
                </a:solidFill>
              </a:rPr>
              <a:t>Data quality, train-serve parity, and consistent evaluation protect validity.</a:t>
            </a:r>
          </a:p>
        </p:txBody>
      </p:sp>
      <p:sp>
        <p:nvSpPr>
          <p:cNvPr id="32" name="">
            <a:extLst xmlns:a="http://schemas.openxmlformats.org/drawingml/2006/main">
              <a:ext uri="{FF2B5EF4-FFF2-40B4-BE49-F238E27FC236}">
                <a16:creationId xmlns:a16="http://schemas.microsoft.com/office/drawing/2014/main" id="{B9267471-9507-4759-B525-52EB8DB28006}"/>
              </a:ext>
            </a:extLst>
          </p:cNvPr>
          <p:cNvSpPr>
            <a:spLocks xmlns:a="http://schemas.openxmlformats.org/drawingml/2006/main" noGrp="1"/>
          </p:cNvSpPr>
          <p:nvPr/>
        </p:nvSpPr>
        <p:spPr>
          <a:xfrm xmlns:a="http://schemas.openxmlformats.org/drawingml/2006/main">
            <a:off x="10287000" y="64674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0A1D30"/>
                </a:solidFill>
              </a:defRPr>
            </a:pPr>
            <a:r>
              <a:rPr sz="975" b="1">
                <a:solidFill>
                  <a:srgbClr val="0A1D30"/>
                </a:solidFill>
              </a:rPr>
              <a:t>11 / 12</a:t>
            </a:r>
          </a:p>
        </p:txBody>
      </p:sp>
    </p:spTree>
    <p:extLst>
      <p:ext uri="{BB962C8B-B14F-4D97-AF65-F5344CB8AC3E}">
        <p14:creationId xmlns:p14="http://schemas.microsoft.com/office/powerpoint/2010/main" val="2081892443"/>
      </p:ext>
    </p:extLst>
  </p:cSld>
</p:sld>
</file>

<file path=ppt/slides/slide12.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194CAFBC-0C17-4B19-80E4-CAE07AAB1489}"/>
              </a:ext>
            </a:extLst>
          </p:cNvPr>
          <p:cNvSpPr>
            <a:spLocks xmlns:a="http://schemas.openxmlformats.org/drawingml/2006/main" noGrp="1"/>
          </p:cNvSpPr>
          <p:nvPr/>
        </p:nvSpPr>
        <p:spPr>
          <a:xfrm xmlns:a="http://schemas.openxmlformats.org/drawingml/2006/main">
            <a:off x="647700" y="2571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0A1D30"/>
                </a:solidFill>
              </a:defRPr>
            </a:pPr>
            <a:r>
              <a:rPr sz="1050" b="1">
                <a:solidFill>
                  <a:srgbClr val="0A1D30"/>
                </a:solidFill>
              </a:rPr>
              <a:t>DATA SCIENCE METHODS FOR CYBERSECURITY</a:t>
            </a:r>
          </a:p>
        </p:txBody>
      </p:sp>
      <p:sp>
        <p:nvSpPr>
          <p:cNvPr id="2" name="">
            <a:extLst xmlns:a="http://schemas.openxmlformats.org/drawingml/2006/main">
              <a:ext uri="{FF2B5EF4-FFF2-40B4-BE49-F238E27FC236}">
                <a16:creationId xmlns:a16="http://schemas.microsoft.com/office/drawing/2014/main" id="{4BAD8C6A-1967-4A4D-BC10-DA994697F33C}"/>
              </a:ext>
            </a:extLst>
          </p:cNvPr>
          <p:cNvSpPr>
            <a:spLocks xmlns:a="http://schemas.openxmlformats.org/drawingml/2006/main" noGrp="1"/>
          </p:cNvSpPr>
          <p:nvPr/>
        </p:nvSpPr>
        <p:spPr>
          <a:xfrm xmlns:a="http://schemas.openxmlformats.org/drawingml/2006/main">
            <a:off x="6096000" y="2571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2F6FE4"/>
                </a:solidFill>
              </a:defRPr>
            </a:pPr>
            <a:r>
              <a:rPr sz="1050" b="1">
                <a:solidFill>
                  <a:srgbClr val="2F6FE4"/>
                </a:solidFill>
              </a:rPr>
              <a:t>EVALUATION  •  EXPLAINABILITY  •  ROBUSTNESS</a:t>
            </a:r>
          </a:p>
        </p:txBody>
      </p:sp>
      <p:sp>
        <p:nvSpPr>
          <p:cNvPr id="3" name="">
            <a:extLst xmlns:a="http://schemas.openxmlformats.org/drawingml/2006/main">
              <a:ext uri="{FF2B5EF4-FFF2-40B4-BE49-F238E27FC236}">
                <a16:creationId xmlns:a16="http://schemas.microsoft.com/office/drawing/2014/main" id="{5F20CA6B-2A31-4420-8D44-7CEEEC033C80}"/>
              </a:ext>
            </a:extLst>
          </p:cNvPr>
          <p:cNvSpPr>
            <a:spLocks xmlns:a="http://schemas.openxmlformats.org/drawingml/2006/main" noGrp="1"/>
          </p:cNvSpPr>
          <p:nvPr/>
        </p:nvSpPr>
        <p:spPr>
          <a:xfrm xmlns:a="http://schemas.openxmlformats.org/drawingml/2006/main">
            <a:off x="10953750" y="22860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657888"/>
                </a:solidFill>
              </a:defRPr>
            </a:pPr>
            <a:r>
              <a:rPr sz="1350" b="1">
                <a:solidFill>
                  <a:srgbClr val="657888"/>
                </a:solidFill>
              </a:rPr>
              <a:t>12</a:t>
            </a:r>
          </a:p>
        </p:txBody>
      </p:sp>
      <p:sp>
        <p:nvSpPr>
          <p:cNvPr id="4" name="">
            <a:extLst xmlns:a="http://schemas.openxmlformats.org/drawingml/2006/main">
              <a:ext uri="{FF2B5EF4-FFF2-40B4-BE49-F238E27FC236}">
                <a16:creationId xmlns:a16="http://schemas.microsoft.com/office/drawing/2014/main" id="{BE7AF924-5762-4F8E-AA88-13D938DA4519}"/>
              </a:ext>
            </a:extLst>
          </p:cNvPr>
          <p:cNvSpPr>
            <a:spLocks xmlns:a="http://schemas.openxmlformats.org/drawingml/2006/main" noGrp="1"/>
          </p:cNvSpPr>
          <p:nvPr/>
        </p:nvSpPr>
        <p:spPr>
          <a:xfrm xmlns:a="http://schemas.openxmlformats.org/drawingml/2006/main">
            <a:off x="647700" y="581025"/>
            <a:ext cx="108966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E0074E4-1B8D-43C2-B043-DA2AB97265C6}"/>
              </a:ext>
            </a:extLst>
          </p:cNvPr>
          <p:cNvSpPr>
            <a:spLocks xmlns:a="http://schemas.openxmlformats.org/drawingml/2006/main" noGrp="1"/>
          </p:cNvSpPr>
          <p:nvPr/>
        </p:nvSpPr>
        <p:spPr>
          <a:xfrm xmlns:a="http://schemas.openxmlformats.org/drawingml/2006/main">
            <a:off x="647700" y="762000"/>
            <a:ext cx="10896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0A1D30"/>
                </a:solidFill>
              </a:defRPr>
            </a:pPr>
            <a:r>
              <a:rPr sz="3150" b="1">
                <a:solidFill>
                  <a:srgbClr val="0A1D30"/>
                </a:solidFill>
              </a:rPr>
              <a:t>Evaluation connects accuracy, explanations, and defense</a:t>
            </a:r>
          </a:p>
        </p:txBody>
      </p:sp>
      <p:sp>
        <p:nvSpPr>
          <p:cNvPr id="6" name="">
            <a:extLst xmlns:a="http://schemas.openxmlformats.org/drawingml/2006/main">
              <a:ext uri="{FF2B5EF4-FFF2-40B4-BE49-F238E27FC236}">
                <a16:creationId xmlns:a16="http://schemas.microsoft.com/office/drawing/2014/main" id="{E363DDAE-EE3D-41DA-B693-9EF698C70FC1}"/>
              </a:ext>
            </a:extLst>
          </p:cNvPr>
          <p:cNvSpPr>
            <a:spLocks xmlns:a="http://schemas.openxmlformats.org/drawingml/2006/main" noGrp="1"/>
          </p:cNvSpPr>
          <p:nvPr/>
        </p:nvSpPr>
        <p:spPr>
          <a:xfrm xmlns:a="http://schemas.openxmlformats.org/drawingml/2006/main">
            <a:off x="685800" y="148590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657888"/>
                </a:solidFill>
              </a:defRPr>
            </a:pPr>
            <a:r>
              <a:rPr sz="1725" b="0">
                <a:solidFill>
                  <a:srgbClr val="657888"/>
                </a:solidFill>
              </a:rPr>
              <a:t>Each analytical claim is connected to reproducible evidence and an operational decision.</a:t>
            </a:r>
          </a:p>
        </p:txBody>
      </p:sp>
      <p:sp>
        <p:nvSpPr>
          <p:cNvPr id="7" name="">
            <a:extLst xmlns:a="http://schemas.openxmlformats.org/drawingml/2006/main">
              <a:ext uri="{FF2B5EF4-FFF2-40B4-BE49-F238E27FC236}">
                <a16:creationId xmlns:a16="http://schemas.microsoft.com/office/drawing/2014/main" id="{F7EA1DF6-1FF7-4EC0-AAC3-92FD56A1F970}"/>
              </a:ext>
            </a:extLst>
          </p:cNvPr>
          <p:cNvSpPr>
            <a:spLocks xmlns:a="http://schemas.openxmlformats.org/drawingml/2006/main" noGrp="1"/>
          </p:cNvSpPr>
          <p:nvPr/>
        </p:nvSpPr>
        <p:spPr>
          <a:xfrm xmlns:a="http://schemas.openxmlformats.org/drawingml/2006/main">
            <a:off x="904875" y="2047875"/>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F6FE4"/>
                </a:solidFill>
              </a:defRPr>
            </a:pPr>
            <a:r>
              <a:rPr sz="1200" b="1">
                <a:solidFill>
                  <a:srgbClr val="2F6FE4"/>
                </a:solidFill>
              </a:rPr>
              <a:t>ANALYSIS AREA</a:t>
            </a:r>
          </a:p>
        </p:txBody>
      </p:sp>
      <p:sp>
        <p:nvSpPr>
          <p:cNvPr id="8" name="">
            <a:extLst xmlns:a="http://schemas.openxmlformats.org/drawingml/2006/main">
              <a:ext uri="{FF2B5EF4-FFF2-40B4-BE49-F238E27FC236}">
                <a16:creationId xmlns:a16="http://schemas.microsoft.com/office/drawing/2014/main" id="{72E8B89E-CE20-4840-995B-9964CCA66121}"/>
              </a:ext>
            </a:extLst>
          </p:cNvPr>
          <p:cNvSpPr>
            <a:spLocks xmlns:a="http://schemas.openxmlformats.org/drawingml/2006/main" noGrp="1"/>
          </p:cNvSpPr>
          <p:nvPr/>
        </p:nvSpPr>
        <p:spPr>
          <a:xfrm xmlns:a="http://schemas.openxmlformats.org/drawingml/2006/main">
            <a:off x="3381375" y="2047875"/>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F9D88"/>
                </a:solidFill>
              </a:defRPr>
            </a:pPr>
            <a:r>
              <a:rPr sz="1200" b="1">
                <a:solidFill>
                  <a:srgbClr val="1F9D88"/>
                </a:solidFill>
              </a:rPr>
              <a:t>METHOD</a:t>
            </a:r>
          </a:p>
        </p:txBody>
      </p:sp>
      <p:sp>
        <p:nvSpPr>
          <p:cNvPr id="9" name="">
            <a:extLst xmlns:a="http://schemas.openxmlformats.org/drawingml/2006/main">
              <a:ext uri="{FF2B5EF4-FFF2-40B4-BE49-F238E27FC236}">
                <a16:creationId xmlns:a16="http://schemas.microsoft.com/office/drawing/2014/main" id="{C5862E0E-D84F-4DC3-A339-31DC3DD27036}"/>
              </a:ext>
            </a:extLst>
          </p:cNvPr>
          <p:cNvSpPr>
            <a:spLocks xmlns:a="http://schemas.openxmlformats.org/drawingml/2006/main" noGrp="1"/>
          </p:cNvSpPr>
          <p:nvPr/>
        </p:nvSpPr>
        <p:spPr>
          <a:xfrm xmlns:a="http://schemas.openxmlformats.org/drawingml/2006/main">
            <a:off x="9144000" y="204787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5A33D"/>
                </a:solidFill>
              </a:defRPr>
            </a:pPr>
            <a:r>
              <a:rPr sz="1200" b="1">
                <a:solidFill>
                  <a:srgbClr val="E5A33D"/>
                </a:solidFill>
              </a:rPr>
              <a:t>EVIDENCE</a:t>
            </a:r>
          </a:p>
        </p:txBody>
      </p:sp>
      <p:sp>
        <p:nvSpPr>
          <p:cNvPr id="10" name="">
            <a:extLst xmlns:a="http://schemas.openxmlformats.org/drawingml/2006/main">
              <a:ext uri="{FF2B5EF4-FFF2-40B4-BE49-F238E27FC236}">
                <a16:creationId xmlns:a16="http://schemas.microsoft.com/office/drawing/2014/main" id="{4064CA6D-A1C3-4EEB-99CE-1E408E9799D4}"/>
              </a:ext>
            </a:extLst>
          </p:cNvPr>
          <p:cNvSpPr>
            <a:spLocks xmlns:a="http://schemas.openxmlformats.org/drawingml/2006/main" noGrp="1"/>
          </p:cNvSpPr>
          <p:nvPr/>
        </p:nvSpPr>
        <p:spPr>
          <a:xfrm xmlns:a="http://schemas.openxmlformats.org/drawingml/2006/main">
            <a:off x="685800" y="2381250"/>
            <a:ext cx="10839450" cy="28575"/>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07B253F-2E78-4F18-8798-E9C676E96268}"/>
              </a:ext>
            </a:extLst>
          </p:cNvPr>
          <p:cNvSpPr>
            <a:spLocks xmlns:a="http://schemas.openxmlformats.org/drawingml/2006/main" noGrp="1"/>
          </p:cNvSpPr>
          <p:nvPr/>
        </p:nvSpPr>
        <p:spPr>
          <a:xfrm xmlns:a="http://schemas.openxmlformats.org/drawingml/2006/main">
            <a:off x="714375" y="26098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F6FE4"/>
                </a:solidFill>
              </a:defRPr>
            </a:pPr>
            <a:r>
              <a:rPr sz="1275" b="1">
                <a:solidFill>
                  <a:srgbClr val="2F6FE4"/>
                </a:solidFill>
              </a:rPr>
              <a:t>01</a:t>
            </a:r>
          </a:p>
        </p:txBody>
      </p:sp>
      <p:sp>
        <p:nvSpPr>
          <p:cNvPr id="12" name="">
            <a:extLst xmlns:a="http://schemas.openxmlformats.org/drawingml/2006/main">
              <a:ext uri="{FF2B5EF4-FFF2-40B4-BE49-F238E27FC236}">
                <a16:creationId xmlns:a16="http://schemas.microsoft.com/office/drawing/2014/main" id="{38484465-F59B-49C1-A7D3-E97EAEE09351}"/>
              </a:ext>
            </a:extLst>
          </p:cNvPr>
          <p:cNvSpPr>
            <a:spLocks xmlns:a="http://schemas.openxmlformats.org/drawingml/2006/main" noGrp="1"/>
          </p:cNvSpPr>
          <p:nvPr/>
        </p:nvSpPr>
        <p:spPr>
          <a:xfrm xmlns:a="http://schemas.openxmlformats.org/drawingml/2006/main">
            <a:off x="1190625" y="25717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A1D30"/>
                </a:solidFill>
              </a:defRPr>
            </a:pPr>
            <a:r>
              <a:rPr sz="1725" b="1">
                <a:solidFill>
                  <a:srgbClr val="0A1D30"/>
                </a:solidFill>
              </a:rPr>
              <a:t>Metric analysis</a:t>
            </a:r>
          </a:p>
        </p:txBody>
      </p:sp>
      <p:sp>
        <p:nvSpPr>
          <p:cNvPr id="13" name="">
            <a:extLst xmlns:a="http://schemas.openxmlformats.org/drawingml/2006/main">
              <a:ext uri="{FF2B5EF4-FFF2-40B4-BE49-F238E27FC236}">
                <a16:creationId xmlns:a16="http://schemas.microsoft.com/office/drawing/2014/main" id="{EE6BE52C-A029-4E5A-BC71-EC67FC1A3FE6}"/>
              </a:ext>
            </a:extLst>
          </p:cNvPr>
          <p:cNvSpPr>
            <a:spLocks xmlns:a="http://schemas.openxmlformats.org/drawingml/2006/main" noGrp="1"/>
          </p:cNvSpPr>
          <p:nvPr/>
        </p:nvSpPr>
        <p:spPr>
          <a:xfrm xmlns:a="http://schemas.openxmlformats.org/drawingml/2006/main">
            <a:off x="3381375" y="2571750"/>
            <a:ext cx="5286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3044"/>
                </a:solidFill>
              </a:defRPr>
            </a:pPr>
            <a:r>
              <a:rPr sz="1350" b="0">
                <a:solidFill>
                  <a:srgbClr val="173044"/>
                </a:solidFill>
              </a:rPr>
              <a:t>Precision, Recall, F1/F-beta, ROC plus PR/pAUC, calibration, CIs, low-FPR cost</a:t>
            </a:r>
          </a:p>
        </p:txBody>
      </p:sp>
      <p:sp>
        <p:nvSpPr>
          <p:cNvPr id="14" name="">
            <a:extLst xmlns:a="http://schemas.openxmlformats.org/drawingml/2006/main">
              <a:ext uri="{FF2B5EF4-FFF2-40B4-BE49-F238E27FC236}">
                <a16:creationId xmlns:a16="http://schemas.microsoft.com/office/drawing/2014/main" id="{C1A769FD-F007-49D0-BE80-8237E3F7700A}"/>
              </a:ext>
            </a:extLst>
          </p:cNvPr>
          <p:cNvSpPr>
            <a:spLocks xmlns:a="http://schemas.openxmlformats.org/drawingml/2006/main" noGrp="1"/>
          </p:cNvSpPr>
          <p:nvPr/>
        </p:nvSpPr>
        <p:spPr>
          <a:xfrm xmlns:a="http://schemas.openxmlformats.org/drawingml/2006/main">
            <a:off x="9048750" y="2590800"/>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2F6FE4"/>
                </a:solidFill>
              </a:defRPr>
            </a:pPr>
            <a:r>
              <a:rPr sz="1350" b="1">
                <a:solidFill>
                  <a:srgbClr val="2F6FE4"/>
                </a:solidFill>
              </a:rPr>
              <a:t>Metric pipeline + tests</a:t>
            </a:r>
          </a:p>
        </p:txBody>
      </p:sp>
      <p:sp>
        <p:nvSpPr>
          <p:cNvPr id="15" name="">
            <a:extLst xmlns:a="http://schemas.openxmlformats.org/drawingml/2006/main">
              <a:ext uri="{FF2B5EF4-FFF2-40B4-BE49-F238E27FC236}">
                <a16:creationId xmlns:a16="http://schemas.microsoft.com/office/drawing/2014/main" id="{C10A4161-D34B-4786-BB01-4EF67BE30EA0}"/>
              </a:ext>
            </a:extLst>
          </p:cNvPr>
          <p:cNvSpPr>
            <a:spLocks xmlns:a="http://schemas.openxmlformats.org/drawingml/2006/main" noGrp="1"/>
          </p:cNvSpPr>
          <p:nvPr/>
        </p:nvSpPr>
        <p:spPr>
          <a:xfrm xmlns:a="http://schemas.openxmlformats.org/drawingml/2006/main">
            <a:off x="1190625" y="3181350"/>
            <a:ext cx="10239375"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5AE478A-3A48-4802-A3CD-E26638D2240C}"/>
              </a:ext>
            </a:extLst>
          </p:cNvPr>
          <p:cNvSpPr>
            <a:spLocks xmlns:a="http://schemas.openxmlformats.org/drawingml/2006/main" noGrp="1"/>
          </p:cNvSpPr>
          <p:nvPr/>
        </p:nvSpPr>
        <p:spPr>
          <a:xfrm xmlns:a="http://schemas.openxmlformats.org/drawingml/2006/main">
            <a:off x="714375" y="33909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F9D88"/>
                </a:solidFill>
              </a:defRPr>
            </a:pPr>
            <a:r>
              <a:rPr sz="1275" b="1">
                <a:solidFill>
                  <a:srgbClr val="1F9D88"/>
                </a:solidFill>
              </a:rPr>
              <a:t>02</a:t>
            </a:r>
          </a:p>
        </p:txBody>
      </p:sp>
      <p:sp>
        <p:nvSpPr>
          <p:cNvPr id="17" name="">
            <a:extLst xmlns:a="http://schemas.openxmlformats.org/drawingml/2006/main">
              <a:ext uri="{FF2B5EF4-FFF2-40B4-BE49-F238E27FC236}">
                <a16:creationId xmlns:a16="http://schemas.microsoft.com/office/drawing/2014/main" id="{A7844444-DB94-47EE-B906-BFD90C4054CC}"/>
              </a:ext>
            </a:extLst>
          </p:cNvPr>
          <p:cNvSpPr>
            <a:spLocks xmlns:a="http://schemas.openxmlformats.org/drawingml/2006/main" noGrp="1"/>
          </p:cNvSpPr>
          <p:nvPr/>
        </p:nvSpPr>
        <p:spPr>
          <a:xfrm xmlns:a="http://schemas.openxmlformats.org/drawingml/2006/main">
            <a:off x="1190625" y="3352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A1D30"/>
                </a:solidFill>
              </a:defRPr>
            </a:pPr>
            <a:r>
              <a:rPr sz="1725" b="1">
                <a:solidFill>
                  <a:srgbClr val="0A1D30"/>
                </a:solidFill>
              </a:rPr>
              <a:t>Explainability</a:t>
            </a:r>
          </a:p>
        </p:txBody>
      </p:sp>
      <p:sp>
        <p:nvSpPr>
          <p:cNvPr id="18" name="">
            <a:extLst xmlns:a="http://schemas.openxmlformats.org/drawingml/2006/main">
              <a:ext uri="{FF2B5EF4-FFF2-40B4-BE49-F238E27FC236}">
                <a16:creationId xmlns:a16="http://schemas.microsoft.com/office/drawing/2014/main" id="{3B348EE6-DBCB-41DF-B46D-A14FE80FA0FD}"/>
              </a:ext>
            </a:extLst>
          </p:cNvPr>
          <p:cNvSpPr>
            <a:spLocks xmlns:a="http://schemas.openxmlformats.org/drawingml/2006/main" noGrp="1"/>
          </p:cNvSpPr>
          <p:nvPr/>
        </p:nvSpPr>
        <p:spPr>
          <a:xfrm xmlns:a="http://schemas.openxmlformats.org/drawingml/2006/main">
            <a:off x="3381375" y="3352800"/>
            <a:ext cx="5286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3044"/>
                </a:solidFill>
              </a:defRPr>
            </a:pPr>
            <a:r>
              <a:rPr sz="1350" b="0">
                <a:solidFill>
                  <a:srgbClr val="173044"/>
                </a:solidFill>
              </a:rPr>
              <a:t>Permutation, ALE, interactions, ablation, stability, sanity, faithfulness, subgroups</a:t>
            </a:r>
          </a:p>
        </p:txBody>
      </p:sp>
      <p:sp>
        <p:nvSpPr>
          <p:cNvPr id="19" name="">
            <a:extLst xmlns:a="http://schemas.openxmlformats.org/drawingml/2006/main">
              <a:ext uri="{FF2B5EF4-FFF2-40B4-BE49-F238E27FC236}">
                <a16:creationId xmlns:a16="http://schemas.microsoft.com/office/drawing/2014/main" id="{178BF13B-0DCA-4E74-9764-0C9C65A116BB}"/>
              </a:ext>
            </a:extLst>
          </p:cNvPr>
          <p:cNvSpPr>
            <a:spLocks xmlns:a="http://schemas.openxmlformats.org/drawingml/2006/main" noGrp="1"/>
          </p:cNvSpPr>
          <p:nvPr/>
        </p:nvSpPr>
        <p:spPr>
          <a:xfrm xmlns:a="http://schemas.openxmlformats.org/drawingml/2006/main">
            <a:off x="9048750" y="3371850"/>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F9D88"/>
                </a:solidFill>
              </a:defRPr>
            </a:pPr>
            <a:r>
              <a:rPr sz="1350" b="1">
                <a:solidFill>
                  <a:srgbClr val="1F9D88"/>
                </a:solidFill>
              </a:rPr>
              <a:t>XAI suite + tests</a:t>
            </a:r>
          </a:p>
        </p:txBody>
      </p:sp>
      <p:sp>
        <p:nvSpPr>
          <p:cNvPr id="20" name="">
            <a:extLst xmlns:a="http://schemas.openxmlformats.org/drawingml/2006/main">
              <a:ext uri="{FF2B5EF4-FFF2-40B4-BE49-F238E27FC236}">
                <a16:creationId xmlns:a16="http://schemas.microsoft.com/office/drawing/2014/main" id="{0BFC4DFF-1BDF-4F23-B00E-2DA6DB0E95D7}"/>
              </a:ext>
            </a:extLst>
          </p:cNvPr>
          <p:cNvSpPr>
            <a:spLocks xmlns:a="http://schemas.openxmlformats.org/drawingml/2006/main" noGrp="1"/>
          </p:cNvSpPr>
          <p:nvPr/>
        </p:nvSpPr>
        <p:spPr>
          <a:xfrm xmlns:a="http://schemas.openxmlformats.org/drawingml/2006/main">
            <a:off x="1190625" y="3962400"/>
            <a:ext cx="10239375"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3808DF4-9646-4960-8EB7-E53663228D93}"/>
              </a:ext>
            </a:extLst>
          </p:cNvPr>
          <p:cNvSpPr>
            <a:spLocks xmlns:a="http://schemas.openxmlformats.org/drawingml/2006/main" noGrp="1"/>
          </p:cNvSpPr>
          <p:nvPr/>
        </p:nvSpPr>
        <p:spPr>
          <a:xfrm xmlns:a="http://schemas.openxmlformats.org/drawingml/2006/main">
            <a:off x="714375" y="41719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E5A33D"/>
                </a:solidFill>
              </a:defRPr>
            </a:pPr>
            <a:r>
              <a:rPr sz="1275" b="1">
                <a:solidFill>
                  <a:srgbClr val="E5A33D"/>
                </a:solidFill>
              </a:rPr>
              <a:t>03</a:t>
            </a:r>
          </a:p>
        </p:txBody>
      </p:sp>
      <p:sp>
        <p:nvSpPr>
          <p:cNvPr id="22" name="">
            <a:extLst xmlns:a="http://schemas.openxmlformats.org/drawingml/2006/main">
              <a:ext uri="{FF2B5EF4-FFF2-40B4-BE49-F238E27FC236}">
                <a16:creationId xmlns:a16="http://schemas.microsoft.com/office/drawing/2014/main" id="{138A7F17-4CF2-4565-A845-8F1C4921AC22}"/>
              </a:ext>
            </a:extLst>
          </p:cNvPr>
          <p:cNvSpPr>
            <a:spLocks xmlns:a="http://schemas.openxmlformats.org/drawingml/2006/main" noGrp="1"/>
          </p:cNvSpPr>
          <p:nvPr/>
        </p:nvSpPr>
        <p:spPr>
          <a:xfrm xmlns:a="http://schemas.openxmlformats.org/drawingml/2006/main">
            <a:off x="1190625" y="41338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A1D30"/>
                </a:solidFill>
              </a:defRPr>
            </a:pPr>
            <a:r>
              <a:rPr sz="1725" b="1">
                <a:solidFill>
                  <a:srgbClr val="0A1D30"/>
                </a:solidFill>
              </a:rPr>
              <a:t>Actionable conclusions</a:t>
            </a:r>
          </a:p>
        </p:txBody>
      </p:sp>
      <p:sp>
        <p:nvSpPr>
          <p:cNvPr id="23" name="">
            <a:extLst xmlns:a="http://schemas.openxmlformats.org/drawingml/2006/main">
              <a:ext uri="{FF2B5EF4-FFF2-40B4-BE49-F238E27FC236}">
                <a16:creationId xmlns:a16="http://schemas.microsoft.com/office/drawing/2014/main" id="{B84FF84B-D3E9-4675-83E0-2A67E778B152}"/>
              </a:ext>
            </a:extLst>
          </p:cNvPr>
          <p:cNvSpPr>
            <a:spLocks xmlns:a="http://schemas.openxmlformats.org/drawingml/2006/main" noGrp="1"/>
          </p:cNvSpPr>
          <p:nvPr/>
        </p:nvSpPr>
        <p:spPr>
          <a:xfrm xmlns:a="http://schemas.openxmlformats.org/drawingml/2006/main">
            <a:off x="3381375" y="4133850"/>
            <a:ext cx="5286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3044"/>
                </a:solidFill>
              </a:defRPr>
            </a:pPr>
            <a:r>
              <a:rPr sz="1350" b="0">
                <a:solidFill>
                  <a:srgbClr val="173044"/>
                </a:solidFill>
              </a:rPr>
              <a:t>Independent evidence gates -&gt; keep, drop, re-engineer, monitor, or abstain</a:t>
            </a:r>
          </a:p>
        </p:txBody>
      </p:sp>
      <p:sp>
        <p:nvSpPr>
          <p:cNvPr id="24" name="">
            <a:extLst xmlns:a="http://schemas.openxmlformats.org/drawingml/2006/main">
              <a:ext uri="{FF2B5EF4-FFF2-40B4-BE49-F238E27FC236}">
                <a16:creationId xmlns:a16="http://schemas.microsoft.com/office/drawing/2014/main" id="{972BC80F-99C4-4423-8020-8B9327AF8401}"/>
              </a:ext>
            </a:extLst>
          </p:cNvPr>
          <p:cNvSpPr>
            <a:spLocks xmlns:a="http://schemas.openxmlformats.org/drawingml/2006/main" noGrp="1"/>
          </p:cNvSpPr>
          <p:nvPr/>
        </p:nvSpPr>
        <p:spPr>
          <a:xfrm xmlns:a="http://schemas.openxmlformats.org/drawingml/2006/main">
            <a:off x="9048750" y="4152900"/>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E5A33D"/>
                </a:solidFill>
              </a:defRPr>
            </a:pPr>
            <a:r>
              <a:rPr sz="1350" b="1">
                <a:solidFill>
                  <a:srgbClr val="E5A33D"/>
                </a:solidFill>
              </a:rPr>
              <a:t>Decision rules</a:t>
            </a:r>
          </a:p>
        </p:txBody>
      </p:sp>
      <p:sp>
        <p:nvSpPr>
          <p:cNvPr id="25" name="">
            <a:extLst xmlns:a="http://schemas.openxmlformats.org/drawingml/2006/main">
              <a:ext uri="{FF2B5EF4-FFF2-40B4-BE49-F238E27FC236}">
                <a16:creationId xmlns:a16="http://schemas.microsoft.com/office/drawing/2014/main" id="{7AB96719-BDE0-462B-B657-F649F0A02F6C}"/>
              </a:ext>
            </a:extLst>
          </p:cNvPr>
          <p:cNvSpPr>
            <a:spLocks xmlns:a="http://schemas.openxmlformats.org/drawingml/2006/main" noGrp="1"/>
          </p:cNvSpPr>
          <p:nvPr/>
        </p:nvSpPr>
        <p:spPr>
          <a:xfrm xmlns:a="http://schemas.openxmlformats.org/drawingml/2006/main">
            <a:off x="1190625" y="4743450"/>
            <a:ext cx="10239375"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B8E575B-ED29-460A-B513-07C6DEECE576}"/>
              </a:ext>
            </a:extLst>
          </p:cNvPr>
          <p:cNvSpPr>
            <a:spLocks xmlns:a="http://schemas.openxmlformats.org/drawingml/2006/main" noGrp="1"/>
          </p:cNvSpPr>
          <p:nvPr/>
        </p:nvSpPr>
        <p:spPr>
          <a:xfrm xmlns:a="http://schemas.openxmlformats.org/drawingml/2006/main">
            <a:off x="714375" y="49530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D86565"/>
                </a:solidFill>
              </a:defRPr>
            </a:pPr>
            <a:r>
              <a:rPr sz="1275" b="1">
                <a:solidFill>
                  <a:srgbClr val="D86565"/>
                </a:solidFill>
              </a:rPr>
              <a:t>04</a:t>
            </a:r>
          </a:p>
        </p:txBody>
      </p:sp>
      <p:sp>
        <p:nvSpPr>
          <p:cNvPr id="27" name="">
            <a:extLst xmlns:a="http://schemas.openxmlformats.org/drawingml/2006/main">
              <a:ext uri="{FF2B5EF4-FFF2-40B4-BE49-F238E27FC236}">
                <a16:creationId xmlns:a16="http://schemas.microsoft.com/office/drawing/2014/main" id="{34E1BFB2-0490-4A22-8E42-8A564EDA1AF8}"/>
              </a:ext>
            </a:extLst>
          </p:cNvPr>
          <p:cNvSpPr>
            <a:spLocks xmlns:a="http://schemas.openxmlformats.org/drawingml/2006/main" noGrp="1"/>
          </p:cNvSpPr>
          <p:nvPr/>
        </p:nvSpPr>
        <p:spPr>
          <a:xfrm xmlns:a="http://schemas.openxmlformats.org/drawingml/2006/main">
            <a:off x="1190625" y="49149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A1D30"/>
                </a:solidFill>
              </a:defRPr>
            </a:pPr>
            <a:r>
              <a:rPr sz="1725" b="1">
                <a:solidFill>
                  <a:srgbClr val="0A1D30"/>
                </a:solidFill>
              </a:rPr>
              <a:t>Adversarial defenses</a:t>
            </a:r>
          </a:p>
        </p:txBody>
      </p:sp>
      <p:sp>
        <p:nvSpPr>
          <p:cNvPr id="28" name="">
            <a:extLst xmlns:a="http://schemas.openxmlformats.org/drawingml/2006/main">
              <a:ext uri="{FF2B5EF4-FFF2-40B4-BE49-F238E27FC236}">
                <a16:creationId xmlns:a16="http://schemas.microsoft.com/office/drawing/2014/main" id="{5AA563C5-B65E-4262-8768-095CF860E0A3}"/>
              </a:ext>
            </a:extLst>
          </p:cNvPr>
          <p:cNvSpPr>
            <a:spLocks xmlns:a="http://schemas.openxmlformats.org/drawingml/2006/main" noGrp="1"/>
          </p:cNvSpPr>
          <p:nvPr/>
        </p:nvSpPr>
        <p:spPr>
          <a:xfrm xmlns:a="http://schemas.openxmlformats.org/drawingml/2006/main">
            <a:off x="3381375" y="4914900"/>
            <a:ext cx="5286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3044"/>
                </a:solidFill>
              </a:defRPr>
            </a:pPr>
            <a:r>
              <a:rPr sz="1350" b="0">
                <a:solidFill>
                  <a:srgbClr val="173044"/>
                </a:solidFill>
              </a:rPr>
              <a:t>Inert mutations, canonicalization, multi-view parsing, budgets, OOD abstention, monitoring</a:t>
            </a:r>
          </a:p>
        </p:txBody>
      </p:sp>
      <p:sp>
        <p:nvSpPr>
          <p:cNvPr id="29" name="">
            <a:extLst xmlns:a="http://schemas.openxmlformats.org/drawingml/2006/main">
              <a:ext uri="{FF2B5EF4-FFF2-40B4-BE49-F238E27FC236}">
                <a16:creationId xmlns:a16="http://schemas.microsoft.com/office/drawing/2014/main" id="{BE27D6F1-0589-4179-AB4F-281806BBB179}"/>
              </a:ext>
            </a:extLst>
          </p:cNvPr>
          <p:cNvSpPr>
            <a:spLocks xmlns:a="http://schemas.openxmlformats.org/drawingml/2006/main" noGrp="1"/>
          </p:cNvSpPr>
          <p:nvPr/>
        </p:nvSpPr>
        <p:spPr>
          <a:xfrm xmlns:a="http://schemas.openxmlformats.org/drawingml/2006/main">
            <a:off x="9048750" y="4933950"/>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D86565"/>
                </a:solidFill>
              </a:defRPr>
            </a:pPr>
            <a:r>
              <a:rPr sz="1350" b="1">
                <a:solidFill>
                  <a:srgbClr val="D86565"/>
                </a:solidFill>
              </a:rPr>
              <a:t>Robustness harness</a:t>
            </a:r>
          </a:p>
        </p:txBody>
      </p:sp>
      <p:sp>
        <p:nvSpPr>
          <p:cNvPr id="30" name="">
            <a:extLst xmlns:a="http://schemas.openxmlformats.org/drawingml/2006/main">
              <a:ext uri="{FF2B5EF4-FFF2-40B4-BE49-F238E27FC236}">
                <a16:creationId xmlns:a16="http://schemas.microsoft.com/office/drawing/2014/main" id="{36EB7718-547C-42A1-9DCA-C1A91CB0732C}"/>
              </a:ext>
            </a:extLst>
          </p:cNvPr>
          <p:cNvSpPr>
            <a:spLocks xmlns:a="http://schemas.openxmlformats.org/drawingml/2006/main" noGrp="1"/>
          </p:cNvSpPr>
          <p:nvPr/>
        </p:nvSpPr>
        <p:spPr>
          <a:xfrm xmlns:a="http://schemas.openxmlformats.org/drawingml/2006/main">
            <a:off x="1190625" y="5524500"/>
            <a:ext cx="10239375"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16106F4-B236-44E1-8A10-CE1008D43FE2}"/>
              </a:ext>
            </a:extLst>
          </p:cNvPr>
          <p:cNvSpPr>
            <a:spLocks xmlns:a="http://schemas.openxmlformats.org/drawingml/2006/main" noGrp="1"/>
          </p:cNvSpPr>
          <p:nvPr/>
        </p:nvSpPr>
        <p:spPr>
          <a:xfrm xmlns:a="http://schemas.openxmlformats.org/drawingml/2006/main">
            <a:off x="685800" y="5715000"/>
            <a:ext cx="10839450" cy="457200"/>
          </a:xfrm>
          <a:prstGeom xmlns:a="http://schemas.openxmlformats.org/drawingml/2006/main" prst="roundRect">
            <a:avLst>
              <a:gd name="adj" fmla="val 16667"/>
            </a:avLst>
          </a:prstGeom>
          <a:solidFill xmlns:a="http://schemas.openxmlformats.org/drawingml/2006/main">
            <a:srgbClr val="0A1D30"/>
          </a:solidFill>
          <a:ln xmlns:a="http://schemas.openxmlformats.org/drawingml/2006/main" w="0">
            <a:solidFill>
              <a:srgbClr val="0A1D30"/>
            </a:solidFill>
            <a:prstDash val="solid"/>
          </a:ln>
        </p:spPr>
      </p:sp>
      <p:sp>
        <p:nvSpPr>
          <p:cNvPr id="32" name="">
            <a:extLst xmlns:a="http://schemas.openxmlformats.org/drawingml/2006/main">
              <a:ext uri="{FF2B5EF4-FFF2-40B4-BE49-F238E27FC236}">
                <a16:creationId xmlns:a16="http://schemas.microsoft.com/office/drawing/2014/main" id="{77AFB0EB-B400-47DC-A9EA-2120E8572CD6}"/>
              </a:ext>
            </a:extLst>
          </p:cNvPr>
          <p:cNvSpPr>
            <a:spLocks xmlns:a="http://schemas.openxmlformats.org/drawingml/2006/main" noGrp="1"/>
          </p:cNvSpPr>
          <p:nvPr/>
        </p:nvSpPr>
        <p:spPr>
          <a:xfrm xmlns:a="http://schemas.openxmlformats.org/drawingml/2006/main">
            <a:off x="876300" y="5810250"/>
            <a:ext cx="10458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FFFFFF"/>
                </a:solidFill>
              </a:defRPr>
            </a:pPr>
            <a:r>
              <a:rPr sz="1425" b="1">
                <a:solidFill>
                  <a:srgbClr val="FFFFFF"/>
                </a:solidFill>
              </a:rPr>
              <a:t>Performance, explanations, and defenses form one reproducible evidence chain.</a:t>
            </a:r>
          </a:p>
        </p:txBody>
      </p:sp>
      <p:sp>
        <p:nvSpPr>
          <p:cNvPr id="33" name="">
            <a:extLst xmlns:a="http://schemas.openxmlformats.org/drawingml/2006/main">
              <a:ext uri="{FF2B5EF4-FFF2-40B4-BE49-F238E27FC236}">
                <a16:creationId xmlns:a16="http://schemas.microsoft.com/office/drawing/2014/main" id="{3D395988-08C8-4948-9636-097AB1820A90}"/>
              </a:ext>
            </a:extLst>
          </p:cNvPr>
          <p:cNvSpPr>
            <a:spLocks xmlns:a="http://schemas.openxmlformats.org/drawingml/2006/main" noGrp="1"/>
          </p:cNvSpPr>
          <p:nvPr/>
        </p:nvSpPr>
        <p:spPr>
          <a:xfrm xmlns:a="http://schemas.openxmlformats.org/drawingml/2006/main">
            <a:off x="647700" y="6400800"/>
            <a:ext cx="10896600" cy="19050"/>
          </a:xfrm>
          <a:prstGeom xmlns:a="http://schemas.openxmlformats.org/drawingml/2006/main" prst="roundRect">
            <a:avLst>
              <a:gd name="adj" fmla="val 50000"/>
            </a:avLst>
          </a:prstGeom>
          <a:solidFill xmlns:a="http://schemas.openxmlformats.org/drawingml/2006/main">
            <a:srgbClr val="CBD6DE"/>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AEDFAFFF-CF35-45CB-99F0-442038AD28CC}"/>
              </a:ext>
            </a:extLst>
          </p:cNvPr>
          <p:cNvSpPr>
            <a:spLocks xmlns:a="http://schemas.openxmlformats.org/drawingml/2006/main" noGrp="1"/>
          </p:cNvSpPr>
          <p:nvPr/>
        </p:nvSpPr>
        <p:spPr>
          <a:xfrm xmlns:a="http://schemas.openxmlformats.org/drawingml/2006/main">
            <a:off x="647700" y="649605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657888"/>
                </a:solidFill>
              </a:defRPr>
            </a:pPr>
            <a:r>
              <a:rPr sz="975" b="0">
                <a:solidFill>
                  <a:srgbClr val="657888"/>
                </a:solidFill>
              </a:rPr>
              <a:t>The workflow closes with monitored decisions, safe abstention, and layered defense.</a:t>
            </a:r>
          </a:p>
        </p:txBody>
      </p:sp>
      <p:sp>
        <p:nvSpPr>
          <p:cNvPr id="35" name="">
            <a:extLst xmlns:a="http://schemas.openxmlformats.org/drawingml/2006/main">
              <a:ext uri="{FF2B5EF4-FFF2-40B4-BE49-F238E27FC236}">
                <a16:creationId xmlns:a16="http://schemas.microsoft.com/office/drawing/2014/main" id="{EECCDE2F-D734-4320-B8FF-1DA4AD12503C}"/>
              </a:ext>
            </a:extLst>
          </p:cNvPr>
          <p:cNvSpPr>
            <a:spLocks xmlns:a="http://schemas.openxmlformats.org/drawingml/2006/main" noGrp="1"/>
          </p:cNvSpPr>
          <p:nvPr/>
        </p:nvSpPr>
        <p:spPr>
          <a:xfrm xmlns:a="http://schemas.openxmlformats.org/drawingml/2006/main">
            <a:off x="10287000" y="64674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0A1D30"/>
                </a:solidFill>
              </a:defRPr>
            </a:pPr>
            <a:r>
              <a:rPr sz="975" b="1">
                <a:solidFill>
                  <a:srgbClr val="0A1D30"/>
                </a:solidFill>
              </a:rPr>
              <a:t>12 / 12</a:t>
            </a:r>
          </a:p>
        </p:txBody>
      </p:sp>
    </p:spTree>
    <p:extLst>
      <p:ext uri="{BB962C8B-B14F-4D97-AF65-F5344CB8AC3E}">
        <p14:creationId xmlns:p14="http://schemas.microsoft.com/office/powerpoint/2010/main" val="21022740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2026-08-30T10:55:17.8170000Z</dcterms:created>
  <dcterms:modified xsi:type="dcterms:W3CDTF">2026-08-30T10:55:17.8170000Z</dcterms:modified>
</coreProperties>
</file>